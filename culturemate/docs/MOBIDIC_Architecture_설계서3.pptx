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67" d="100"/>
          <a:sy n="167" d="100"/>
        </p:scale>
        <p:origin x="1650" y="13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64425845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31A2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1353312"/>
            <a:ext cx="111282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0F6E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ARCHITECTURE DESIGN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30352" y="1719072"/>
            <a:ext cx="1112824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MOBIDIC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530352" y="2322576"/>
            <a:ext cx="1112824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Architecture 설계서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530352" y="3127248"/>
            <a:ext cx="11128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C9D2D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개인 아카이브 기반 AI 문화생활 일정 · 동선 서비스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530352" y="3913632"/>
            <a:ext cx="3255264" cy="0"/>
          </a:xfrm>
          <a:prstGeom prst="line">
            <a:avLst/>
          </a:prstGeom>
          <a:noFill/>
          <a:ln w="19050">
            <a:solidFill>
              <a:srgbClr val="0F6E7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" name="Text 5"/>
          <p:cNvSpPr/>
          <p:nvPr/>
        </p:nvSpPr>
        <p:spPr>
          <a:xfrm>
            <a:off x="530352" y="4005072"/>
            <a:ext cx="32552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kern="0" spc="200" dirty="0">
                <a:solidFill>
                  <a:srgbClr val="0F6E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530352" y="4224528"/>
            <a:ext cx="32552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Agent 역할 정의</a:t>
            </a:r>
            <a:endParaRPr lang="en-US" sz="1650" dirty="0"/>
          </a:p>
        </p:txBody>
      </p:sp>
      <p:sp>
        <p:nvSpPr>
          <p:cNvPr id="9" name="Text 7"/>
          <p:cNvSpPr/>
          <p:nvPr/>
        </p:nvSpPr>
        <p:spPr>
          <a:xfrm>
            <a:off x="530352" y="4553712"/>
            <a:ext cx="32552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A92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누가 무엇을 결정하는가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187952" y="3913632"/>
            <a:ext cx="3255264" cy="0"/>
          </a:xfrm>
          <a:prstGeom prst="line">
            <a:avLst/>
          </a:prstGeom>
          <a:noFill/>
          <a:ln w="19050">
            <a:solidFill>
              <a:srgbClr val="0F6E7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Text 9"/>
          <p:cNvSpPr/>
          <p:nvPr/>
        </p:nvSpPr>
        <p:spPr>
          <a:xfrm>
            <a:off x="4187952" y="4005072"/>
            <a:ext cx="32552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kern="0" spc="200" dirty="0">
                <a:solidFill>
                  <a:srgbClr val="0F6E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4187952" y="4224528"/>
            <a:ext cx="32552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Agent Workflow</a:t>
            </a:r>
            <a:endParaRPr lang="en-US" sz="1650" dirty="0"/>
          </a:p>
        </p:txBody>
      </p:sp>
      <p:sp>
        <p:nvSpPr>
          <p:cNvPr id="13" name="Text 11"/>
          <p:cNvSpPr/>
          <p:nvPr/>
        </p:nvSpPr>
        <p:spPr>
          <a:xfrm>
            <a:off x="4187952" y="4553712"/>
            <a:ext cx="32552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A92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어떻게 협업하는가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7845552" y="3913632"/>
            <a:ext cx="3255264" cy="0"/>
          </a:xfrm>
          <a:prstGeom prst="line">
            <a:avLst/>
          </a:prstGeom>
          <a:noFill/>
          <a:ln w="19050">
            <a:solidFill>
              <a:srgbClr val="A0641E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5" name="Text 13"/>
          <p:cNvSpPr/>
          <p:nvPr/>
        </p:nvSpPr>
        <p:spPr>
          <a:xfrm>
            <a:off x="7845552" y="4005072"/>
            <a:ext cx="32552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kern="0" spc="200" dirty="0">
                <a:solidFill>
                  <a:srgbClr val="A0641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03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7845552" y="4224528"/>
            <a:ext cx="32552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System Architecture</a:t>
            </a:r>
            <a:endParaRPr lang="en-US" sz="1650" dirty="0"/>
          </a:p>
        </p:txBody>
      </p:sp>
      <p:sp>
        <p:nvSpPr>
          <p:cNvPr id="17" name="Text 15"/>
          <p:cNvSpPr/>
          <p:nvPr/>
        </p:nvSpPr>
        <p:spPr>
          <a:xfrm>
            <a:off x="7845552" y="4553712"/>
            <a:ext cx="32552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A92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어디서 실행되고 연결되는가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530352" y="5175504"/>
            <a:ext cx="111282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kern="0" spc="100" dirty="0">
                <a:solidFill>
                  <a:srgbClr val="8A92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근거 문서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530352" y="5394960"/>
            <a:ext cx="111282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AAB3B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culturemate/docs — ARCHITECTURE.md · FUNCTIONAL_MAP.md · PROGRESS.md · REQUIREMENTS.md · SETUP.md · STRUCTURE.md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530352" y="5650992"/>
            <a:ext cx="111282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8A92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각 장 하단 «출처» 에 이 문서들의 어느 절을 근거로 삼았는지 밝혀 둡니다.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365760"/>
            <a:ext cx="4754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200" dirty="0">
                <a:solidFill>
                  <a:srgbClr val="8A92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SCOPE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096512" y="365760"/>
            <a:ext cx="3840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200" dirty="0">
                <a:solidFill>
                  <a:srgbClr val="0F6E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이번 문서의 범위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30352" y="640080"/>
            <a:ext cx="1112824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100" b="1" dirty="0">
                <a:solidFill>
                  <a:srgbClr val="1A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이번에 확정할 것과 다음으로 미룬 것</a:t>
            </a:r>
            <a:endParaRPr lang="en-US" sz="3100" dirty="0"/>
          </a:p>
        </p:txBody>
      </p:sp>
      <p:sp>
        <p:nvSpPr>
          <p:cNvPr id="5" name="Text 3"/>
          <p:cNvSpPr/>
          <p:nvPr/>
        </p:nvSpPr>
        <p:spPr>
          <a:xfrm>
            <a:off x="530352" y="1225296"/>
            <a:ext cx="80192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2E37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 가지를 먼저 확정합니다. 이 셋이 정해지지 않으면 DB 스키마도 API 명세도 근거 없이 만들어집니다.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530352" y="1737360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00" dirty="0">
                <a:solidFill>
                  <a:srgbClr val="0F6E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문서에서 확정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30352" y="2084832"/>
            <a:ext cx="5394960" cy="987552"/>
          </a:xfrm>
          <a:prstGeom prst="roundRect">
            <a:avLst>
              <a:gd name="adj" fmla="val 3704"/>
            </a:avLst>
          </a:prstGeom>
          <a:solidFill>
            <a:srgbClr val="F7F9FA"/>
          </a:solidFill>
          <a:ln w="12700">
            <a:solidFill>
              <a:srgbClr val="DFE4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" name="Text 6"/>
          <p:cNvSpPr/>
          <p:nvPr/>
        </p:nvSpPr>
        <p:spPr>
          <a:xfrm>
            <a:off x="768096" y="2231136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F6E7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261872" y="2212848"/>
            <a:ext cx="4389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Agent 역할 정의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261872" y="2523744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E37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각 Agent 의 책임 · 입력 · 출력 · 실패 시 동작을 계약으로 고정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1261872" y="2761488"/>
            <a:ext cx="4480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8A92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무엇을 저장할지가 여기서 나온다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530352" y="3218688"/>
            <a:ext cx="5394960" cy="987552"/>
          </a:xfrm>
          <a:prstGeom prst="roundRect">
            <a:avLst>
              <a:gd name="adj" fmla="val 3704"/>
            </a:avLst>
          </a:prstGeom>
          <a:solidFill>
            <a:srgbClr val="FFFFFF"/>
          </a:solidFill>
          <a:ln w="12700">
            <a:solidFill>
              <a:srgbClr val="DFE4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3" name="Text 11"/>
          <p:cNvSpPr/>
          <p:nvPr/>
        </p:nvSpPr>
        <p:spPr>
          <a:xfrm>
            <a:off x="768096" y="336499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F6E7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1261872" y="3346704"/>
            <a:ext cx="4389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Agent Workflow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1261872" y="3657600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E37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순서 · 분기 조건 · 협업 방식 · 중단과 재개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1261872" y="3895344"/>
            <a:ext cx="4480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8A92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엔드포인트 경계가 여기서 나온다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530352" y="4352544"/>
            <a:ext cx="5394960" cy="987552"/>
          </a:xfrm>
          <a:prstGeom prst="roundRect">
            <a:avLst>
              <a:gd name="adj" fmla="val 3704"/>
            </a:avLst>
          </a:prstGeom>
          <a:solidFill>
            <a:srgbClr val="F7F9FA"/>
          </a:solidFill>
          <a:ln w="12700">
            <a:solidFill>
              <a:srgbClr val="DFE4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8" name="Text 16"/>
          <p:cNvSpPr/>
          <p:nvPr/>
        </p:nvSpPr>
        <p:spPr>
          <a:xfrm>
            <a:off x="768096" y="449884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F6E7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1261872" y="4480560"/>
            <a:ext cx="4389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System Architecture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1261872" y="4791456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E37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RN · FastAPI · LangGraph · PostgreSQL · 외부 API 의 관계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1261872" y="5029200"/>
            <a:ext cx="4480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8A92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배치와 교체 범위가 여기서 나온다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6245352" y="1737360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00" dirty="0">
                <a:solidFill>
                  <a:srgbClr val="A0641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다음 문서로 분리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245352" y="2084832"/>
            <a:ext cx="5394960" cy="987552"/>
          </a:xfrm>
          <a:prstGeom prst="roundRect">
            <a:avLst>
              <a:gd name="adj" fmla="val 3704"/>
            </a:avLst>
          </a:prstGeom>
          <a:solidFill>
            <a:srgbClr val="F7F9FA"/>
          </a:solidFill>
          <a:ln w="12700">
            <a:solidFill>
              <a:srgbClr val="DFE4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4" name="Text 22"/>
          <p:cNvSpPr/>
          <p:nvPr/>
        </p:nvSpPr>
        <p:spPr>
          <a:xfrm>
            <a:off x="6483096" y="2231136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A064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·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6976872" y="2212848"/>
            <a:ext cx="4389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DB 상세 설계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6976872" y="2523744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E37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테이블 관계 · 인덱스 · 벡터 차원 · 보존 정책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6976872" y="2761488"/>
            <a:ext cx="4480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8A92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Agent 출력이 확정돼야 스키마가 나온다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6245352" y="3218688"/>
            <a:ext cx="5394960" cy="987552"/>
          </a:xfrm>
          <a:prstGeom prst="roundRect">
            <a:avLst>
              <a:gd name="adj" fmla="val 3704"/>
            </a:avLst>
          </a:prstGeom>
          <a:solidFill>
            <a:srgbClr val="FFFFFF"/>
          </a:solidFill>
          <a:ln w="12700">
            <a:solidFill>
              <a:srgbClr val="DFE4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9" name="Text 27"/>
          <p:cNvSpPr/>
          <p:nvPr/>
        </p:nvSpPr>
        <p:spPr>
          <a:xfrm>
            <a:off x="6483096" y="336499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A064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·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976872" y="3346704"/>
            <a:ext cx="4389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API 상세 설계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6976872" y="3657600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E37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요청 · 응답 스키마 · 오류 계약 · 인증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6976872" y="3895344"/>
            <a:ext cx="4480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8A92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Workflow 경계가 확정돼야 계약이 나온다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6245352" y="4352544"/>
            <a:ext cx="5394960" cy="987552"/>
          </a:xfrm>
          <a:prstGeom prst="roundRect">
            <a:avLst>
              <a:gd name="adj" fmla="val 3704"/>
            </a:avLst>
          </a:prstGeom>
          <a:solidFill>
            <a:srgbClr val="F7F9FA"/>
          </a:solidFill>
          <a:ln w="12700">
            <a:solidFill>
              <a:srgbClr val="DFE4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4" name="Text 32"/>
          <p:cNvSpPr/>
          <p:nvPr/>
        </p:nvSpPr>
        <p:spPr>
          <a:xfrm>
            <a:off x="6483096" y="449884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A064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·</a:t>
            </a:r>
            <a:endParaRPr lang="en-US" sz="1400" dirty="0"/>
          </a:p>
        </p:txBody>
      </p:sp>
      <p:sp>
        <p:nvSpPr>
          <p:cNvPr id="35" name="Text 33"/>
          <p:cNvSpPr/>
          <p:nvPr/>
        </p:nvSpPr>
        <p:spPr>
          <a:xfrm>
            <a:off x="6976872" y="4480560"/>
            <a:ext cx="4389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구현 · 검증 계획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976872" y="4791456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E37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테스트 전략 · 배포 파이프라인 · 성능 목표</a:t>
            </a:r>
            <a:endParaRPr lang="en-US" sz="1050" dirty="0"/>
          </a:p>
        </p:txBody>
      </p:sp>
      <p:sp>
        <p:nvSpPr>
          <p:cNvPr id="37" name="Text 35"/>
          <p:cNvSpPr/>
          <p:nvPr/>
        </p:nvSpPr>
        <p:spPr>
          <a:xfrm>
            <a:off x="6976872" y="5029200"/>
            <a:ext cx="4480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8A92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위 둘이 끝난 뒤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530352" y="5669280"/>
            <a:ext cx="11128248" cy="0"/>
          </a:xfrm>
          <a:prstGeom prst="line">
            <a:avLst/>
          </a:prstGeom>
          <a:noFill/>
          <a:ln w="12700">
            <a:solidFill>
              <a:srgbClr val="DFE4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9" name="Text 37"/>
          <p:cNvSpPr/>
          <p:nvPr/>
        </p:nvSpPr>
        <p:spPr>
          <a:xfrm>
            <a:off x="530352" y="5733288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100" dirty="0">
                <a:solidFill>
                  <a:srgbClr val="0F6E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출처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1097280" y="5724144"/>
            <a:ext cx="105613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A92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범위 구분 근거 — docs/ARCHITECTURE.md §0 «이 문서가 설계한 것» · docs/REQUIREMENTS.md §8 «구현 범위»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365760"/>
            <a:ext cx="4754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200" dirty="0">
                <a:solidFill>
                  <a:srgbClr val="8A92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01 · Agent Responsibility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096512" y="365760"/>
            <a:ext cx="3840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200" dirty="0">
                <a:solidFill>
                  <a:srgbClr val="0F6E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Derivation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30352" y="640080"/>
            <a:ext cx="1112824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100" b="1" dirty="0">
                <a:solidFill>
                  <a:srgbClr val="1A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기획안의 Agent 4종을 설계 9종으로 나눈다</a:t>
            </a:r>
            <a:endParaRPr lang="en-US" sz="3100" dirty="0"/>
          </a:p>
        </p:txBody>
      </p:sp>
      <p:sp>
        <p:nvSpPr>
          <p:cNvPr id="5" name="Text 3"/>
          <p:cNvSpPr/>
          <p:nvPr/>
        </p:nvSpPr>
        <p:spPr>
          <a:xfrm>
            <a:off x="530352" y="1225296"/>
            <a:ext cx="80192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2E37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기획안은 Agent 이름을 나열합니다. 설계는 «한 Agent 가 두 가지 책임을 지고 있지 않은가»를 먼저 따져야 합니다.</a:t>
            </a:r>
            <a:endParaRPr lang="en-US" sz="12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30352" y="1755648"/>
          <a:ext cx="11128248" cy="3127248"/>
        </p:xfrm>
        <a:graphic>
          <a:graphicData uri="http://schemas.openxmlformats.org/drawingml/2006/table">
            <a:tbl>
              <a:tblPr/>
              <a:tblGrid>
                <a:gridCol w="157276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88950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4124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82472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kern="0" spc="100" dirty="0">
                          <a:solidFill>
                            <a:srgbClr val="8A929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기획안 (3.1)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DF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kern="0" spc="100" dirty="0">
                          <a:solidFill>
                            <a:srgbClr val="8A929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설계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DF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kern="0" spc="100" dirty="0">
                          <a:solidFill>
                            <a:srgbClr val="8A929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판단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DF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kern="0" spc="100" dirty="0">
                          <a:solidFill>
                            <a:srgbClr val="8A929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근거 — 문서와 소스에서 확인한 것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DF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2E374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Router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DF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F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5A647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Router(A1)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DF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F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8A929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유지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DF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F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2E374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책임이 하나다 — 요청을 이해하고 실행 계획을 만든다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DF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F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2E374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Search Agent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DF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F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0F6E7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Preference(A2) · Culture(A3)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DF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F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A0641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분할 ×2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DF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F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2E374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취향 조회와 콘텐츠 탐색은 대상도 저장소도 다르다. 한 덩어리면 병렬 실행이 불가능하다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DF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F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2179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2E374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Validation Agent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DF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F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A0641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Verifier(A4) · Guardian(A8)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DF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F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A0641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분할 ×2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DF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F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2E374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«장소가 실재하는가»(탐색 단계)와 «이 일정이 성립하는가»(편성 후)는 시점도 대상도 다른 판정이다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DF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F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2179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2E374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Planning Agent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DF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F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2E4374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Planner(A5) · Route(A6) · Gap(A7)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DF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F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A0641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분할 ×3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DF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F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2E374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«동선 알고리즘» 안에 순서 결정 · 이동 실측 · 빈틈 채우기가 섞여 있다. 셋은 실패 방식이 다르다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DF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F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2179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8A929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— (기획안에 없음)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DF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F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2F6B4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Memory(A9)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DF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F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2F6B4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추가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DF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F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2E374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기획안 본문이 핵심이라 말한 «경험 기억형 개인화»의 주체. 수정 행동을 남기고 취향을 다시 만든다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DF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F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530352" y="4956048"/>
            <a:ext cx="11128248" cy="713232"/>
          </a:xfrm>
          <a:prstGeom prst="roundRect">
            <a:avLst>
              <a:gd name="adj" fmla="val 5128"/>
            </a:avLst>
          </a:prstGeom>
          <a:solidFill>
            <a:srgbClr val="F7F9FA"/>
          </a:solidFill>
          <a:ln w="12700">
            <a:solidFill>
              <a:srgbClr val="DFE4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" name="Text 5"/>
          <p:cNvSpPr/>
          <p:nvPr/>
        </p:nvSpPr>
        <p:spPr>
          <a:xfrm>
            <a:off x="841248" y="4956048"/>
            <a:ext cx="1050645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0F6E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나누는 기준 — </a:t>
            </a:r>
            <a:r>
              <a:rPr lang="en-US" sz="1050" dirty="0">
                <a:solidFill>
                  <a:srgbClr val="2E37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«기능이 다른가»가 아니라 «따로 실패할 수 있는가»입니다. Culture(A3)가 외부 쿼터로 비어도 Preference(A2)의 기록으로 일정이 나오고, Route(A6)의 실측이 막혀도 추정으로 시각은 채워집니다.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530352" y="5797296"/>
            <a:ext cx="11128248" cy="0"/>
          </a:xfrm>
          <a:prstGeom prst="line">
            <a:avLst/>
          </a:prstGeom>
          <a:noFill/>
          <a:ln w="12700">
            <a:solidFill>
              <a:srgbClr val="DFE4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Text 7"/>
          <p:cNvSpPr/>
          <p:nvPr/>
        </p:nvSpPr>
        <p:spPr>
          <a:xfrm>
            <a:off x="530352" y="5861304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100" dirty="0">
                <a:solidFill>
                  <a:srgbClr val="0F6E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출처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1097280" y="5852160"/>
            <a:ext cx="105613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A92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docs/ARCHITECTURE.md §3 «메인 그래프» 노드 표 · docs/FUNCTIONAL_MAP.md §2 기능별 구현 위치 · docs/PROGRESS.md §2 «기능별 상태»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365760"/>
            <a:ext cx="4754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200" dirty="0">
                <a:solidFill>
                  <a:srgbClr val="8A92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01 · Agent Responsibility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096512" y="365760"/>
            <a:ext cx="3840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200" dirty="0">
                <a:solidFill>
                  <a:srgbClr val="0F6E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Responsibility Matrix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30352" y="640080"/>
            <a:ext cx="1112824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100" b="1" dirty="0">
                <a:solidFill>
                  <a:srgbClr val="1A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Agent 9종 — 책임 · 입력 · 출력</a:t>
            </a:r>
            <a:endParaRPr lang="en-US" sz="3100" dirty="0"/>
          </a:p>
        </p:txBody>
      </p:sp>
      <p:sp>
        <p:nvSpPr>
          <p:cNvPr id="5" name="Text 3"/>
          <p:cNvSpPr/>
          <p:nvPr/>
        </p:nvSpPr>
        <p:spPr>
          <a:xfrm>
            <a:off x="530352" y="1225296"/>
            <a:ext cx="80192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2E37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각 Agent 는 «입력을 받아 정해진 산출물을 남긴다»는 계약만 지킵니다.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6931152" y="1298448"/>
            <a:ext cx="100584" cy="100584"/>
          </a:xfrm>
          <a:prstGeom prst="ellipse">
            <a:avLst/>
          </a:prstGeom>
          <a:solidFill>
            <a:srgbClr val="5A6472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" name="Text 5"/>
          <p:cNvSpPr/>
          <p:nvPr/>
        </p:nvSpPr>
        <p:spPr>
          <a:xfrm>
            <a:off x="7077456" y="1243584"/>
            <a:ext cx="7863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E37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이해계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863840" y="1298448"/>
            <a:ext cx="100584" cy="100584"/>
          </a:xfrm>
          <a:prstGeom prst="ellipse">
            <a:avLst/>
          </a:prstGeom>
          <a:solidFill>
            <a:srgbClr val="0F6E78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9" name="Text 7"/>
          <p:cNvSpPr/>
          <p:nvPr/>
        </p:nvSpPr>
        <p:spPr>
          <a:xfrm>
            <a:off x="8010144" y="1243584"/>
            <a:ext cx="7863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E37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탐색계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8796528" y="1298448"/>
            <a:ext cx="100584" cy="100584"/>
          </a:xfrm>
          <a:prstGeom prst="ellipse">
            <a:avLst/>
          </a:prstGeom>
          <a:solidFill>
            <a:srgbClr val="2E4374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1" name="Text 9"/>
          <p:cNvSpPr/>
          <p:nvPr/>
        </p:nvSpPr>
        <p:spPr>
          <a:xfrm>
            <a:off x="8942832" y="1243584"/>
            <a:ext cx="7863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E37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편성계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9729216" y="1298448"/>
            <a:ext cx="100584" cy="100584"/>
          </a:xfrm>
          <a:prstGeom prst="ellipse">
            <a:avLst/>
          </a:prstGeom>
          <a:solidFill>
            <a:srgbClr val="A0641E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3" name="Text 11"/>
          <p:cNvSpPr/>
          <p:nvPr/>
        </p:nvSpPr>
        <p:spPr>
          <a:xfrm>
            <a:off x="9875520" y="1243584"/>
            <a:ext cx="7863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E37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검증계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10661904" y="1298448"/>
            <a:ext cx="100584" cy="100584"/>
          </a:xfrm>
          <a:prstGeom prst="ellipse">
            <a:avLst/>
          </a:prstGeom>
          <a:solidFill>
            <a:srgbClr val="2F6B4F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5" name="Text 13"/>
          <p:cNvSpPr/>
          <p:nvPr/>
        </p:nvSpPr>
        <p:spPr>
          <a:xfrm>
            <a:off x="10808208" y="1243584"/>
            <a:ext cx="7863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E37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학습계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530352" y="1792224"/>
            <a:ext cx="3291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100" dirty="0">
                <a:solidFill>
                  <a:srgbClr val="8A92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Agent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2450592" y="1792224"/>
            <a:ext cx="3291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100" dirty="0">
                <a:solidFill>
                  <a:srgbClr val="8A92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책임 — 한 문장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6016752" y="1792224"/>
            <a:ext cx="3291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100" dirty="0">
                <a:solidFill>
                  <a:srgbClr val="8A92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입력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8668512" y="1792224"/>
            <a:ext cx="3291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100" dirty="0">
                <a:solidFill>
                  <a:srgbClr val="8A92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출력 (공유 상태에 남기는 것)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530352" y="2066544"/>
            <a:ext cx="11128248" cy="342900"/>
          </a:xfrm>
          <a:prstGeom prst="rect">
            <a:avLst/>
          </a:prstGeom>
          <a:solidFill>
            <a:srgbClr val="F7F9FA"/>
          </a:solidFill>
          <a:ln w="6350">
            <a:solidFill>
              <a:srgbClr val="F7F9F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1" name="Shape 19"/>
          <p:cNvSpPr/>
          <p:nvPr/>
        </p:nvSpPr>
        <p:spPr>
          <a:xfrm>
            <a:off x="530352" y="2093976"/>
            <a:ext cx="1792224" cy="283464"/>
          </a:xfrm>
          <a:prstGeom prst="roundRect">
            <a:avLst>
              <a:gd name="adj" fmla="val 9677"/>
            </a:avLst>
          </a:prstGeom>
          <a:solidFill>
            <a:srgbClr val="F1F3F5"/>
          </a:solidFill>
          <a:ln w="12700">
            <a:solidFill>
              <a:srgbClr val="5A6472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2" name="Text 20"/>
          <p:cNvSpPr/>
          <p:nvPr/>
        </p:nvSpPr>
        <p:spPr>
          <a:xfrm>
            <a:off x="530352" y="2093976"/>
            <a:ext cx="179222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5A64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Router</a:t>
            </a:r>
            <a:r>
              <a:rPr lang="en-US" sz="850" dirty="0">
                <a:solidFill>
                  <a:srgbClr val="5A64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(A1)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2450592" y="2066544"/>
            <a:ext cx="3493008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A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발화를 실행 계획으로 바꾼다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6016752" y="2066544"/>
            <a:ext cx="2596896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E37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자연어 발화 · 화면 입력값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8668512" y="2066544"/>
            <a:ext cx="2990088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5A64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요청 유형 · 실행 계획 · 여행 조건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530352" y="2436876"/>
            <a:ext cx="1792224" cy="283464"/>
          </a:xfrm>
          <a:prstGeom prst="roundRect">
            <a:avLst>
              <a:gd name="adj" fmla="val 9677"/>
            </a:avLst>
          </a:prstGeom>
          <a:solidFill>
            <a:srgbClr val="E6F2F3"/>
          </a:solidFill>
          <a:ln w="12700">
            <a:solidFill>
              <a:srgbClr val="0F6E7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7" name="Text 25"/>
          <p:cNvSpPr/>
          <p:nvPr/>
        </p:nvSpPr>
        <p:spPr>
          <a:xfrm>
            <a:off x="530352" y="2436876"/>
            <a:ext cx="179222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F6E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Preference</a:t>
            </a:r>
            <a:r>
              <a:rPr lang="en-US" sz="850" dirty="0">
                <a:solidFill>
                  <a:srgbClr val="0F6E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(A2)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2450592" y="2409444"/>
            <a:ext cx="3493008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A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과거 기록에서 취향과 불편 신호를 뽑는다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6016752" y="2409444"/>
            <a:ext cx="2596896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E37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사용자 · 여행 조건</a:t>
            </a:r>
            <a:endParaRPr lang="en-US" sz="950" dirty="0"/>
          </a:p>
        </p:txBody>
      </p:sp>
      <p:sp>
        <p:nvSpPr>
          <p:cNvPr id="30" name="Text 28"/>
          <p:cNvSpPr/>
          <p:nvPr/>
        </p:nvSpPr>
        <p:spPr>
          <a:xfrm>
            <a:off x="8668512" y="2409444"/>
            <a:ext cx="2990088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0F6E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취향 프로필 · 과거 경험 조각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530352" y="2752344"/>
            <a:ext cx="11128248" cy="342900"/>
          </a:xfrm>
          <a:prstGeom prst="rect">
            <a:avLst/>
          </a:prstGeom>
          <a:solidFill>
            <a:srgbClr val="F7F9FA"/>
          </a:solidFill>
          <a:ln w="6350">
            <a:solidFill>
              <a:srgbClr val="F7F9F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2" name="Shape 30"/>
          <p:cNvSpPr/>
          <p:nvPr/>
        </p:nvSpPr>
        <p:spPr>
          <a:xfrm>
            <a:off x="530352" y="2779776"/>
            <a:ext cx="1792224" cy="283464"/>
          </a:xfrm>
          <a:prstGeom prst="roundRect">
            <a:avLst>
              <a:gd name="adj" fmla="val 9677"/>
            </a:avLst>
          </a:prstGeom>
          <a:solidFill>
            <a:srgbClr val="E6F2F3"/>
          </a:solidFill>
          <a:ln w="12700">
            <a:solidFill>
              <a:srgbClr val="0F6E7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3" name="Text 31"/>
          <p:cNvSpPr/>
          <p:nvPr/>
        </p:nvSpPr>
        <p:spPr>
          <a:xfrm>
            <a:off x="530352" y="2779776"/>
            <a:ext cx="179222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F6E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Culture</a:t>
            </a:r>
            <a:r>
              <a:rPr lang="en-US" sz="850" dirty="0">
                <a:solidFill>
                  <a:srgbClr val="0F6E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(A3)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2450592" y="2752344"/>
            <a:ext cx="3493008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A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조건에 맞는 장소 후보군을 만든다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6016752" y="2752344"/>
            <a:ext cx="2596896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E37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여행 조건 (지역 · 날짜 · 좌표)</a:t>
            </a:r>
            <a:endParaRPr lang="en-US" sz="950" dirty="0"/>
          </a:p>
        </p:txBody>
      </p:sp>
      <p:sp>
        <p:nvSpPr>
          <p:cNvPr id="36" name="Text 34"/>
          <p:cNvSpPr/>
          <p:nvPr/>
        </p:nvSpPr>
        <p:spPr>
          <a:xfrm>
            <a:off x="8668512" y="2752344"/>
            <a:ext cx="2990088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0F6E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장소 후보 목록</a:t>
            </a:r>
            <a:endParaRPr lang="en-US" sz="950" dirty="0"/>
          </a:p>
        </p:txBody>
      </p:sp>
      <p:sp>
        <p:nvSpPr>
          <p:cNvPr id="37" name="Shape 35"/>
          <p:cNvSpPr/>
          <p:nvPr/>
        </p:nvSpPr>
        <p:spPr>
          <a:xfrm>
            <a:off x="530352" y="3122676"/>
            <a:ext cx="1792224" cy="283464"/>
          </a:xfrm>
          <a:prstGeom prst="roundRect">
            <a:avLst>
              <a:gd name="adj" fmla="val 9677"/>
            </a:avLst>
          </a:prstGeom>
          <a:solidFill>
            <a:srgbClr val="E6F2F3"/>
          </a:solidFill>
          <a:ln w="12700">
            <a:solidFill>
              <a:srgbClr val="0F6E7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8" name="Text 36"/>
          <p:cNvSpPr/>
          <p:nvPr/>
        </p:nvSpPr>
        <p:spPr>
          <a:xfrm>
            <a:off x="530352" y="3122676"/>
            <a:ext cx="179222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F6E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Verifier</a:t>
            </a:r>
            <a:r>
              <a:rPr lang="en-US" sz="850" dirty="0">
                <a:solidFill>
                  <a:srgbClr val="0F6E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(A4)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2450592" y="3095244"/>
            <a:ext cx="3493008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A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후보가 실재하는지 공식 정보로 가른다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6016752" y="3095244"/>
            <a:ext cx="2596896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E37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장소 후보 목록</a:t>
            </a:r>
            <a:endParaRPr lang="en-US" sz="950" dirty="0"/>
          </a:p>
        </p:txBody>
      </p:sp>
      <p:sp>
        <p:nvSpPr>
          <p:cNvPr id="41" name="Text 39"/>
          <p:cNvSpPr/>
          <p:nvPr/>
        </p:nvSpPr>
        <p:spPr>
          <a:xfrm>
            <a:off x="8668512" y="3095244"/>
            <a:ext cx="2990088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0F6E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신뢰 등급 · 확인 근거</a:t>
            </a:r>
            <a:endParaRPr lang="en-US" sz="950" dirty="0"/>
          </a:p>
        </p:txBody>
      </p:sp>
      <p:sp>
        <p:nvSpPr>
          <p:cNvPr id="42" name="Shape 40"/>
          <p:cNvSpPr/>
          <p:nvPr/>
        </p:nvSpPr>
        <p:spPr>
          <a:xfrm>
            <a:off x="530352" y="3438144"/>
            <a:ext cx="11128248" cy="342900"/>
          </a:xfrm>
          <a:prstGeom prst="rect">
            <a:avLst/>
          </a:prstGeom>
          <a:solidFill>
            <a:srgbClr val="F7F9FA"/>
          </a:solidFill>
          <a:ln w="6350">
            <a:solidFill>
              <a:srgbClr val="F7F9F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3" name="Shape 41"/>
          <p:cNvSpPr/>
          <p:nvPr/>
        </p:nvSpPr>
        <p:spPr>
          <a:xfrm>
            <a:off x="530352" y="3465576"/>
            <a:ext cx="1792224" cy="283464"/>
          </a:xfrm>
          <a:prstGeom prst="roundRect">
            <a:avLst>
              <a:gd name="adj" fmla="val 9677"/>
            </a:avLst>
          </a:prstGeom>
          <a:solidFill>
            <a:srgbClr val="E8EBF5"/>
          </a:solidFill>
          <a:ln w="12700">
            <a:solidFill>
              <a:srgbClr val="2E4374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4" name="Text 42"/>
          <p:cNvSpPr/>
          <p:nvPr/>
        </p:nvSpPr>
        <p:spPr>
          <a:xfrm>
            <a:off x="530352" y="3465576"/>
            <a:ext cx="179222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2E437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Planner</a:t>
            </a:r>
            <a:r>
              <a:rPr lang="en-US" sz="850" dirty="0">
                <a:solidFill>
                  <a:srgbClr val="2E437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(A5)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2450592" y="3438144"/>
            <a:ext cx="3493008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A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순서 · 시각 · 체류시간을 확정한다</a:t>
            </a:r>
            <a:endParaRPr lang="en-US" sz="1000" dirty="0"/>
          </a:p>
        </p:txBody>
      </p:sp>
      <p:sp>
        <p:nvSpPr>
          <p:cNvPr id="46" name="Text 44"/>
          <p:cNvSpPr/>
          <p:nvPr/>
        </p:nvSpPr>
        <p:spPr>
          <a:xfrm>
            <a:off x="6016752" y="3438144"/>
            <a:ext cx="2596896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E37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후보 · 취향 · 이동시간 · 운영시간 · 날씨</a:t>
            </a:r>
            <a:endParaRPr lang="en-US" sz="950" dirty="0"/>
          </a:p>
        </p:txBody>
      </p:sp>
      <p:sp>
        <p:nvSpPr>
          <p:cNvPr id="47" name="Text 45"/>
          <p:cNvSpPr/>
          <p:nvPr/>
        </p:nvSpPr>
        <p:spPr>
          <a:xfrm>
            <a:off x="8668512" y="3438144"/>
            <a:ext cx="2990088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E437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확정 일정</a:t>
            </a:r>
            <a:endParaRPr lang="en-US" sz="950" dirty="0"/>
          </a:p>
        </p:txBody>
      </p:sp>
      <p:sp>
        <p:nvSpPr>
          <p:cNvPr id="48" name="Shape 46"/>
          <p:cNvSpPr/>
          <p:nvPr/>
        </p:nvSpPr>
        <p:spPr>
          <a:xfrm>
            <a:off x="530352" y="3808476"/>
            <a:ext cx="1792224" cy="283464"/>
          </a:xfrm>
          <a:prstGeom prst="roundRect">
            <a:avLst>
              <a:gd name="adj" fmla="val 9677"/>
            </a:avLst>
          </a:prstGeom>
          <a:solidFill>
            <a:srgbClr val="E8EBF5"/>
          </a:solidFill>
          <a:ln w="12700">
            <a:solidFill>
              <a:srgbClr val="2E4374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9" name="Text 47"/>
          <p:cNvSpPr/>
          <p:nvPr/>
        </p:nvSpPr>
        <p:spPr>
          <a:xfrm>
            <a:off x="530352" y="3808476"/>
            <a:ext cx="179222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2E437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Route</a:t>
            </a:r>
            <a:r>
              <a:rPr lang="en-US" sz="850" dirty="0">
                <a:solidFill>
                  <a:srgbClr val="2E437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(A6)</a:t>
            </a:r>
            <a:endParaRPr lang="en-US" sz="1000" dirty="0"/>
          </a:p>
        </p:txBody>
      </p:sp>
      <p:sp>
        <p:nvSpPr>
          <p:cNvPr id="50" name="Text 48"/>
          <p:cNvSpPr/>
          <p:nvPr/>
        </p:nvSpPr>
        <p:spPr>
          <a:xfrm>
            <a:off x="2450592" y="3781044"/>
            <a:ext cx="3493008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A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구간별 실제 이동시간과 수단을 확정한다</a:t>
            </a:r>
            <a:endParaRPr lang="en-US" sz="1000" dirty="0"/>
          </a:p>
        </p:txBody>
      </p:sp>
      <p:sp>
        <p:nvSpPr>
          <p:cNvPr id="51" name="Text 49"/>
          <p:cNvSpPr/>
          <p:nvPr/>
        </p:nvSpPr>
        <p:spPr>
          <a:xfrm>
            <a:off x="6016752" y="3781044"/>
            <a:ext cx="2596896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E37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확정된 일정 항목 · 선호 수단</a:t>
            </a:r>
            <a:endParaRPr lang="en-US" sz="950" dirty="0"/>
          </a:p>
        </p:txBody>
      </p:sp>
      <p:sp>
        <p:nvSpPr>
          <p:cNvPr id="52" name="Text 50"/>
          <p:cNvSpPr/>
          <p:nvPr/>
        </p:nvSpPr>
        <p:spPr>
          <a:xfrm>
            <a:off x="8668512" y="3781044"/>
            <a:ext cx="2990088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E437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구간 소요시간 · 거리 · 경로 선형 · 요금</a:t>
            </a:r>
            <a:endParaRPr lang="en-US" sz="950" dirty="0"/>
          </a:p>
        </p:txBody>
      </p:sp>
      <p:sp>
        <p:nvSpPr>
          <p:cNvPr id="53" name="Shape 51"/>
          <p:cNvSpPr/>
          <p:nvPr/>
        </p:nvSpPr>
        <p:spPr>
          <a:xfrm>
            <a:off x="530352" y="4123944"/>
            <a:ext cx="11128248" cy="342900"/>
          </a:xfrm>
          <a:prstGeom prst="rect">
            <a:avLst/>
          </a:prstGeom>
          <a:solidFill>
            <a:srgbClr val="F7F9FA"/>
          </a:solidFill>
          <a:ln w="6350">
            <a:solidFill>
              <a:srgbClr val="F7F9F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4" name="Shape 52"/>
          <p:cNvSpPr/>
          <p:nvPr/>
        </p:nvSpPr>
        <p:spPr>
          <a:xfrm>
            <a:off x="530352" y="4151376"/>
            <a:ext cx="1792224" cy="283464"/>
          </a:xfrm>
          <a:prstGeom prst="roundRect">
            <a:avLst>
              <a:gd name="adj" fmla="val 9677"/>
            </a:avLst>
          </a:prstGeom>
          <a:solidFill>
            <a:srgbClr val="E8EBF5"/>
          </a:solidFill>
          <a:ln w="12700">
            <a:solidFill>
              <a:srgbClr val="2E4374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5" name="Text 53"/>
          <p:cNvSpPr/>
          <p:nvPr/>
        </p:nvSpPr>
        <p:spPr>
          <a:xfrm>
            <a:off x="530352" y="4151376"/>
            <a:ext cx="179222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2E437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Gap</a:t>
            </a:r>
            <a:r>
              <a:rPr lang="en-US" sz="850" dirty="0">
                <a:solidFill>
                  <a:srgbClr val="2E437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(A7)</a:t>
            </a:r>
            <a:endParaRPr lang="en-US" sz="1000" dirty="0"/>
          </a:p>
        </p:txBody>
      </p:sp>
      <p:sp>
        <p:nvSpPr>
          <p:cNvPr id="56" name="Text 54"/>
          <p:cNvSpPr/>
          <p:nvPr/>
        </p:nvSpPr>
        <p:spPr>
          <a:xfrm>
            <a:off x="2450592" y="4123944"/>
            <a:ext cx="3493008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A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식사 자리를 잡고 빈 시간을 채운다</a:t>
            </a:r>
            <a:endParaRPr lang="en-US" sz="1000" dirty="0"/>
          </a:p>
        </p:txBody>
      </p:sp>
      <p:sp>
        <p:nvSpPr>
          <p:cNvPr id="57" name="Text 55"/>
          <p:cNvSpPr/>
          <p:nvPr/>
        </p:nvSpPr>
        <p:spPr>
          <a:xfrm>
            <a:off x="6016752" y="4123944"/>
            <a:ext cx="2596896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E37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편성 중 일정 · 빈틈 · 기준 좌표</a:t>
            </a:r>
            <a:endParaRPr lang="en-US" sz="950" dirty="0"/>
          </a:p>
        </p:txBody>
      </p:sp>
      <p:sp>
        <p:nvSpPr>
          <p:cNvPr id="58" name="Text 56"/>
          <p:cNvSpPr/>
          <p:nvPr/>
        </p:nvSpPr>
        <p:spPr>
          <a:xfrm>
            <a:off x="8668512" y="4123944"/>
            <a:ext cx="2990088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E437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주변 후보 · 삽입된 일정 항목</a:t>
            </a:r>
            <a:endParaRPr lang="en-US" sz="950" dirty="0"/>
          </a:p>
        </p:txBody>
      </p:sp>
      <p:sp>
        <p:nvSpPr>
          <p:cNvPr id="59" name="Shape 57"/>
          <p:cNvSpPr/>
          <p:nvPr/>
        </p:nvSpPr>
        <p:spPr>
          <a:xfrm>
            <a:off x="530352" y="4494276"/>
            <a:ext cx="1792224" cy="283464"/>
          </a:xfrm>
          <a:prstGeom prst="roundRect">
            <a:avLst>
              <a:gd name="adj" fmla="val 9677"/>
            </a:avLst>
          </a:prstGeom>
          <a:solidFill>
            <a:srgbClr val="FBEEE0"/>
          </a:solidFill>
          <a:ln w="12700">
            <a:solidFill>
              <a:srgbClr val="A0641E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0" name="Text 58"/>
          <p:cNvSpPr/>
          <p:nvPr/>
        </p:nvSpPr>
        <p:spPr>
          <a:xfrm>
            <a:off x="530352" y="4494276"/>
            <a:ext cx="179222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A0641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Guardian</a:t>
            </a:r>
            <a:r>
              <a:rPr lang="en-US" sz="850" dirty="0">
                <a:solidFill>
                  <a:srgbClr val="A0641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(A8)</a:t>
            </a:r>
            <a:endParaRPr lang="en-US" sz="1000" dirty="0"/>
          </a:p>
        </p:txBody>
      </p:sp>
      <p:sp>
        <p:nvSpPr>
          <p:cNvPr id="61" name="Text 59"/>
          <p:cNvSpPr/>
          <p:nvPr/>
        </p:nvSpPr>
        <p:spPr>
          <a:xfrm>
            <a:off x="2450592" y="4466844"/>
            <a:ext cx="3493008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A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결함을 찾아 «물을 것»을 고른다</a:t>
            </a:r>
            <a:endParaRPr lang="en-US" sz="1000" dirty="0"/>
          </a:p>
        </p:txBody>
      </p:sp>
      <p:sp>
        <p:nvSpPr>
          <p:cNvPr id="62" name="Text 60"/>
          <p:cNvSpPr/>
          <p:nvPr/>
        </p:nvSpPr>
        <p:spPr>
          <a:xfrm>
            <a:off x="6016752" y="4466844"/>
            <a:ext cx="2596896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E37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확정 일정 · 과거 경험 조각</a:t>
            </a:r>
            <a:endParaRPr lang="en-US" sz="950" dirty="0"/>
          </a:p>
        </p:txBody>
      </p:sp>
      <p:sp>
        <p:nvSpPr>
          <p:cNvPr id="63" name="Text 61"/>
          <p:cNvSpPr/>
          <p:nvPr/>
        </p:nvSpPr>
        <p:spPr>
          <a:xfrm>
            <a:off x="8668512" y="4466844"/>
            <a:ext cx="2990088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A0641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결함 목록 · 확인 카드 · 정지 신호</a:t>
            </a:r>
            <a:endParaRPr lang="en-US" sz="950" dirty="0"/>
          </a:p>
        </p:txBody>
      </p:sp>
      <p:sp>
        <p:nvSpPr>
          <p:cNvPr id="64" name="Shape 62"/>
          <p:cNvSpPr/>
          <p:nvPr/>
        </p:nvSpPr>
        <p:spPr>
          <a:xfrm>
            <a:off x="530352" y="4809744"/>
            <a:ext cx="11128248" cy="342900"/>
          </a:xfrm>
          <a:prstGeom prst="rect">
            <a:avLst/>
          </a:prstGeom>
          <a:solidFill>
            <a:srgbClr val="F7F9FA"/>
          </a:solidFill>
          <a:ln w="6350">
            <a:solidFill>
              <a:srgbClr val="F7F9F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5" name="Shape 63"/>
          <p:cNvSpPr/>
          <p:nvPr/>
        </p:nvSpPr>
        <p:spPr>
          <a:xfrm>
            <a:off x="530352" y="4837176"/>
            <a:ext cx="1792224" cy="283464"/>
          </a:xfrm>
          <a:prstGeom prst="roundRect">
            <a:avLst>
              <a:gd name="adj" fmla="val 9677"/>
            </a:avLst>
          </a:prstGeom>
          <a:solidFill>
            <a:srgbClr val="E7F1EB"/>
          </a:solidFill>
          <a:ln w="12700">
            <a:solidFill>
              <a:srgbClr val="2F6B4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6" name="Text 64"/>
          <p:cNvSpPr/>
          <p:nvPr/>
        </p:nvSpPr>
        <p:spPr>
          <a:xfrm>
            <a:off x="530352" y="4837176"/>
            <a:ext cx="179222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2F6B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Memory</a:t>
            </a:r>
            <a:r>
              <a:rPr lang="en-US" sz="850" dirty="0">
                <a:solidFill>
                  <a:srgbClr val="2F6B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(A9)</a:t>
            </a:r>
            <a:endParaRPr lang="en-US" sz="1000" dirty="0"/>
          </a:p>
        </p:txBody>
      </p:sp>
      <p:sp>
        <p:nvSpPr>
          <p:cNvPr id="67" name="Text 65"/>
          <p:cNvSpPr/>
          <p:nvPr/>
        </p:nvSpPr>
        <p:spPr>
          <a:xfrm>
            <a:off x="2450592" y="4809744"/>
            <a:ext cx="3493008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A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이번 행동에서 배울 것을 남긴다</a:t>
            </a:r>
            <a:endParaRPr lang="en-US" sz="1000" dirty="0"/>
          </a:p>
        </p:txBody>
      </p:sp>
      <p:sp>
        <p:nvSpPr>
          <p:cNvPr id="68" name="Text 66"/>
          <p:cNvSpPr/>
          <p:nvPr/>
        </p:nvSpPr>
        <p:spPr>
          <a:xfrm>
            <a:off x="6016752" y="4809744"/>
            <a:ext cx="2596896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E37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사용자 선택 · 일정 변경분 · 방문 기록</a:t>
            </a:r>
            <a:endParaRPr lang="en-US" sz="950" dirty="0"/>
          </a:p>
        </p:txBody>
      </p:sp>
      <p:sp>
        <p:nvSpPr>
          <p:cNvPr id="69" name="Text 67"/>
          <p:cNvSpPr/>
          <p:nvPr/>
        </p:nvSpPr>
        <p:spPr>
          <a:xfrm>
            <a:off x="8668512" y="4809744"/>
            <a:ext cx="2990088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F6B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수정 행동 기록 · 갱신된 취향</a:t>
            </a:r>
            <a:endParaRPr lang="en-US" sz="950" dirty="0"/>
          </a:p>
        </p:txBody>
      </p:sp>
      <p:sp>
        <p:nvSpPr>
          <p:cNvPr id="70" name="Shape 68"/>
          <p:cNvSpPr/>
          <p:nvPr/>
        </p:nvSpPr>
        <p:spPr>
          <a:xfrm>
            <a:off x="530352" y="5230368"/>
            <a:ext cx="11128248" cy="0"/>
          </a:xfrm>
          <a:prstGeom prst="line">
            <a:avLst/>
          </a:prstGeom>
          <a:noFill/>
          <a:ln w="12700">
            <a:solidFill>
              <a:srgbClr val="DFE4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1" name="Text 69"/>
          <p:cNvSpPr/>
          <p:nvPr/>
        </p:nvSpPr>
        <p:spPr>
          <a:xfrm>
            <a:off x="530352" y="5294376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100" dirty="0">
                <a:solidFill>
                  <a:srgbClr val="0F6E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출처</a:t>
            </a:r>
            <a:endParaRPr lang="en-US" sz="900" dirty="0"/>
          </a:p>
        </p:txBody>
      </p:sp>
      <p:sp>
        <p:nvSpPr>
          <p:cNvPr id="72" name="Text 70"/>
          <p:cNvSpPr/>
          <p:nvPr/>
        </p:nvSpPr>
        <p:spPr>
          <a:xfrm>
            <a:off x="1097280" y="5285232"/>
            <a:ext cx="105613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A92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«여행 조건» = TripConditions · «장소 후보 목록» = candidates · «확정 일정» = itinerary · «과거 경험 조각» = archive_hits · «취향 프로필» = taste_profile</a:t>
            </a:r>
            <a:endParaRPr lang="en-US" sz="900" dirty="0"/>
          </a:p>
        </p:txBody>
      </p:sp>
      <p:sp>
        <p:nvSpPr>
          <p:cNvPr id="73" name="Text 71"/>
          <p:cNvSpPr/>
          <p:nvPr/>
        </p:nvSpPr>
        <p:spPr>
          <a:xfrm>
            <a:off x="1097280" y="5481828"/>
            <a:ext cx="105613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A92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«구간 소요시간 · 거리 · 경로 선형 · 요금» = ItineraryItem 의 travel_min_from_prev · travel_km_from_prev · travel_path · travel_fare</a:t>
            </a:r>
            <a:endParaRPr lang="en-US" sz="900" dirty="0"/>
          </a:p>
        </p:txBody>
      </p:sp>
      <p:sp>
        <p:nvSpPr>
          <p:cNvPr id="74" name="Text 72"/>
          <p:cNvSpPr/>
          <p:nvPr/>
        </p:nvSpPr>
        <p:spPr>
          <a:xfrm>
            <a:off x="1097280" y="5678424"/>
            <a:ext cx="105613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A92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«확인 카드 · 정지 신호» = advisories 와 그래프 정지 · 채널 전체 정의는 docs/ARCHITECTURE.md §4.1 «단일 루트 State»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365760"/>
            <a:ext cx="4754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200" dirty="0">
                <a:solidFill>
                  <a:srgbClr val="8A92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01 · Agent Responsibility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096512" y="365760"/>
            <a:ext cx="3840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200" dirty="0">
                <a:solidFill>
                  <a:srgbClr val="0F6E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이해 · 탐색계 — A1 · A2 · A3 · A4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30352" y="640080"/>
            <a:ext cx="1112824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100" b="1" dirty="0">
                <a:solidFill>
                  <a:srgbClr val="1A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요청을 이해하고 재료를 모은다</a:t>
            </a:r>
            <a:endParaRPr lang="en-US" sz="3100" dirty="0"/>
          </a:p>
        </p:txBody>
      </p:sp>
      <p:sp>
        <p:nvSpPr>
          <p:cNvPr id="5" name="Text 3"/>
          <p:cNvSpPr/>
          <p:nvPr/>
        </p:nvSpPr>
        <p:spPr>
          <a:xfrm>
            <a:off x="530352" y="1225296"/>
            <a:ext cx="80192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2E37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A2 · A3 는 병렬로 실행되며 서로를 기다리지 않습니다.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6931152" y="1298448"/>
            <a:ext cx="100584" cy="100584"/>
          </a:xfrm>
          <a:prstGeom prst="ellipse">
            <a:avLst/>
          </a:prstGeom>
          <a:solidFill>
            <a:srgbClr val="5A6472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" name="Text 5"/>
          <p:cNvSpPr/>
          <p:nvPr/>
        </p:nvSpPr>
        <p:spPr>
          <a:xfrm>
            <a:off x="7077456" y="1243584"/>
            <a:ext cx="7863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E37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이해계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863840" y="1298448"/>
            <a:ext cx="100584" cy="100584"/>
          </a:xfrm>
          <a:prstGeom prst="ellipse">
            <a:avLst/>
          </a:prstGeom>
          <a:solidFill>
            <a:srgbClr val="0F6E78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9" name="Text 7"/>
          <p:cNvSpPr/>
          <p:nvPr/>
        </p:nvSpPr>
        <p:spPr>
          <a:xfrm>
            <a:off x="8010144" y="1243584"/>
            <a:ext cx="7863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E37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탐색계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8796528" y="1298448"/>
            <a:ext cx="100584" cy="100584"/>
          </a:xfrm>
          <a:prstGeom prst="ellipse">
            <a:avLst/>
          </a:prstGeom>
          <a:solidFill>
            <a:srgbClr val="2E4374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1" name="Text 9"/>
          <p:cNvSpPr/>
          <p:nvPr/>
        </p:nvSpPr>
        <p:spPr>
          <a:xfrm>
            <a:off x="8942832" y="1243584"/>
            <a:ext cx="7863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E37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편성계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9729216" y="1298448"/>
            <a:ext cx="100584" cy="100584"/>
          </a:xfrm>
          <a:prstGeom prst="ellipse">
            <a:avLst/>
          </a:prstGeom>
          <a:solidFill>
            <a:srgbClr val="A0641E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3" name="Text 11"/>
          <p:cNvSpPr/>
          <p:nvPr/>
        </p:nvSpPr>
        <p:spPr>
          <a:xfrm>
            <a:off x="9875520" y="1243584"/>
            <a:ext cx="7863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E37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검증계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10661904" y="1298448"/>
            <a:ext cx="100584" cy="100584"/>
          </a:xfrm>
          <a:prstGeom prst="ellipse">
            <a:avLst/>
          </a:prstGeom>
          <a:solidFill>
            <a:srgbClr val="2F6B4F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5" name="Text 13"/>
          <p:cNvSpPr/>
          <p:nvPr/>
        </p:nvSpPr>
        <p:spPr>
          <a:xfrm>
            <a:off x="10808208" y="1243584"/>
            <a:ext cx="7863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E37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학습계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530352" y="1700784"/>
            <a:ext cx="11128248" cy="763524"/>
          </a:xfrm>
          <a:prstGeom prst="roundRect">
            <a:avLst>
              <a:gd name="adj" fmla="val 4790"/>
            </a:avLst>
          </a:prstGeom>
          <a:solidFill>
            <a:srgbClr val="FFFFFF"/>
          </a:solidFill>
          <a:ln w="12700">
            <a:solidFill>
              <a:srgbClr val="DFE4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7" name="Shape 15"/>
          <p:cNvSpPr/>
          <p:nvPr/>
        </p:nvSpPr>
        <p:spPr>
          <a:xfrm>
            <a:off x="530352" y="1700784"/>
            <a:ext cx="2286000" cy="763524"/>
          </a:xfrm>
          <a:prstGeom prst="rect">
            <a:avLst/>
          </a:prstGeom>
          <a:solidFill>
            <a:srgbClr val="F1F3F5"/>
          </a:solidFill>
          <a:ln w="6350">
            <a:solidFill>
              <a:srgbClr val="F1F3F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8" name="Shape 16"/>
          <p:cNvSpPr/>
          <p:nvPr/>
        </p:nvSpPr>
        <p:spPr>
          <a:xfrm>
            <a:off x="731520" y="1847088"/>
            <a:ext cx="1883664" cy="292608"/>
          </a:xfrm>
          <a:prstGeom prst="roundRect">
            <a:avLst>
              <a:gd name="adj" fmla="val 9375"/>
            </a:avLst>
          </a:prstGeom>
          <a:solidFill>
            <a:srgbClr val="F1F3F5"/>
          </a:solidFill>
          <a:ln w="12700">
            <a:solidFill>
              <a:srgbClr val="5A6472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9" name="Text 17"/>
          <p:cNvSpPr/>
          <p:nvPr/>
        </p:nvSpPr>
        <p:spPr>
          <a:xfrm>
            <a:off x="731520" y="1847088"/>
            <a:ext cx="18836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5A64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Router</a:t>
            </a:r>
            <a:r>
              <a:rPr lang="en-US" sz="900" dirty="0">
                <a:solidFill>
                  <a:srgbClr val="5A64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(A1)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731520" y="2194560"/>
            <a:ext cx="18836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5A64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요청 해석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2980944" y="1810512"/>
            <a:ext cx="1371600" cy="1813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8A92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처리 순서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4425696" y="1810512"/>
            <a:ext cx="7013448" cy="1813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E37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규칙 추출 → (부족할 때만) LLM 보강 → 빈칸 메우기 → 화면값 덮기 → 좌표 확정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2980944" y="1991868"/>
            <a:ext cx="1371600" cy="1813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8A92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 규칙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4425696" y="1991868"/>
            <a:ext cx="7013448" cy="1813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E37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방금 한 말이 화면에 남은 이전 값을 이긴다 — 좌표 확정도 여기서 한다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2980944" y="2173224"/>
            <a:ext cx="1371600" cy="1813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8A92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실패 시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4425696" y="2173224"/>
            <a:ext cx="7013448" cy="1813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A0641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LLM 이 실패해도 규칙 결과로 진행한다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530352" y="2592324"/>
            <a:ext cx="11128248" cy="763524"/>
          </a:xfrm>
          <a:prstGeom prst="roundRect">
            <a:avLst>
              <a:gd name="adj" fmla="val 4790"/>
            </a:avLst>
          </a:prstGeom>
          <a:solidFill>
            <a:srgbClr val="FFFFFF"/>
          </a:solidFill>
          <a:ln w="12700">
            <a:solidFill>
              <a:srgbClr val="DFE4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8" name="Shape 26"/>
          <p:cNvSpPr/>
          <p:nvPr/>
        </p:nvSpPr>
        <p:spPr>
          <a:xfrm>
            <a:off x="530352" y="2592324"/>
            <a:ext cx="2286000" cy="763524"/>
          </a:xfrm>
          <a:prstGeom prst="rect">
            <a:avLst/>
          </a:prstGeom>
          <a:solidFill>
            <a:srgbClr val="E6F2F3"/>
          </a:solidFill>
          <a:ln w="6350">
            <a:solidFill>
              <a:srgbClr val="E6F2F3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9" name="Shape 27"/>
          <p:cNvSpPr/>
          <p:nvPr/>
        </p:nvSpPr>
        <p:spPr>
          <a:xfrm>
            <a:off x="731520" y="2738628"/>
            <a:ext cx="1883664" cy="292608"/>
          </a:xfrm>
          <a:prstGeom prst="roundRect">
            <a:avLst>
              <a:gd name="adj" fmla="val 9375"/>
            </a:avLst>
          </a:prstGeom>
          <a:solidFill>
            <a:srgbClr val="E6F2F3"/>
          </a:solidFill>
          <a:ln w="12700">
            <a:solidFill>
              <a:srgbClr val="0F6E7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0" name="Text 28"/>
          <p:cNvSpPr/>
          <p:nvPr/>
        </p:nvSpPr>
        <p:spPr>
          <a:xfrm>
            <a:off x="731520" y="2738628"/>
            <a:ext cx="18836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0F6E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Preference</a:t>
            </a:r>
            <a:r>
              <a:rPr lang="en-US" sz="900" dirty="0">
                <a:solidFill>
                  <a:srgbClr val="0F6E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(A2)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731520" y="3086100"/>
            <a:ext cx="18836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0F6E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취향 산출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2980944" y="2702052"/>
            <a:ext cx="1371600" cy="1813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8A92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처리 순서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4425696" y="2702052"/>
            <a:ext cx="7013448" cy="1813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E37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검색어 갈래 생성 → 갈래별 병렬 검색 → 순위 융합 → 재순위 → 관련 조각 추출</a:t>
            </a:r>
            <a:endParaRPr lang="en-US" sz="950" dirty="0"/>
          </a:p>
        </p:txBody>
      </p:sp>
      <p:sp>
        <p:nvSpPr>
          <p:cNvPr id="34" name="Text 32"/>
          <p:cNvSpPr/>
          <p:nvPr/>
        </p:nvSpPr>
        <p:spPr>
          <a:xfrm>
            <a:off x="2980944" y="2883408"/>
            <a:ext cx="1371600" cy="1813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8A92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 규칙</a:t>
            </a:r>
            <a:endParaRPr lang="en-US" sz="950" dirty="0"/>
          </a:p>
        </p:txBody>
      </p:sp>
      <p:sp>
        <p:nvSpPr>
          <p:cNvPr id="35" name="Text 33"/>
          <p:cNvSpPr/>
          <p:nvPr/>
        </p:nvSpPr>
        <p:spPr>
          <a:xfrm>
            <a:off x="4425696" y="2883408"/>
            <a:ext cx="7013448" cy="1813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E37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최근 기록에 가중치 · 불편 기록은 별도 신호 · 카드는 만들지 않는다</a:t>
            </a:r>
            <a:endParaRPr lang="en-US" sz="950" dirty="0"/>
          </a:p>
        </p:txBody>
      </p:sp>
      <p:sp>
        <p:nvSpPr>
          <p:cNvPr id="36" name="Text 34"/>
          <p:cNvSpPr/>
          <p:nvPr/>
        </p:nvSpPr>
        <p:spPr>
          <a:xfrm>
            <a:off x="2980944" y="3064764"/>
            <a:ext cx="1371600" cy="1813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8A92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실패 시</a:t>
            </a:r>
            <a:endParaRPr lang="en-US" sz="950" dirty="0"/>
          </a:p>
        </p:txBody>
      </p:sp>
      <p:sp>
        <p:nvSpPr>
          <p:cNvPr id="37" name="Text 35"/>
          <p:cNvSpPr/>
          <p:nvPr/>
        </p:nvSpPr>
        <p:spPr>
          <a:xfrm>
            <a:off x="4425696" y="3064764"/>
            <a:ext cx="7013448" cy="1813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A0641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개인화만 꺼지고 일정은 성립한다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530352" y="3483864"/>
            <a:ext cx="11128248" cy="763524"/>
          </a:xfrm>
          <a:prstGeom prst="roundRect">
            <a:avLst>
              <a:gd name="adj" fmla="val 4790"/>
            </a:avLst>
          </a:prstGeom>
          <a:solidFill>
            <a:srgbClr val="FFFFFF"/>
          </a:solidFill>
          <a:ln w="12700">
            <a:solidFill>
              <a:srgbClr val="DFE4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9" name="Shape 37"/>
          <p:cNvSpPr/>
          <p:nvPr/>
        </p:nvSpPr>
        <p:spPr>
          <a:xfrm>
            <a:off x="530352" y="3483864"/>
            <a:ext cx="2286000" cy="763524"/>
          </a:xfrm>
          <a:prstGeom prst="rect">
            <a:avLst/>
          </a:prstGeom>
          <a:solidFill>
            <a:srgbClr val="E6F2F3"/>
          </a:solidFill>
          <a:ln w="6350">
            <a:solidFill>
              <a:srgbClr val="E6F2F3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0" name="Shape 38"/>
          <p:cNvSpPr/>
          <p:nvPr/>
        </p:nvSpPr>
        <p:spPr>
          <a:xfrm>
            <a:off x="731520" y="3630168"/>
            <a:ext cx="1883664" cy="292608"/>
          </a:xfrm>
          <a:prstGeom prst="roundRect">
            <a:avLst>
              <a:gd name="adj" fmla="val 9375"/>
            </a:avLst>
          </a:prstGeom>
          <a:solidFill>
            <a:srgbClr val="E6F2F3"/>
          </a:solidFill>
          <a:ln w="12700">
            <a:solidFill>
              <a:srgbClr val="0F6E7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1" name="Text 39"/>
          <p:cNvSpPr/>
          <p:nvPr/>
        </p:nvSpPr>
        <p:spPr>
          <a:xfrm>
            <a:off x="731520" y="3630168"/>
            <a:ext cx="18836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0F6E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Culture</a:t>
            </a:r>
            <a:r>
              <a:rPr lang="en-US" sz="900" dirty="0">
                <a:solidFill>
                  <a:srgbClr val="0F6E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(A3)</a:t>
            </a:r>
            <a:endParaRPr lang="en-US" sz="1050" dirty="0"/>
          </a:p>
        </p:txBody>
      </p:sp>
      <p:sp>
        <p:nvSpPr>
          <p:cNvPr id="42" name="Text 40"/>
          <p:cNvSpPr/>
          <p:nvPr/>
        </p:nvSpPr>
        <p:spPr>
          <a:xfrm>
            <a:off x="731520" y="3977640"/>
            <a:ext cx="18836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0F6E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후보 탐색</a:t>
            </a:r>
            <a:endParaRPr lang="en-US" sz="950" dirty="0"/>
          </a:p>
        </p:txBody>
      </p:sp>
      <p:sp>
        <p:nvSpPr>
          <p:cNvPr id="43" name="Text 41"/>
          <p:cNvSpPr/>
          <p:nvPr/>
        </p:nvSpPr>
        <p:spPr>
          <a:xfrm>
            <a:off x="2980944" y="3593592"/>
            <a:ext cx="1371600" cy="1813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8A92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처리 순서</a:t>
            </a:r>
            <a:endParaRPr lang="en-US" sz="950" dirty="0"/>
          </a:p>
        </p:txBody>
      </p:sp>
      <p:sp>
        <p:nvSpPr>
          <p:cNvPr id="44" name="Text 42"/>
          <p:cNvSpPr/>
          <p:nvPr/>
        </p:nvSpPr>
        <p:spPr>
          <a:xfrm>
            <a:off x="4425696" y="3593592"/>
            <a:ext cx="7013448" cy="1813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E37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4소스 병렬 수집 → 중복 제거 → 시·도 판정 → 거리 상한 → 점수화</a:t>
            </a:r>
            <a:endParaRPr lang="en-US" sz="950" dirty="0"/>
          </a:p>
        </p:txBody>
      </p:sp>
      <p:sp>
        <p:nvSpPr>
          <p:cNvPr id="45" name="Text 43"/>
          <p:cNvSpPr/>
          <p:nvPr/>
        </p:nvSpPr>
        <p:spPr>
          <a:xfrm>
            <a:off x="2980944" y="3774948"/>
            <a:ext cx="1371600" cy="1813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8A92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 규칙</a:t>
            </a:r>
            <a:endParaRPr lang="en-US" sz="950" dirty="0"/>
          </a:p>
        </p:txBody>
      </p:sp>
      <p:sp>
        <p:nvSpPr>
          <p:cNvPr id="46" name="Text 44"/>
          <p:cNvSpPr/>
          <p:nvPr/>
        </p:nvSpPr>
        <p:spPr>
          <a:xfrm>
            <a:off x="4425696" y="3774948"/>
            <a:ext cx="7013448" cy="1813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E37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좌표가 없으면 후보가 아니다 · 시·도가 «다르다고 확인된» 것만 버린다</a:t>
            </a:r>
            <a:endParaRPr lang="en-US" sz="950" dirty="0"/>
          </a:p>
        </p:txBody>
      </p:sp>
      <p:sp>
        <p:nvSpPr>
          <p:cNvPr id="47" name="Text 45"/>
          <p:cNvSpPr/>
          <p:nvPr/>
        </p:nvSpPr>
        <p:spPr>
          <a:xfrm>
            <a:off x="2980944" y="3956304"/>
            <a:ext cx="1371600" cy="1813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8A92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실패 시</a:t>
            </a:r>
            <a:endParaRPr lang="en-US" sz="950" dirty="0"/>
          </a:p>
        </p:txBody>
      </p:sp>
      <p:sp>
        <p:nvSpPr>
          <p:cNvPr id="48" name="Text 46"/>
          <p:cNvSpPr/>
          <p:nvPr/>
        </p:nvSpPr>
        <p:spPr>
          <a:xfrm>
            <a:off x="4425696" y="3956304"/>
            <a:ext cx="7013448" cy="1813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A0641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내장 카탈로그가 받쳐 결과가 0건이 되지 않는다</a:t>
            </a:r>
            <a:endParaRPr lang="en-US" sz="950" dirty="0"/>
          </a:p>
        </p:txBody>
      </p:sp>
      <p:sp>
        <p:nvSpPr>
          <p:cNvPr id="49" name="Shape 47"/>
          <p:cNvSpPr/>
          <p:nvPr/>
        </p:nvSpPr>
        <p:spPr>
          <a:xfrm>
            <a:off x="530352" y="4375404"/>
            <a:ext cx="11128248" cy="763524"/>
          </a:xfrm>
          <a:prstGeom prst="roundRect">
            <a:avLst>
              <a:gd name="adj" fmla="val 4790"/>
            </a:avLst>
          </a:prstGeom>
          <a:solidFill>
            <a:srgbClr val="FFFFFF"/>
          </a:solidFill>
          <a:ln w="12700">
            <a:solidFill>
              <a:srgbClr val="DFE4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0" name="Shape 48"/>
          <p:cNvSpPr/>
          <p:nvPr/>
        </p:nvSpPr>
        <p:spPr>
          <a:xfrm>
            <a:off x="530352" y="4375404"/>
            <a:ext cx="2286000" cy="763524"/>
          </a:xfrm>
          <a:prstGeom prst="rect">
            <a:avLst/>
          </a:prstGeom>
          <a:solidFill>
            <a:srgbClr val="E6F2F3"/>
          </a:solidFill>
          <a:ln w="6350">
            <a:solidFill>
              <a:srgbClr val="E6F2F3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1" name="Shape 49"/>
          <p:cNvSpPr/>
          <p:nvPr/>
        </p:nvSpPr>
        <p:spPr>
          <a:xfrm>
            <a:off x="731520" y="4521708"/>
            <a:ext cx="1883664" cy="292608"/>
          </a:xfrm>
          <a:prstGeom prst="roundRect">
            <a:avLst>
              <a:gd name="adj" fmla="val 9375"/>
            </a:avLst>
          </a:prstGeom>
          <a:solidFill>
            <a:srgbClr val="E6F2F3"/>
          </a:solidFill>
          <a:ln w="12700">
            <a:solidFill>
              <a:srgbClr val="0F6E7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2" name="Text 50"/>
          <p:cNvSpPr/>
          <p:nvPr/>
        </p:nvSpPr>
        <p:spPr>
          <a:xfrm>
            <a:off x="731520" y="4521708"/>
            <a:ext cx="18836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0F6E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Verifier</a:t>
            </a:r>
            <a:r>
              <a:rPr lang="en-US" sz="900" dirty="0">
                <a:solidFill>
                  <a:srgbClr val="0F6E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(A4)</a:t>
            </a:r>
            <a:endParaRPr lang="en-US" sz="1050" dirty="0"/>
          </a:p>
        </p:txBody>
      </p:sp>
      <p:sp>
        <p:nvSpPr>
          <p:cNvPr id="53" name="Text 51"/>
          <p:cNvSpPr/>
          <p:nvPr/>
        </p:nvSpPr>
        <p:spPr>
          <a:xfrm>
            <a:off x="731520" y="4869180"/>
            <a:ext cx="18836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0F6E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공식정보 대조</a:t>
            </a:r>
            <a:endParaRPr lang="en-US" sz="950" dirty="0"/>
          </a:p>
        </p:txBody>
      </p:sp>
      <p:sp>
        <p:nvSpPr>
          <p:cNvPr id="54" name="Text 52"/>
          <p:cNvSpPr/>
          <p:nvPr/>
        </p:nvSpPr>
        <p:spPr>
          <a:xfrm>
            <a:off x="2980944" y="4485132"/>
            <a:ext cx="1371600" cy="1813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8A92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처리 순서</a:t>
            </a:r>
            <a:endParaRPr lang="en-US" sz="950" dirty="0"/>
          </a:p>
        </p:txBody>
      </p:sp>
      <p:sp>
        <p:nvSpPr>
          <p:cNvPr id="55" name="Text 53"/>
          <p:cNvSpPr/>
          <p:nvPr/>
        </p:nvSpPr>
        <p:spPr>
          <a:xfrm>
            <a:off x="4425696" y="4485132"/>
            <a:ext cx="7013448" cy="1813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E37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검증 대상 선별 → 후보별 병렬 대조 → 확인 · 확인 필요 · 제외 3분류</a:t>
            </a:r>
            <a:endParaRPr lang="en-US" sz="950" dirty="0"/>
          </a:p>
        </p:txBody>
      </p:sp>
      <p:sp>
        <p:nvSpPr>
          <p:cNvPr id="56" name="Text 54"/>
          <p:cNvSpPr/>
          <p:nvPr/>
        </p:nvSpPr>
        <p:spPr>
          <a:xfrm>
            <a:off x="2980944" y="4666488"/>
            <a:ext cx="1371600" cy="1813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8A92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 규칙</a:t>
            </a:r>
            <a:endParaRPr lang="en-US" sz="950" dirty="0"/>
          </a:p>
        </p:txBody>
      </p:sp>
      <p:sp>
        <p:nvSpPr>
          <p:cNvPr id="57" name="Text 55"/>
          <p:cNvSpPr/>
          <p:nvPr/>
        </p:nvSpPr>
        <p:spPr>
          <a:xfrm>
            <a:off x="4425696" y="4666488"/>
            <a:ext cx="7013448" cy="1813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E37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모르면 버리지 않고 «확인 필요»로 남긴다</a:t>
            </a:r>
            <a:endParaRPr lang="en-US" sz="950" dirty="0"/>
          </a:p>
        </p:txBody>
      </p:sp>
      <p:sp>
        <p:nvSpPr>
          <p:cNvPr id="58" name="Text 56"/>
          <p:cNvSpPr/>
          <p:nvPr/>
        </p:nvSpPr>
        <p:spPr>
          <a:xfrm>
            <a:off x="2980944" y="4847844"/>
            <a:ext cx="1371600" cy="1813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8A92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실패 시</a:t>
            </a:r>
            <a:endParaRPr lang="en-US" sz="950" dirty="0"/>
          </a:p>
        </p:txBody>
      </p:sp>
      <p:sp>
        <p:nvSpPr>
          <p:cNvPr id="59" name="Text 57"/>
          <p:cNvSpPr/>
          <p:nvPr/>
        </p:nvSpPr>
        <p:spPr>
          <a:xfrm>
            <a:off x="4425696" y="4847844"/>
            <a:ext cx="7013448" cy="1813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A0641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전부 «확인 필요»로 표시되고 일정은 성립한다</a:t>
            </a:r>
            <a:endParaRPr lang="en-US" sz="950" dirty="0"/>
          </a:p>
        </p:txBody>
      </p:sp>
      <p:sp>
        <p:nvSpPr>
          <p:cNvPr id="60" name="Shape 58"/>
          <p:cNvSpPr/>
          <p:nvPr/>
        </p:nvSpPr>
        <p:spPr>
          <a:xfrm>
            <a:off x="530352" y="5266944"/>
            <a:ext cx="11128248" cy="0"/>
          </a:xfrm>
          <a:prstGeom prst="line">
            <a:avLst/>
          </a:prstGeom>
          <a:noFill/>
          <a:ln w="12700">
            <a:solidFill>
              <a:srgbClr val="DFE4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1" name="Text 59"/>
          <p:cNvSpPr/>
          <p:nvPr/>
        </p:nvSpPr>
        <p:spPr>
          <a:xfrm>
            <a:off x="530352" y="5330952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100" dirty="0">
                <a:solidFill>
                  <a:srgbClr val="0F6E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출처</a:t>
            </a:r>
            <a:endParaRPr lang="en-US" sz="900" dirty="0"/>
          </a:p>
        </p:txBody>
      </p:sp>
      <p:sp>
        <p:nvSpPr>
          <p:cNvPr id="62" name="Text 60"/>
          <p:cNvSpPr/>
          <p:nvPr/>
        </p:nvSpPr>
        <p:spPr>
          <a:xfrm>
            <a:off x="1097280" y="5321808"/>
            <a:ext cx="105613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A92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docs/STRUCTURE.md 2단계 «요청을 이해한다» · 3단계 «필요한 것만 펼친다» · docs/ARCHITECTURE.md §6 «아카이브 · 개인화» · §7 «탐색 · 검증»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365760"/>
            <a:ext cx="4754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200" dirty="0">
                <a:solidFill>
                  <a:srgbClr val="8A92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01 · Agent Responsibility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096512" y="365760"/>
            <a:ext cx="3840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200" dirty="0">
                <a:solidFill>
                  <a:srgbClr val="0F6E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편성계 — A5 · A6 · A7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30352" y="640080"/>
            <a:ext cx="1112824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100" b="1" dirty="0">
                <a:solidFill>
                  <a:srgbClr val="1A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재료를 실행 가능한 하루로 만든다</a:t>
            </a:r>
            <a:endParaRPr lang="en-US" sz="3100" dirty="0"/>
          </a:p>
        </p:txBody>
      </p:sp>
      <p:sp>
        <p:nvSpPr>
          <p:cNvPr id="5" name="Text 3"/>
          <p:cNvSpPr/>
          <p:nvPr/>
        </p:nvSpPr>
        <p:spPr>
          <a:xfrm>
            <a:off x="530352" y="1225296"/>
            <a:ext cx="80192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2E37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 Agent 모두 LLM 을 쓰지 않습니다 — 전부 결정론적 계산입니다.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6931152" y="1298448"/>
            <a:ext cx="100584" cy="100584"/>
          </a:xfrm>
          <a:prstGeom prst="ellipse">
            <a:avLst/>
          </a:prstGeom>
          <a:solidFill>
            <a:srgbClr val="5A6472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" name="Text 5"/>
          <p:cNvSpPr/>
          <p:nvPr/>
        </p:nvSpPr>
        <p:spPr>
          <a:xfrm>
            <a:off x="7077456" y="1243584"/>
            <a:ext cx="7863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E37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이해계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863840" y="1298448"/>
            <a:ext cx="100584" cy="100584"/>
          </a:xfrm>
          <a:prstGeom prst="ellipse">
            <a:avLst/>
          </a:prstGeom>
          <a:solidFill>
            <a:srgbClr val="0F6E78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9" name="Text 7"/>
          <p:cNvSpPr/>
          <p:nvPr/>
        </p:nvSpPr>
        <p:spPr>
          <a:xfrm>
            <a:off x="8010144" y="1243584"/>
            <a:ext cx="7863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E37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탐색계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8796528" y="1298448"/>
            <a:ext cx="100584" cy="100584"/>
          </a:xfrm>
          <a:prstGeom prst="ellipse">
            <a:avLst/>
          </a:prstGeom>
          <a:solidFill>
            <a:srgbClr val="2E4374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1" name="Text 9"/>
          <p:cNvSpPr/>
          <p:nvPr/>
        </p:nvSpPr>
        <p:spPr>
          <a:xfrm>
            <a:off x="8942832" y="1243584"/>
            <a:ext cx="7863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E37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편성계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9729216" y="1298448"/>
            <a:ext cx="100584" cy="100584"/>
          </a:xfrm>
          <a:prstGeom prst="ellipse">
            <a:avLst/>
          </a:prstGeom>
          <a:solidFill>
            <a:srgbClr val="A0641E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3" name="Text 11"/>
          <p:cNvSpPr/>
          <p:nvPr/>
        </p:nvSpPr>
        <p:spPr>
          <a:xfrm>
            <a:off x="9875520" y="1243584"/>
            <a:ext cx="7863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E37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검증계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10661904" y="1298448"/>
            <a:ext cx="100584" cy="100584"/>
          </a:xfrm>
          <a:prstGeom prst="ellipse">
            <a:avLst/>
          </a:prstGeom>
          <a:solidFill>
            <a:srgbClr val="2F6B4F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5" name="Text 13"/>
          <p:cNvSpPr/>
          <p:nvPr/>
        </p:nvSpPr>
        <p:spPr>
          <a:xfrm>
            <a:off x="10808208" y="1243584"/>
            <a:ext cx="7863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E37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학습계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530352" y="1700784"/>
            <a:ext cx="11128248" cy="1060704"/>
          </a:xfrm>
          <a:prstGeom prst="roundRect">
            <a:avLst>
              <a:gd name="adj" fmla="val 3448"/>
            </a:avLst>
          </a:prstGeom>
          <a:solidFill>
            <a:srgbClr val="FFFFFF"/>
          </a:solidFill>
          <a:ln w="12700">
            <a:solidFill>
              <a:srgbClr val="DFE4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7" name="Shape 15"/>
          <p:cNvSpPr/>
          <p:nvPr/>
        </p:nvSpPr>
        <p:spPr>
          <a:xfrm>
            <a:off x="530352" y="1700784"/>
            <a:ext cx="2286000" cy="1060704"/>
          </a:xfrm>
          <a:prstGeom prst="rect">
            <a:avLst/>
          </a:prstGeom>
          <a:solidFill>
            <a:srgbClr val="E8EBF5"/>
          </a:solidFill>
          <a:ln w="6350">
            <a:solidFill>
              <a:srgbClr val="E8EBF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8" name="Shape 16"/>
          <p:cNvSpPr/>
          <p:nvPr/>
        </p:nvSpPr>
        <p:spPr>
          <a:xfrm>
            <a:off x="731520" y="1847088"/>
            <a:ext cx="1883664" cy="292608"/>
          </a:xfrm>
          <a:prstGeom prst="roundRect">
            <a:avLst>
              <a:gd name="adj" fmla="val 9375"/>
            </a:avLst>
          </a:prstGeom>
          <a:solidFill>
            <a:srgbClr val="E8EBF5"/>
          </a:solidFill>
          <a:ln w="12700">
            <a:solidFill>
              <a:srgbClr val="2E4374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9" name="Text 17"/>
          <p:cNvSpPr/>
          <p:nvPr/>
        </p:nvSpPr>
        <p:spPr>
          <a:xfrm>
            <a:off x="731520" y="1847088"/>
            <a:ext cx="18836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2E437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Planner</a:t>
            </a:r>
            <a:r>
              <a:rPr lang="en-US" sz="900" dirty="0">
                <a:solidFill>
                  <a:srgbClr val="2E437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(A5)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731520" y="2194560"/>
            <a:ext cx="18836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2E437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일정 편성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2980944" y="1810512"/>
            <a:ext cx="1371600" cy="280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8A92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처리 순서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4425696" y="1810512"/>
            <a:ext cx="7013448" cy="280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E37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시각 지정 항목 먼저 배치 → 남는 시간을 가까운 순으로 채우기 → 실측 반영해 시각 재계산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2980944" y="2090928"/>
            <a:ext cx="1371600" cy="280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8A92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 규칙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4425696" y="2090928"/>
            <a:ext cx="7013448" cy="280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E37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사용자가 잡아 둔 약속은 옮기지 않는다 · 종류별 개수를 말했으면 못 채운 몫은 자리를 비워 둔다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2980944" y="2371344"/>
            <a:ext cx="1371600" cy="280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8A92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실패 시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4425696" y="2371344"/>
            <a:ext cx="7013448" cy="280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A0641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후보가 모자라면 짧은 일정을 준다 — 갈 수 없는 일정을 남기지 않는다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530352" y="2889504"/>
            <a:ext cx="11128248" cy="1060704"/>
          </a:xfrm>
          <a:prstGeom prst="roundRect">
            <a:avLst>
              <a:gd name="adj" fmla="val 3448"/>
            </a:avLst>
          </a:prstGeom>
          <a:solidFill>
            <a:srgbClr val="FFFFFF"/>
          </a:solidFill>
          <a:ln w="12700">
            <a:solidFill>
              <a:srgbClr val="DFE4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8" name="Shape 26"/>
          <p:cNvSpPr/>
          <p:nvPr/>
        </p:nvSpPr>
        <p:spPr>
          <a:xfrm>
            <a:off x="530352" y="2889504"/>
            <a:ext cx="2286000" cy="1060704"/>
          </a:xfrm>
          <a:prstGeom prst="rect">
            <a:avLst/>
          </a:prstGeom>
          <a:solidFill>
            <a:srgbClr val="E8EBF5"/>
          </a:solidFill>
          <a:ln w="6350">
            <a:solidFill>
              <a:srgbClr val="E8EBF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9" name="Shape 27"/>
          <p:cNvSpPr/>
          <p:nvPr/>
        </p:nvSpPr>
        <p:spPr>
          <a:xfrm>
            <a:off x="731520" y="3035808"/>
            <a:ext cx="1883664" cy="292608"/>
          </a:xfrm>
          <a:prstGeom prst="roundRect">
            <a:avLst>
              <a:gd name="adj" fmla="val 9375"/>
            </a:avLst>
          </a:prstGeom>
          <a:solidFill>
            <a:srgbClr val="E8EBF5"/>
          </a:solidFill>
          <a:ln w="12700">
            <a:solidFill>
              <a:srgbClr val="2E4374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0" name="Text 28"/>
          <p:cNvSpPr/>
          <p:nvPr/>
        </p:nvSpPr>
        <p:spPr>
          <a:xfrm>
            <a:off x="731520" y="3035808"/>
            <a:ext cx="18836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2E437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Route</a:t>
            </a:r>
            <a:r>
              <a:rPr lang="en-US" sz="900" dirty="0">
                <a:solidFill>
                  <a:srgbClr val="2E437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(A6)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731520" y="3383280"/>
            <a:ext cx="18836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2E437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이동 실측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2980944" y="2999232"/>
            <a:ext cx="1371600" cy="280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8A92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처리 순서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4425696" y="2999232"/>
            <a:ext cx="7013448" cy="280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E37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수단별 측정 → 주차 · 환승 부담을 시간으로 환산 → 최선 선택 → 경로 선형 축약</a:t>
            </a:r>
            <a:endParaRPr lang="en-US" sz="950" dirty="0"/>
          </a:p>
        </p:txBody>
      </p:sp>
      <p:sp>
        <p:nvSpPr>
          <p:cNvPr id="34" name="Text 32"/>
          <p:cNvSpPr/>
          <p:nvPr/>
        </p:nvSpPr>
        <p:spPr>
          <a:xfrm>
            <a:off x="2980944" y="3279648"/>
            <a:ext cx="1371600" cy="280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8A92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 규칙</a:t>
            </a:r>
            <a:endParaRPr lang="en-US" sz="950" dirty="0"/>
          </a:p>
        </p:txBody>
      </p:sp>
      <p:sp>
        <p:nvSpPr>
          <p:cNvPr id="35" name="Text 33"/>
          <p:cNvSpPr/>
          <p:nvPr/>
        </p:nvSpPr>
        <p:spPr>
          <a:xfrm>
            <a:off x="4425696" y="3279648"/>
            <a:ext cx="7013448" cy="280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E37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수단을 명시하면 바꾸지 않는다 · 수단을 섞는 것은 «최단 경로»를 골랐을 때뿐</a:t>
            </a:r>
            <a:endParaRPr lang="en-US" sz="950" dirty="0"/>
          </a:p>
        </p:txBody>
      </p:sp>
      <p:sp>
        <p:nvSpPr>
          <p:cNvPr id="36" name="Text 34"/>
          <p:cNvSpPr/>
          <p:nvPr/>
        </p:nvSpPr>
        <p:spPr>
          <a:xfrm>
            <a:off x="2980944" y="3560064"/>
            <a:ext cx="1371600" cy="280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8A92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실패 시</a:t>
            </a:r>
            <a:endParaRPr lang="en-US" sz="950" dirty="0"/>
          </a:p>
        </p:txBody>
      </p:sp>
      <p:sp>
        <p:nvSpPr>
          <p:cNvPr id="37" name="Text 35"/>
          <p:cNvSpPr/>
          <p:nvPr/>
        </p:nvSpPr>
        <p:spPr>
          <a:xfrm>
            <a:off x="4425696" y="3560064"/>
            <a:ext cx="7013448" cy="280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A0641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거리 기반 추정으로 채우고 «추정» 표시를 남긴다 — 값을 숨기지 않는다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530352" y="4078224"/>
            <a:ext cx="11128248" cy="1060704"/>
          </a:xfrm>
          <a:prstGeom prst="roundRect">
            <a:avLst>
              <a:gd name="adj" fmla="val 3448"/>
            </a:avLst>
          </a:prstGeom>
          <a:solidFill>
            <a:srgbClr val="FFFFFF"/>
          </a:solidFill>
          <a:ln w="12700">
            <a:solidFill>
              <a:srgbClr val="DFE4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9" name="Shape 37"/>
          <p:cNvSpPr/>
          <p:nvPr/>
        </p:nvSpPr>
        <p:spPr>
          <a:xfrm>
            <a:off x="530352" y="4078224"/>
            <a:ext cx="2286000" cy="1060704"/>
          </a:xfrm>
          <a:prstGeom prst="rect">
            <a:avLst/>
          </a:prstGeom>
          <a:solidFill>
            <a:srgbClr val="E8EBF5"/>
          </a:solidFill>
          <a:ln w="6350">
            <a:solidFill>
              <a:srgbClr val="E8EBF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0" name="Shape 38"/>
          <p:cNvSpPr/>
          <p:nvPr/>
        </p:nvSpPr>
        <p:spPr>
          <a:xfrm>
            <a:off x="731520" y="4224528"/>
            <a:ext cx="1883664" cy="292608"/>
          </a:xfrm>
          <a:prstGeom prst="roundRect">
            <a:avLst>
              <a:gd name="adj" fmla="val 9375"/>
            </a:avLst>
          </a:prstGeom>
          <a:solidFill>
            <a:srgbClr val="E8EBF5"/>
          </a:solidFill>
          <a:ln w="12700">
            <a:solidFill>
              <a:srgbClr val="2E4374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1" name="Text 39"/>
          <p:cNvSpPr/>
          <p:nvPr/>
        </p:nvSpPr>
        <p:spPr>
          <a:xfrm>
            <a:off x="731520" y="4224528"/>
            <a:ext cx="18836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2E437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Gap</a:t>
            </a:r>
            <a:r>
              <a:rPr lang="en-US" sz="900" dirty="0">
                <a:solidFill>
                  <a:srgbClr val="2E437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(A7)</a:t>
            </a:r>
            <a:endParaRPr lang="en-US" sz="1050" dirty="0"/>
          </a:p>
        </p:txBody>
      </p:sp>
      <p:sp>
        <p:nvSpPr>
          <p:cNvPr id="42" name="Text 40"/>
          <p:cNvSpPr/>
          <p:nvPr/>
        </p:nvSpPr>
        <p:spPr>
          <a:xfrm>
            <a:off x="731520" y="4572000"/>
            <a:ext cx="18836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2E437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빈틈 채우기</a:t>
            </a:r>
            <a:endParaRPr lang="en-US" sz="950" dirty="0"/>
          </a:p>
        </p:txBody>
      </p:sp>
      <p:sp>
        <p:nvSpPr>
          <p:cNvPr id="43" name="Text 41"/>
          <p:cNvSpPr/>
          <p:nvPr/>
        </p:nvSpPr>
        <p:spPr>
          <a:xfrm>
            <a:off x="2980944" y="4187952"/>
            <a:ext cx="1371600" cy="280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8A92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처리 순서</a:t>
            </a:r>
            <a:endParaRPr lang="en-US" sz="950" dirty="0"/>
          </a:p>
        </p:txBody>
      </p:sp>
      <p:sp>
        <p:nvSpPr>
          <p:cNvPr id="44" name="Text 42"/>
          <p:cNvSpPr/>
          <p:nvPr/>
        </p:nvSpPr>
        <p:spPr>
          <a:xfrm>
            <a:off x="4425696" y="4187952"/>
            <a:ext cx="7013448" cy="280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E37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빈틈 판정 → 빈틈 × 종류로 주변 검색 팬아웃 → 재순위 → 삽입 → 시각 재계산</a:t>
            </a:r>
            <a:endParaRPr lang="en-US" sz="950" dirty="0"/>
          </a:p>
        </p:txBody>
      </p:sp>
      <p:sp>
        <p:nvSpPr>
          <p:cNvPr id="45" name="Text 43"/>
          <p:cNvSpPr/>
          <p:nvPr/>
        </p:nvSpPr>
        <p:spPr>
          <a:xfrm>
            <a:off x="2980944" y="4468368"/>
            <a:ext cx="1371600" cy="280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8A92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 규칙</a:t>
            </a:r>
            <a:endParaRPr lang="en-US" sz="950" dirty="0"/>
          </a:p>
        </p:txBody>
      </p:sp>
      <p:sp>
        <p:nvSpPr>
          <p:cNvPr id="46" name="Text 44"/>
          <p:cNvSpPr/>
          <p:nvPr/>
        </p:nvSpPr>
        <p:spPr>
          <a:xfrm>
            <a:off x="4425696" y="4468368"/>
            <a:ext cx="7013448" cy="280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E37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빈틈 = 유휴 40분↑ · 종료 후 60분↑ · 첫 일정 앞 · 반경은 남은 시간에 비례(가면 못 돌아오는 추천 방지)</a:t>
            </a:r>
            <a:endParaRPr lang="en-US" sz="950" dirty="0"/>
          </a:p>
        </p:txBody>
      </p:sp>
      <p:sp>
        <p:nvSpPr>
          <p:cNvPr id="47" name="Text 45"/>
          <p:cNvSpPr/>
          <p:nvPr/>
        </p:nvSpPr>
        <p:spPr>
          <a:xfrm>
            <a:off x="2980944" y="4748784"/>
            <a:ext cx="1371600" cy="280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8A92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실패 시</a:t>
            </a:r>
            <a:endParaRPr lang="en-US" sz="950" dirty="0"/>
          </a:p>
        </p:txBody>
      </p:sp>
      <p:sp>
        <p:nvSpPr>
          <p:cNvPr id="48" name="Text 46"/>
          <p:cNvSpPr/>
          <p:nvPr/>
        </p:nvSpPr>
        <p:spPr>
          <a:xfrm>
            <a:off x="4425696" y="4748784"/>
            <a:ext cx="7013448" cy="280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A0641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빈틈이 빈 채로 남을 뿐 일정은 성립</a:t>
            </a:r>
            <a:endParaRPr lang="en-US" sz="950" dirty="0"/>
          </a:p>
        </p:txBody>
      </p:sp>
      <p:sp>
        <p:nvSpPr>
          <p:cNvPr id="49" name="Shape 47"/>
          <p:cNvSpPr/>
          <p:nvPr/>
        </p:nvSpPr>
        <p:spPr>
          <a:xfrm>
            <a:off x="530352" y="5266944"/>
            <a:ext cx="11128248" cy="0"/>
          </a:xfrm>
          <a:prstGeom prst="line">
            <a:avLst/>
          </a:prstGeom>
          <a:noFill/>
          <a:ln w="12700">
            <a:solidFill>
              <a:srgbClr val="DFE4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0" name="Text 48"/>
          <p:cNvSpPr/>
          <p:nvPr/>
        </p:nvSpPr>
        <p:spPr>
          <a:xfrm>
            <a:off x="530352" y="5330952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100" dirty="0">
                <a:solidFill>
                  <a:srgbClr val="0F6E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출처</a:t>
            </a:r>
            <a:endParaRPr lang="en-US" sz="900" dirty="0"/>
          </a:p>
        </p:txBody>
      </p:sp>
      <p:sp>
        <p:nvSpPr>
          <p:cNvPr id="51" name="Text 49"/>
          <p:cNvSpPr/>
          <p:nvPr/>
        </p:nvSpPr>
        <p:spPr>
          <a:xfrm>
            <a:off x="1097280" y="5321808"/>
            <a:ext cx="105613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A92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docs/STRUCTURE.md 5단계 «일정을 짠다» · docs/ARCHITECTURE.md §7.2 «공백 채우기» · docs/FUNCTIONAL_MAP.md UR-05 · UR-06 · UR-08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365760"/>
            <a:ext cx="4754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200" dirty="0">
                <a:solidFill>
                  <a:srgbClr val="8A92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01 · Agent Responsibility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096512" y="365760"/>
            <a:ext cx="3840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200" dirty="0">
                <a:solidFill>
                  <a:srgbClr val="0F6E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검증 · 학습계 — A8 · A9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30352" y="640080"/>
            <a:ext cx="1112824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100" b="1" dirty="0">
                <a:solidFill>
                  <a:srgbClr val="1A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임의로 바꾸지 않게 강제하고, 결과에서 배운다</a:t>
            </a:r>
            <a:endParaRPr lang="en-US" sz="3100" dirty="0"/>
          </a:p>
        </p:txBody>
      </p:sp>
      <p:sp>
        <p:nvSpPr>
          <p:cNvPr id="5" name="Text 3"/>
          <p:cNvSpPr/>
          <p:nvPr/>
        </p:nvSpPr>
        <p:spPr>
          <a:xfrm>
            <a:off x="530352" y="1225296"/>
            <a:ext cx="80192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2E37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«AI 가 바꾸기 전에 사용자가 선택» 을 구조로 옮긴 것이 A8 입니다.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6931152" y="1298448"/>
            <a:ext cx="100584" cy="100584"/>
          </a:xfrm>
          <a:prstGeom prst="ellipse">
            <a:avLst/>
          </a:prstGeom>
          <a:solidFill>
            <a:srgbClr val="5A6472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" name="Text 5"/>
          <p:cNvSpPr/>
          <p:nvPr/>
        </p:nvSpPr>
        <p:spPr>
          <a:xfrm>
            <a:off x="7077456" y="1243584"/>
            <a:ext cx="7863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E37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이해계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863840" y="1298448"/>
            <a:ext cx="100584" cy="100584"/>
          </a:xfrm>
          <a:prstGeom prst="ellipse">
            <a:avLst/>
          </a:prstGeom>
          <a:solidFill>
            <a:srgbClr val="0F6E78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9" name="Text 7"/>
          <p:cNvSpPr/>
          <p:nvPr/>
        </p:nvSpPr>
        <p:spPr>
          <a:xfrm>
            <a:off x="8010144" y="1243584"/>
            <a:ext cx="7863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E37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탐색계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8796528" y="1298448"/>
            <a:ext cx="100584" cy="100584"/>
          </a:xfrm>
          <a:prstGeom prst="ellipse">
            <a:avLst/>
          </a:prstGeom>
          <a:solidFill>
            <a:srgbClr val="2E4374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1" name="Text 9"/>
          <p:cNvSpPr/>
          <p:nvPr/>
        </p:nvSpPr>
        <p:spPr>
          <a:xfrm>
            <a:off x="8942832" y="1243584"/>
            <a:ext cx="7863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E37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편성계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9729216" y="1298448"/>
            <a:ext cx="100584" cy="100584"/>
          </a:xfrm>
          <a:prstGeom prst="ellipse">
            <a:avLst/>
          </a:prstGeom>
          <a:solidFill>
            <a:srgbClr val="A0641E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3" name="Text 11"/>
          <p:cNvSpPr/>
          <p:nvPr/>
        </p:nvSpPr>
        <p:spPr>
          <a:xfrm>
            <a:off x="9875520" y="1243584"/>
            <a:ext cx="7863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E37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검증계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10661904" y="1298448"/>
            <a:ext cx="100584" cy="100584"/>
          </a:xfrm>
          <a:prstGeom prst="ellipse">
            <a:avLst/>
          </a:prstGeom>
          <a:solidFill>
            <a:srgbClr val="2F6B4F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5" name="Text 13"/>
          <p:cNvSpPr/>
          <p:nvPr/>
        </p:nvSpPr>
        <p:spPr>
          <a:xfrm>
            <a:off x="10808208" y="1243584"/>
            <a:ext cx="7863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E37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학습계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530352" y="1700784"/>
            <a:ext cx="11128248" cy="1655064"/>
          </a:xfrm>
          <a:prstGeom prst="roundRect">
            <a:avLst>
              <a:gd name="adj" fmla="val 2210"/>
            </a:avLst>
          </a:prstGeom>
          <a:solidFill>
            <a:srgbClr val="FFFFFF"/>
          </a:solidFill>
          <a:ln w="12700">
            <a:solidFill>
              <a:srgbClr val="DFE4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7" name="Shape 15"/>
          <p:cNvSpPr/>
          <p:nvPr/>
        </p:nvSpPr>
        <p:spPr>
          <a:xfrm>
            <a:off x="530352" y="1700784"/>
            <a:ext cx="2286000" cy="1655064"/>
          </a:xfrm>
          <a:prstGeom prst="rect">
            <a:avLst/>
          </a:prstGeom>
          <a:solidFill>
            <a:srgbClr val="FBEEE0"/>
          </a:solidFill>
          <a:ln w="6350">
            <a:solidFill>
              <a:srgbClr val="FBEEE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8" name="Shape 16"/>
          <p:cNvSpPr/>
          <p:nvPr/>
        </p:nvSpPr>
        <p:spPr>
          <a:xfrm>
            <a:off x="731520" y="1847088"/>
            <a:ext cx="1883664" cy="292608"/>
          </a:xfrm>
          <a:prstGeom prst="roundRect">
            <a:avLst>
              <a:gd name="adj" fmla="val 9375"/>
            </a:avLst>
          </a:prstGeom>
          <a:solidFill>
            <a:srgbClr val="FBEEE0"/>
          </a:solidFill>
          <a:ln w="12700">
            <a:solidFill>
              <a:srgbClr val="A0641E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9" name="Text 17"/>
          <p:cNvSpPr/>
          <p:nvPr/>
        </p:nvSpPr>
        <p:spPr>
          <a:xfrm>
            <a:off x="731520" y="1847088"/>
            <a:ext cx="18836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A0641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Guardian</a:t>
            </a:r>
            <a:r>
              <a:rPr lang="en-US" sz="900" dirty="0">
                <a:solidFill>
                  <a:srgbClr val="A0641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(A8)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731520" y="2194560"/>
            <a:ext cx="18836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A0641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일정 검증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2980944" y="1810512"/>
            <a:ext cx="1371600" cy="3589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8A92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검사 6종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4425696" y="1810512"/>
            <a:ext cx="7013448" cy="3589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E37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운영시간 · 휴관일 / 이동 가능 여부 / 시각 중복 / 악천후 야외 / 재방문 변경점 / 과거 불편 재발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2980944" y="2169414"/>
            <a:ext cx="1371600" cy="3589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8A92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처리 순서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4425696" y="2169414"/>
            <a:ext cx="7013448" cy="3589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E37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6종 병렬 검사 → 자동 수정과 사람 판단으로 분류 → 확인 카드 생성 → 정지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2980944" y="2528316"/>
            <a:ext cx="1371600" cy="3589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8A92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 규칙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4425696" y="2528316"/>
            <a:ext cx="7013448" cy="3589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E37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각 검사는 결함만 보고하고 판단하지 않는다 · 자동으로 고칠 수 있으면 묻지 않는다(물음이 잦으면 읽지 않는다)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2980944" y="2887218"/>
            <a:ext cx="1371600" cy="3589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8A92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실패 시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4425696" y="2887218"/>
            <a:ext cx="7013448" cy="3589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A0641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검증이 비면 확인 카드 없이 확정 — 일정은 나가되 «확인 필요» 표시가 남는다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530352" y="3483864"/>
            <a:ext cx="11128248" cy="1655064"/>
          </a:xfrm>
          <a:prstGeom prst="roundRect">
            <a:avLst>
              <a:gd name="adj" fmla="val 2210"/>
            </a:avLst>
          </a:prstGeom>
          <a:solidFill>
            <a:srgbClr val="FFFFFF"/>
          </a:solidFill>
          <a:ln w="12700">
            <a:solidFill>
              <a:srgbClr val="DFE4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0" name="Shape 28"/>
          <p:cNvSpPr/>
          <p:nvPr/>
        </p:nvSpPr>
        <p:spPr>
          <a:xfrm>
            <a:off x="530352" y="3483864"/>
            <a:ext cx="2286000" cy="1655064"/>
          </a:xfrm>
          <a:prstGeom prst="rect">
            <a:avLst/>
          </a:prstGeom>
          <a:solidFill>
            <a:srgbClr val="E7F1EB"/>
          </a:solidFill>
          <a:ln w="6350">
            <a:solidFill>
              <a:srgbClr val="E7F1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1" name="Shape 29"/>
          <p:cNvSpPr/>
          <p:nvPr/>
        </p:nvSpPr>
        <p:spPr>
          <a:xfrm>
            <a:off x="731520" y="3630168"/>
            <a:ext cx="1883664" cy="292608"/>
          </a:xfrm>
          <a:prstGeom prst="roundRect">
            <a:avLst>
              <a:gd name="adj" fmla="val 9375"/>
            </a:avLst>
          </a:prstGeom>
          <a:solidFill>
            <a:srgbClr val="E7F1EB"/>
          </a:solidFill>
          <a:ln w="12700">
            <a:solidFill>
              <a:srgbClr val="2F6B4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2" name="Text 30"/>
          <p:cNvSpPr/>
          <p:nvPr/>
        </p:nvSpPr>
        <p:spPr>
          <a:xfrm>
            <a:off x="731520" y="3630168"/>
            <a:ext cx="18836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2F6B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Memory</a:t>
            </a:r>
            <a:r>
              <a:rPr lang="en-US" sz="900" dirty="0">
                <a:solidFill>
                  <a:srgbClr val="2F6B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(A9)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731520" y="3977640"/>
            <a:ext cx="18836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2F6B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기록 · 학습</a:t>
            </a:r>
            <a:endParaRPr lang="en-US" sz="950" dirty="0"/>
          </a:p>
        </p:txBody>
      </p:sp>
      <p:sp>
        <p:nvSpPr>
          <p:cNvPr id="34" name="Text 32"/>
          <p:cNvSpPr/>
          <p:nvPr/>
        </p:nvSpPr>
        <p:spPr>
          <a:xfrm>
            <a:off x="2980944" y="3593592"/>
            <a:ext cx="1371600" cy="478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8A92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처리 순서</a:t>
            </a:r>
            <a:endParaRPr lang="en-US" sz="950" dirty="0"/>
          </a:p>
        </p:txBody>
      </p:sp>
      <p:sp>
        <p:nvSpPr>
          <p:cNvPr id="35" name="Text 33"/>
          <p:cNvSpPr/>
          <p:nvPr/>
        </p:nvSpPr>
        <p:spPr>
          <a:xfrm>
            <a:off x="4425696" y="3593592"/>
            <a:ext cx="7013448" cy="478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E37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확정 카드 선택과 일정 변경분을 신호로 추출 → 수정 행동으로 저장 → 취향 프로필 재집계</a:t>
            </a:r>
            <a:endParaRPr lang="en-US" sz="950" dirty="0"/>
          </a:p>
        </p:txBody>
      </p:sp>
      <p:sp>
        <p:nvSpPr>
          <p:cNvPr id="36" name="Text 34"/>
          <p:cNvSpPr/>
          <p:nvPr/>
        </p:nvSpPr>
        <p:spPr>
          <a:xfrm>
            <a:off x="2980944" y="4072128"/>
            <a:ext cx="1371600" cy="478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8A92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 규칙</a:t>
            </a:r>
            <a:endParaRPr lang="en-US" sz="950" dirty="0"/>
          </a:p>
        </p:txBody>
      </p:sp>
      <p:sp>
        <p:nvSpPr>
          <p:cNvPr id="37" name="Text 35"/>
          <p:cNvSpPr/>
          <p:nvPr/>
        </p:nvSpPr>
        <p:spPr>
          <a:xfrm>
            <a:off x="4425696" y="4072128"/>
            <a:ext cx="7013448" cy="478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E37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확정된 뒤에만 배운다(되돌린 선택이 취향이 되면 안 된다) · «그대로 진행»은 신호로 세지 않는다</a:t>
            </a:r>
            <a:endParaRPr lang="en-US" sz="950" dirty="0"/>
          </a:p>
        </p:txBody>
      </p:sp>
      <p:sp>
        <p:nvSpPr>
          <p:cNvPr id="38" name="Text 36"/>
          <p:cNvSpPr/>
          <p:nvPr/>
        </p:nvSpPr>
        <p:spPr>
          <a:xfrm>
            <a:off x="2980944" y="4550664"/>
            <a:ext cx="1371600" cy="478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8A92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실패 시</a:t>
            </a:r>
            <a:endParaRPr lang="en-US" sz="950" dirty="0"/>
          </a:p>
        </p:txBody>
      </p:sp>
      <p:sp>
        <p:nvSpPr>
          <p:cNvPr id="39" name="Text 37"/>
          <p:cNvSpPr/>
          <p:nvPr/>
        </p:nvSpPr>
        <p:spPr>
          <a:xfrm>
            <a:off x="4425696" y="4550664"/>
            <a:ext cx="7013448" cy="478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A0641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학습만 건너뛰고 응답은 정상 — 다음 요청의 개인화가 이번 회차만큼 덜 반영된다</a:t>
            </a:r>
            <a:endParaRPr lang="en-US" sz="950" dirty="0"/>
          </a:p>
        </p:txBody>
      </p:sp>
      <p:sp>
        <p:nvSpPr>
          <p:cNvPr id="40" name="Shape 38"/>
          <p:cNvSpPr/>
          <p:nvPr/>
        </p:nvSpPr>
        <p:spPr>
          <a:xfrm>
            <a:off x="530352" y="5266944"/>
            <a:ext cx="11128248" cy="0"/>
          </a:xfrm>
          <a:prstGeom prst="line">
            <a:avLst/>
          </a:prstGeom>
          <a:noFill/>
          <a:ln w="12700">
            <a:solidFill>
              <a:srgbClr val="DFE4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1" name="Text 39"/>
          <p:cNvSpPr/>
          <p:nvPr/>
        </p:nvSpPr>
        <p:spPr>
          <a:xfrm>
            <a:off x="530352" y="5330952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100" dirty="0">
                <a:solidFill>
                  <a:srgbClr val="0F6E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출처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1097280" y="5321808"/>
            <a:ext cx="105613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A92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docs/STRUCTURE.md 6단계 «무엇이 문제인지 판정한다» · 7단계 «사람에게 묻는다» · 8~10단계 «반영 · 기록 · 답변» · docs/ARCHITECTURE.md §8 «HITL과 설명가능성»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365760"/>
            <a:ext cx="4754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200" dirty="0">
                <a:solidFill>
                  <a:srgbClr val="8A92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01 · Agent Responsibility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096512" y="365760"/>
            <a:ext cx="3840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200" dirty="0">
                <a:solidFill>
                  <a:srgbClr val="0F6E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Boundary Rules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30352" y="640080"/>
            <a:ext cx="1112824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100" b="1" dirty="0">
                <a:solidFill>
                  <a:srgbClr val="1A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각 Agent 가 하지 않는 일</a:t>
            </a:r>
            <a:endParaRPr lang="en-US" sz="3100" dirty="0"/>
          </a:p>
        </p:txBody>
      </p:sp>
      <p:sp>
        <p:nvSpPr>
          <p:cNvPr id="5" name="Text 3"/>
          <p:cNvSpPr/>
          <p:nvPr/>
        </p:nvSpPr>
        <p:spPr>
          <a:xfrm>
            <a:off x="530352" y="1225296"/>
            <a:ext cx="80192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2E37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책임을 정의하는 것만큼 «하지 않는 일»을 못 박는 것이 중요합니다. 경계가 새면 같은 로직이 두 곳에 생깁니다.</a:t>
            </a:r>
            <a:endParaRPr lang="en-US" sz="125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30352" y="1755648"/>
          <a:ext cx="11128248" cy="3657600"/>
        </p:xfrm>
        <a:graphic>
          <a:graphicData uri="http://schemas.openxmlformats.org/drawingml/2006/table">
            <a:tbl>
              <a:tblPr/>
              <a:tblGrid>
                <a:gridCol w="19202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175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19048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kern="0" spc="100" dirty="0">
                          <a:solidFill>
                            <a:srgbClr val="8A929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Agent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DF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kern="0" spc="100" dirty="0">
                          <a:solidFill>
                            <a:srgbClr val="8A929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하지 않는 일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DF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kern="0" spc="100" dirty="0">
                          <a:solidFill>
                            <a:srgbClr val="8A929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경계가 새면 생기는 문제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DF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5A647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Router(A1)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DF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F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1A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장소를 찾지 않는다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DF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F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2E374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탐색이 라우터로 새면 요청 이해가 느려지고 좌표 확정 시점이 흔들린다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DF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F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0F6E7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Preference(A2)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DF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F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1A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경고 카드를 직접 만들지 않는다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DF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F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2E374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카드가 두 곳에서 만들어지면 같은 사안이 두 장으로 올라온다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DF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F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0F6E7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Culture(A3)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DF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F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1A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일정에 배치하지 않는다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DF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F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2E374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후보 선정과 순서 결정이 섞이면 재편성 때 후보를 다시 뽑아야 한다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DF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F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0F6E7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Verifier(A4)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DF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F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1A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후보를 임의로 지우지 않는다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DF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F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2E374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확인 못 한 것을 지우면 «없는 것»과 «모르는 것»이 화면에서 구분되지 않는다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DF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F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2E4374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Planner(A5)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DF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F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1A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외부 API 를 직접 부르지 않는다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DF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F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2E374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편성 중 외부 호출이 섞이면 한 곳이 느릴 때 하루 전체가 밀린다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DF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F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2E4374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Route(A6)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DF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F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1A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방문 순서를 바꾸지 않는다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DF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F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2E374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이동 실측이 순서를 바꾸면 사용자가 확인한 일정과 결과가 달라진다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DF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F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2E4374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Gap(A7)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DF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F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1A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전체 순서를 바꾸지 않는다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DF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F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2E374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빈틈을 채우다 앞뒤가 재배치되면 «확인한 일정»이 아니게 된다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DF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F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A0641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Guardian(A8)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DF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F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1A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스스로 일정을 바꾸지 않는다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DF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F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2E374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AI 가 임의로 고치면 기획안이 못 박은 «변경 전 사용자 선택»이 무너진다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DF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F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2F6B4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Memory(A9)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DF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F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1A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이번 응답에 개입하지 않는다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DF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F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2E374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학습이 같은 회차에 반영되면 사용자가 방금 되돌린 선택이 곧바로 추천에 되살아난다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DF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F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530352" y="5577840"/>
            <a:ext cx="11128248" cy="0"/>
          </a:xfrm>
          <a:prstGeom prst="line">
            <a:avLst/>
          </a:prstGeom>
          <a:noFill/>
          <a:ln w="12700">
            <a:solidFill>
              <a:srgbClr val="DFE4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" name="Text 5"/>
          <p:cNvSpPr/>
          <p:nvPr/>
        </p:nvSpPr>
        <p:spPr>
          <a:xfrm>
            <a:off x="530352" y="5641848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100" dirty="0">
                <a:solidFill>
                  <a:srgbClr val="0F6E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출처</a:t>
            </a:r>
            <a:endParaRPr lang="en-US" sz="900" dirty="0"/>
          </a:p>
        </p:txBody>
      </p:sp>
      <p:sp>
        <p:nvSpPr>
          <p:cNvPr id="6" name="Text 6"/>
          <p:cNvSpPr/>
          <p:nvPr/>
        </p:nvSpPr>
        <p:spPr>
          <a:xfrm>
            <a:off x="1097280" y="5632704"/>
            <a:ext cx="105613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A92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docs/ARCHITECTURE.md §3 노드 책임 분리 · §8.1 «확인 카드는 validation 한 곳에서만 만든다» · docs/FUNCTIONAL_MAP.md §7 «걷어낸 것과 그 이유»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365760"/>
            <a:ext cx="4754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200" dirty="0">
                <a:solidFill>
                  <a:srgbClr val="8A92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02 · Agent Workflow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096512" y="365760"/>
            <a:ext cx="3840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200" dirty="0">
                <a:solidFill>
                  <a:srgbClr val="0F6E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Topology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30352" y="640080"/>
            <a:ext cx="1112824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100" b="1" dirty="0">
                <a:solidFill>
                  <a:srgbClr val="1A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실행 흐름 전체도</a:t>
            </a:r>
            <a:endParaRPr lang="en-US" sz="3100" dirty="0"/>
          </a:p>
        </p:txBody>
      </p:sp>
      <p:sp>
        <p:nvSpPr>
          <p:cNvPr id="5" name="Text 3"/>
          <p:cNvSpPr/>
          <p:nvPr/>
        </p:nvSpPr>
        <p:spPr>
          <a:xfrm>
            <a:off x="530352" y="1225296"/>
            <a:ext cx="80192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2E37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조건부 분기가 «필요한 Agent 만 실행»을, 역방향 간선이 «사용자 선택 반영 후 재편성»을 만듭니다.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6931152" y="1298448"/>
            <a:ext cx="100584" cy="100584"/>
          </a:xfrm>
          <a:prstGeom prst="ellipse">
            <a:avLst/>
          </a:prstGeom>
          <a:solidFill>
            <a:srgbClr val="5A6472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" name="Text 5"/>
          <p:cNvSpPr/>
          <p:nvPr/>
        </p:nvSpPr>
        <p:spPr>
          <a:xfrm>
            <a:off x="7077456" y="1243584"/>
            <a:ext cx="7863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E37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이해계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863840" y="1298448"/>
            <a:ext cx="100584" cy="100584"/>
          </a:xfrm>
          <a:prstGeom prst="ellipse">
            <a:avLst/>
          </a:prstGeom>
          <a:solidFill>
            <a:srgbClr val="0F6E78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9" name="Text 7"/>
          <p:cNvSpPr/>
          <p:nvPr/>
        </p:nvSpPr>
        <p:spPr>
          <a:xfrm>
            <a:off x="8010144" y="1243584"/>
            <a:ext cx="7863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E37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탐색계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8796528" y="1298448"/>
            <a:ext cx="100584" cy="100584"/>
          </a:xfrm>
          <a:prstGeom prst="ellipse">
            <a:avLst/>
          </a:prstGeom>
          <a:solidFill>
            <a:srgbClr val="2E4374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1" name="Text 9"/>
          <p:cNvSpPr/>
          <p:nvPr/>
        </p:nvSpPr>
        <p:spPr>
          <a:xfrm>
            <a:off x="8942832" y="1243584"/>
            <a:ext cx="7863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E37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편성계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9729216" y="1298448"/>
            <a:ext cx="100584" cy="100584"/>
          </a:xfrm>
          <a:prstGeom prst="ellipse">
            <a:avLst/>
          </a:prstGeom>
          <a:solidFill>
            <a:srgbClr val="A0641E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3" name="Text 11"/>
          <p:cNvSpPr/>
          <p:nvPr/>
        </p:nvSpPr>
        <p:spPr>
          <a:xfrm>
            <a:off x="9875520" y="1243584"/>
            <a:ext cx="7863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E37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검증계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10661904" y="1298448"/>
            <a:ext cx="100584" cy="100584"/>
          </a:xfrm>
          <a:prstGeom prst="ellipse">
            <a:avLst/>
          </a:prstGeom>
          <a:solidFill>
            <a:srgbClr val="2F6B4F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5" name="Text 13"/>
          <p:cNvSpPr/>
          <p:nvPr/>
        </p:nvSpPr>
        <p:spPr>
          <a:xfrm>
            <a:off x="10808208" y="1243584"/>
            <a:ext cx="7863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E37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학습계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4814316" y="1719072"/>
            <a:ext cx="2560320" cy="530352"/>
          </a:xfrm>
          <a:prstGeom prst="roundRect">
            <a:avLst>
              <a:gd name="adj" fmla="val 6897"/>
            </a:avLst>
          </a:prstGeom>
          <a:solidFill>
            <a:srgbClr val="F1F3F5"/>
          </a:solidFill>
          <a:ln w="12700">
            <a:solidFill>
              <a:srgbClr val="5A6472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7" name="Text 15"/>
          <p:cNvSpPr/>
          <p:nvPr/>
        </p:nvSpPr>
        <p:spPr>
          <a:xfrm>
            <a:off x="4814316" y="1773936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5A64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Router(A1)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4814316" y="2011680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8A92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발화 → 조건 · 실행 계획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6094476" y="2249424"/>
            <a:ext cx="0" cy="219456"/>
          </a:xfrm>
          <a:prstGeom prst="line">
            <a:avLst/>
          </a:prstGeom>
          <a:noFill/>
          <a:ln w="15875">
            <a:solidFill>
              <a:srgbClr val="0F6E78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0" name="Shape 18"/>
          <p:cNvSpPr/>
          <p:nvPr/>
        </p:nvSpPr>
        <p:spPr>
          <a:xfrm>
            <a:off x="1993392" y="2468880"/>
            <a:ext cx="8202168" cy="0"/>
          </a:xfrm>
          <a:prstGeom prst="line">
            <a:avLst/>
          </a:prstGeom>
          <a:noFill/>
          <a:ln w="15875">
            <a:solidFill>
              <a:srgbClr val="0F6E7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1" name="Shape 19"/>
          <p:cNvSpPr/>
          <p:nvPr/>
        </p:nvSpPr>
        <p:spPr>
          <a:xfrm>
            <a:off x="2496312" y="2468880"/>
            <a:ext cx="0" cy="201168"/>
          </a:xfrm>
          <a:prstGeom prst="line">
            <a:avLst/>
          </a:prstGeom>
          <a:noFill/>
          <a:ln w="15875">
            <a:solidFill>
              <a:srgbClr val="0F6E78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2" name="Shape 20"/>
          <p:cNvSpPr/>
          <p:nvPr/>
        </p:nvSpPr>
        <p:spPr>
          <a:xfrm>
            <a:off x="1033272" y="2670048"/>
            <a:ext cx="2926080" cy="530352"/>
          </a:xfrm>
          <a:prstGeom prst="roundRect">
            <a:avLst>
              <a:gd name="adj" fmla="val 6897"/>
            </a:avLst>
          </a:prstGeom>
          <a:solidFill>
            <a:srgbClr val="E6F2F3"/>
          </a:solidFill>
          <a:ln w="12700">
            <a:solidFill>
              <a:srgbClr val="0F6E7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3" name="Text 21"/>
          <p:cNvSpPr/>
          <p:nvPr/>
        </p:nvSpPr>
        <p:spPr>
          <a:xfrm>
            <a:off x="1033272" y="2724912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F6E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Preference(A2)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1033272" y="2962656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8A92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취향 · 과거 기록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094476" y="2468880"/>
            <a:ext cx="0" cy="201168"/>
          </a:xfrm>
          <a:prstGeom prst="line">
            <a:avLst/>
          </a:prstGeom>
          <a:noFill/>
          <a:ln w="15875">
            <a:solidFill>
              <a:srgbClr val="0F6E78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6" name="Shape 24"/>
          <p:cNvSpPr/>
          <p:nvPr/>
        </p:nvSpPr>
        <p:spPr>
          <a:xfrm>
            <a:off x="4631436" y="2670048"/>
            <a:ext cx="2926080" cy="530352"/>
          </a:xfrm>
          <a:prstGeom prst="roundRect">
            <a:avLst>
              <a:gd name="adj" fmla="val 6897"/>
            </a:avLst>
          </a:prstGeom>
          <a:solidFill>
            <a:srgbClr val="E6F2F3"/>
          </a:solidFill>
          <a:ln w="12700">
            <a:solidFill>
              <a:srgbClr val="0F6E7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7" name="Text 25"/>
          <p:cNvSpPr/>
          <p:nvPr/>
        </p:nvSpPr>
        <p:spPr>
          <a:xfrm>
            <a:off x="4631436" y="2724912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F6E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Culture(A3) → Verifier(A4)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4631436" y="2962656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8A92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후보 탐색 · 공식정보 대조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9692640" y="2468880"/>
            <a:ext cx="0" cy="201168"/>
          </a:xfrm>
          <a:prstGeom prst="line">
            <a:avLst/>
          </a:prstGeom>
          <a:noFill/>
          <a:ln w="15875">
            <a:solidFill>
              <a:srgbClr val="0F6E78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0" name="Shape 28"/>
          <p:cNvSpPr/>
          <p:nvPr/>
        </p:nvSpPr>
        <p:spPr>
          <a:xfrm>
            <a:off x="8229600" y="2670048"/>
            <a:ext cx="2926080" cy="530352"/>
          </a:xfrm>
          <a:prstGeom prst="roundRect">
            <a:avLst>
              <a:gd name="adj" fmla="val 6897"/>
            </a:avLst>
          </a:prstGeom>
          <a:solidFill>
            <a:srgbClr val="F7F9FA"/>
          </a:solidFill>
          <a:ln w="12700">
            <a:solidFill>
              <a:srgbClr val="8A929C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1" name="Text 29"/>
          <p:cNvSpPr/>
          <p:nvPr/>
        </p:nvSpPr>
        <p:spPr>
          <a:xfrm>
            <a:off x="8229600" y="2724912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2E37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기존 일정 로드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8229600" y="2962656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8A92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수정 요청일 때만</a:t>
            </a:r>
            <a:endParaRPr lang="en-US" sz="850" dirty="0"/>
          </a:p>
        </p:txBody>
      </p:sp>
      <p:sp>
        <p:nvSpPr>
          <p:cNvPr id="33" name="Shape 31"/>
          <p:cNvSpPr/>
          <p:nvPr/>
        </p:nvSpPr>
        <p:spPr>
          <a:xfrm>
            <a:off x="2496312" y="3200400"/>
            <a:ext cx="0" cy="0"/>
          </a:xfrm>
          <a:prstGeom prst="line">
            <a:avLst/>
          </a:prstGeom>
          <a:noFill/>
          <a:ln w="15875">
            <a:solidFill>
              <a:srgbClr val="0F6E7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4" name="Shape 32"/>
          <p:cNvSpPr/>
          <p:nvPr/>
        </p:nvSpPr>
        <p:spPr>
          <a:xfrm>
            <a:off x="6094476" y="3200400"/>
            <a:ext cx="0" cy="0"/>
          </a:xfrm>
          <a:prstGeom prst="line">
            <a:avLst/>
          </a:prstGeom>
          <a:noFill/>
          <a:ln w="15875">
            <a:solidFill>
              <a:srgbClr val="0F6E7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5" name="Shape 33"/>
          <p:cNvSpPr/>
          <p:nvPr/>
        </p:nvSpPr>
        <p:spPr>
          <a:xfrm>
            <a:off x="9692640" y="3200400"/>
            <a:ext cx="0" cy="0"/>
          </a:xfrm>
          <a:prstGeom prst="line">
            <a:avLst/>
          </a:prstGeom>
          <a:noFill/>
          <a:ln w="15875">
            <a:solidFill>
              <a:srgbClr val="0F6E7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6" name="Shape 34"/>
          <p:cNvSpPr/>
          <p:nvPr/>
        </p:nvSpPr>
        <p:spPr>
          <a:xfrm>
            <a:off x="2496312" y="3200400"/>
            <a:ext cx="0" cy="219456"/>
          </a:xfrm>
          <a:prstGeom prst="line">
            <a:avLst/>
          </a:prstGeom>
          <a:noFill/>
          <a:ln w="15875">
            <a:solidFill>
              <a:srgbClr val="0F6E7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7" name="Shape 35"/>
          <p:cNvSpPr/>
          <p:nvPr/>
        </p:nvSpPr>
        <p:spPr>
          <a:xfrm>
            <a:off x="6094476" y="3200400"/>
            <a:ext cx="0" cy="219456"/>
          </a:xfrm>
          <a:prstGeom prst="line">
            <a:avLst/>
          </a:prstGeom>
          <a:noFill/>
          <a:ln w="15875">
            <a:solidFill>
              <a:srgbClr val="0F6E7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8" name="Shape 36"/>
          <p:cNvSpPr/>
          <p:nvPr/>
        </p:nvSpPr>
        <p:spPr>
          <a:xfrm>
            <a:off x="9692640" y="3200400"/>
            <a:ext cx="0" cy="219456"/>
          </a:xfrm>
          <a:prstGeom prst="line">
            <a:avLst/>
          </a:prstGeom>
          <a:noFill/>
          <a:ln w="15875">
            <a:solidFill>
              <a:srgbClr val="0F6E7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9" name="Shape 37"/>
          <p:cNvSpPr/>
          <p:nvPr/>
        </p:nvSpPr>
        <p:spPr>
          <a:xfrm>
            <a:off x="2496312" y="3419856"/>
            <a:ext cx="7196328" cy="0"/>
          </a:xfrm>
          <a:prstGeom prst="line">
            <a:avLst/>
          </a:prstGeom>
          <a:noFill/>
          <a:ln w="15875">
            <a:solidFill>
              <a:srgbClr val="0F6E7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0" name="Shape 38"/>
          <p:cNvSpPr/>
          <p:nvPr/>
        </p:nvSpPr>
        <p:spPr>
          <a:xfrm>
            <a:off x="6094476" y="3419856"/>
            <a:ext cx="0" cy="182880"/>
          </a:xfrm>
          <a:prstGeom prst="line">
            <a:avLst/>
          </a:prstGeom>
          <a:noFill/>
          <a:ln w="15875">
            <a:solidFill>
              <a:srgbClr val="0F6E78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1" name="Shape 39"/>
          <p:cNvSpPr/>
          <p:nvPr/>
        </p:nvSpPr>
        <p:spPr>
          <a:xfrm>
            <a:off x="4814316" y="3602736"/>
            <a:ext cx="2560320" cy="365760"/>
          </a:xfrm>
          <a:prstGeom prst="roundRect">
            <a:avLst>
              <a:gd name="adj" fmla="val 10000"/>
            </a:avLst>
          </a:prstGeom>
          <a:solidFill>
            <a:srgbClr val="F7F9FA"/>
          </a:solidFill>
          <a:ln w="12700">
            <a:solidFill>
              <a:srgbClr val="8A929C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2" name="Text 40"/>
          <p:cNvSpPr/>
          <p:nvPr/>
        </p:nvSpPr>
        <p:spPr>
          <a:xfrm>
            <a:off x="4814316" y="3657600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2E37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재료 합류</a:t>
            </a:r>
            <a:endParaRPr lang="en-US" sz="1100" dirty="0"/>
          </a:p>
        </p:txBody>
      </p:sp>
      <p:sp>
        <p:nvSpPr>
          <p:cNvPr id="43" name="Shape 41"/>
          <p:cNvSpPr/>
          <p:nvPr/>
        </p:nvSpPr>
        <p:spPr>
          <a:xfrm>
            <a:off x="6094476" y="3968496"/>
            <a:ext cx="0" cy="182880"/>
          </a:xfrm>
          <a:prstGeom prst="line">
            <a:avLst/>
          </a:prstGeom>
          <a:noFill/>
          <a:ln w="15875">
            <a:solidFill>
              <a:srgbClr val="2E4374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4" name="Shape 42"/>
          <p:cNvSpPr/>
          <p:nvPr/>
        </p:nvSpPr>
        <p:spPr>
          <a:xfrm>
            <a:off x="3579876" y="4151376"/>
            <a:ext cx="5029200" cy="530352"/>
          </a:xfrm>
          <a:prstGeom prst="roundRect">
            <a:avLst>
              <a:gd name="adj" fmla="val 6897"/>
            </a:avLst>
          </a:prstGeom>
          <a:solidFill>
            <a:srgbClr val="E8EBF5"/>
          </a:solidFill>
          <a:ln w="12700">
            <a:solidFill>
              <a:srgbClr val="2E4374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5" name="Text 43"/>
          <p:cNvSpPr/>
          <p:nvPr/>
        </p:nvSpPr>
        <p:spPr>
          <a:xfrm>
            <a:off x="3579876" y="4206240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2E437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Planner(A5) · Route(A6) · Gap(A7)</a:t>
            </a:r>
            <a:endParaRPr lang="en-US" sz="1100" dirty="0"/>
          </a:p>
        </p:txBody>
      </p:sp>
      <p:sp>
        <p:nvSpPr>
          <p:cNvPr id="46" name="Text 44"/>
          <p:cNvSpPr/>
          <p:nvPr/>
        </p:nvSpPr>
        <p:spPr>
          <a:xfrm>
            <a:off x="3579876" y="4443984"/>
            <a:ext cx="5029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8A92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하루를 만든다</a:t>
            </a:r>
            <a:endParaRPr lang="en-US" sz="850" dirty="0"/>
          </a:p>
        </p:txBody>
      </p:sp>
      <p:sp>
        <p:nvSpPr>
          <p:cNvPr id="47" name="Shape 45"/>
          <p:cNvSpPr/>
          <p:nvPr/>
        </p:nvSpPr>
        <p:spPr>
          <a:xfrm>
            <a:off x="6094476" y="4681728"/>
            <a:ext cx="0" cy="164592"/>
          </a:xfrm>
          <a:prstGeom prst="line">
            <a:avLst/>
          </a:prstGeom>
          <a:noFill/>
          <a:ln w="15875">
            <a:solidFill>
              <a:srgbClr val="A0641E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8" name="Shape 46"/>
          <p:cNvSpPr/>
          <p:nvPr/>
        </p:nvSpPr>
        <p:spPr>
          <a:xfrm>
            <a:off x="4402836" y="4846320"/>
            <a:ext cx="3383280" cy="530352"/>
          </a:xfrm>
          <a:prstGeom prst="roundRect">
            <a:avLst>
              <a:gd name="adj" fmla="val 6897"/>
            </a:avLst>
          </a:prstGeom>
          <a:solidFill>
            <a:srgbClr val="FBEEE0"/>
          </a:solidFill>
          <a:ln w="12700">
            <a:solidFill>
              <a:srgbClr val="A0641E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9" name="Text 47"/>
          <p:cNvSpPr/>
          <p:nvPr/>
        </p:nvSpPr>
        <p:spPr>
          <a:xfrm>
            <a:off x="4402836" y="4901184"/>
            <a:ext cx="3383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A0641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Guardian(A8)</a:t>
            </a:r>
            <a:endParaRPr lang="en-US" sz="1100" dirty="0"/>
          </a:p>
        </p:txBody>
      </p:sp>
      <p:sp>
        <p:nvSpPr>
          <p:cNvPr id="50" name="Text 48"/>
          <p:cNvSpPr/>
          <p:nvPr/>
        </p:nvSpPr>
        <p:spPr>
          <a:xfrm>
            <a:off x="4402836" y="5138928"/>
            <a:ext cx="3383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8A92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결함 탐지 → 분류</a:t>
            </a:r>
            <a:endParaRPr lang="en-US" sz="850" dirty="0"/>
          </a:p>
        </p:txBody>
      </p:sp>
      <p:sp>
        <p:nvSpPr>
          <p:cNvPr id="51" name="Shape 49"/>
          <p:cNvSpPr/>
          <p:nvPr/>
        </p:nvSpPr>
        <p:spPr>
          <a:xfrm>
            <a:off x="2633472" y="5111496"/>
            <a:ext cx="1769364" cy="0"/>
          </a:xfrm>
          <a:prstGeom prst="line">
            <a:avLst/>
          </a:prstGeom>
          <a:noFill/>
          <a:ln w="15875">
            <a:solidFill>
              <a:srgbClr val="A0641E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2" name="Shape 50"/>
          <p:cNvSpPr/>
          <p:nvPr/>
        </p:nvSpPr>
        <p:spPr>
          <a:xfrm>
            <a:off x="7786116" y="5111496"/>
            <a:ext cx="2043684" cy="0"/>
          </a:xfrm>
          <a:prstGeom prst="line">
            <a:avLst/>
          </a:prstGeom>
          <a:noFill/>
          <a:ln w="15875">
            <a:solidFill>
              <a:srgbClr val="2F6B4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3" name="Shape 51"/>
          <p:cNvSpPr/>
          <p:nvPr/>
        </p:nvSpPr>
        <p:spPr>
          <a:xfrm>
            <a:off x="2633472" y="5111496"/>
            <a:ext cx="0" cy="502920"/>
          </a:xfrm>
          <a:prstGeom prst="line">
            <a:avLst/>
          </a:prstGeom>
          <a:noFill/>
          <a:ln w="15875">
            <a:solidFill>
              <a:srgbClr val="A0641E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4" name="Shape 52"/>
          <p:cNvSpPr/>
          <p:nvPr/>
        </p:nvSpPr>
        <p:spPr>
          <a:xfrm>
            <a:off x="9829800" y="5111496"/>
            <a:ext cx="0" cy="502920"/>
          </a:xfrm>
          <a:prstGeom prst="line">
            <a:avLst/>
          </a:prstGeom>
          <a:noFill/>
          <a:ln w="15875">
            <a:solidFill>
              <a:srgbClr val="2F6B4F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5" name="Text 53"/>
          <p:cNvSpPr/>
          <p:nvPr/>
        </p:nvSpPr>
        <p:spPr>
          <a:xfrm>
            <a:off x="2724912" y="5193792"/>
            <a:ext cx="1188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A92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확인 필요</a:t>
            </a:r>
            <a:endParaRPr lang="en-US" sz="900" dirty="0"/>
          </a:p>
        </p:txBody>
      </p:sp>
      <p:sp>
        <p:nvSpPr>
          <p:cNvPr id="56" name="Text 54"/>
          <p:cNvSpPr/>
          <p:nvPr/>
        </p:nvSpPr>
        <p:spPr>
          <a:xfrm>
            <a:off x="8823960" y="5193792"/>
            <a:ext cx="1188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A92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이상 없음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1444752" y="5614416"/>
            <a:ext cx="2377440" cy="420624"/>
          </a:xfrm>
          <a:prstGeom prst="roundRect">
            <a:avLst>
              <a:gd name="adj" fmla="val 8696"/>
            </a:avLst>
          </a:prstGeom>
          <a:solidFill>
            <a:srgbClr val="FBEEE0"/>
          </a:solidFill>
          <a:ln w="12700">
            <a:solidFill>
              <a:srgbClr val="A0641E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8" name="Text 56"/>
          <p:cNvSpPr/>
          <p:nvPr/>
        </p:nvSpPr>
        <p:spPr>
          <a:xfrm>
            <a:off x="1444752" y="5669280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A0641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정지 · 사용자 확인</a:t>
            </a:r>
            <a:endParaRPr lang="en-US" sz="1100" dirty="0"/>
          </a:p>
        </p:txBody>
      </p:sp>
      <p:sp>
        <p:nvSpPr>
          <p:cNvPr id="59" name="Shape 57"/>
          <p:cNvSpPr/>
          <p:nvPr/>
        </p:nvSpPr>
        <p:spPr>
          <a:xfrm>
            <a:off x="8366760" y="5614416"/>
            <a:ext cx="3291840" cy="420624"/>
          </a:xfrm>
          <a:prstGeom prst="roundRect">
            <a:avLst>
              <a:gd name="adj" fmla="val 8696"/>
            </a:avLst>
          </a:prstGeom>
          <a:solidFill>
            <a:srgbClr val="E7F1EB"/>
          </a:solidFill>
          <a:ln w="12700">
            <a:solidFill>
              <a:srgbClr val="2F6B4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0" name="Text 58"/>
          <p:cNvSpPr/>
          <p:nvPr/>
        </p:nvSpPr>
        <p:spPr>
          <a:xfrm>
            <a:off x="8366760" y="5669280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2F6B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확정 → Memory(A9) → 응답</a:t>
            </a:r>
            <a:endParaRPr lang="en-US" sz="1100" dirty="0"/>
          </a:p>
        </p:txBody>
      </p:sp>
      <p:sp>
        <p:nvSpPr>
          <p:cNvPr id="61" name="Shape 59"/>
          <p:cNvSpPr/>
          <p:nvPr/>
        </p:nvSpPr>
        <p:spPr>
          <a:xfrm>
            <a:off x="804672" y="5824728"/>
            <a:ext cx="640080" cy="0"/>
          </a:xfrm>
          <a:prstGeom prst="line">
            <a:avLst/>
          </a:prstGeom>
          <a:noFill/>
          <a:ln w="15875">
            <a:solidFill>
              <a:srgbClr val="A0641E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2" name="Shape 60"/>
          <p:cNvSpPr/>
          <p:nvPr/>
        </p:nvSpPr>
        <p:spPr>
          <a:xfrm>
            <a:off x="804672" y="4416552"/>
            <a:ext cx="0" cy="1408176"/>
          </a:xfrm>
          <a:prstGeom prst="line">
            <a:avLst/>
          </a:prstGeom>
          <a:noFill/>
          <a:ln w="15875">
            <a:solidFill>
              <a:srgbClr val="A0641E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3" name="Shape 61"/>
          <p:cNvSpPr/>
          <p:nvPr/>
        </p:nvSpPr>
        <p:spPr>
          <a:xfrm>
            <a:off x="804672" y="4416552"/>
            <a:ext cx="2775204" cy="0"/>
          </a:xfrm>
          <a:prstGeom prst="line">
            <a:avLst/>
          </a:prstGeom>
          <a:noFill/>
          <a:ln w="15875">
            <a:solidFill>
              <a:srgbClr val="A0641E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4" name="Text 62"/>
          <p:cNvSpPr/>
          <p:nvPr/>
        </p:nvSpPr>
        <p:spPr>
          <a:xfrm>
            <a:off x="932688" y="4160520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A0641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선택 반영 → 재편성 (횟수 제한)</a:t>
            </a:r>
            <a:endParaRPr lang="en-US" sz="900" dirty="0"/>
          </a:p>
        </p:txBody>
      </p:sp>
      <p:sp>
        <p:nvSpPr>
          <p:cNvPr id="65" name="Text 63"/>
          <p:cNvSpPr/>
          <p:nvPr/>
        </p:nvSpPr>
        <p:spPr>
          <a:xfrm>
            <a:off x="8275320" y="2249424"/>
            <a:ext cx="3383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A92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필요한 Agent 만 실행 — 동시 실행</a:t>
            </a:r>
            <a:endParaRPr lang="en-US" sz="900" dirty="0"/>
          </a:p>
        </p:txBody>
      </p:sp>
      <p:sp>
        <p:nvSpPr>
          <p:cNvPr id="66" name="Shape 64"/>
          <p:cNvSpPr/>
          <p:nvPr/>
        </p:nvSpPr>
        <p:spPr>
          <a:xfrm>
            <a:off x="530352" y="6181344"/>
            <a:ext cx="11128248" cy="0"/>
          </a:xfrm>
          <a:prstGeom prst="line">
            <a:avLst/>
          </a:prstGeom>
          <a:noFill/>
          <a:ln w="12700">
            <a:solidFill>
              <a:srgbClr val="DFE4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7" name="Text 65"/>
          <p:cNvSpPr/>
          <p:nvPr/>
        </p:nvSpPr>
        <p:spPr>
          <a:xfrm>
            <a:off x="530352" y="6245352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100" dirty="0">
                <a:solidFill>
                  <a:srgbClr val="0F6E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출처</a:t>
            </a:r>
            <a:endParaRPr lang="en-US" sz="900" dirty="0"/>
          </a:p>
        </p:txBody>
      </p:sp>
      <p:sp>
        <p:nvSpPr>
          <p:cNvPr id="68" name="Text 66"/>
          <p:cNvSpPr/>
          <p:nvPr/>
        </p:nvSpPr>
        <p:spPr>
          <a:xfrm>
            <a:off x="1097280" y="6236208"/>
            <a:ext cx="105613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A92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docs/ARCHITECTURE.md §3 «메인 그래프» (11노드 = 서브그래프 4 + 조율 7) · docs/STRUCTURE.md §0 «전체 지도»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365760"/>
            <a:ext cx="4754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200" dirty="0">
                <a:solidFill>
                  <a:srgbClr val="8A92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02 · Agent Workflow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096512" y="365760"/>
            <a:ext cx="3840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200" dirty="0">
                <a:solidFill>
                  <a:srgbClr val="0F6E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Execution Paths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30352" y="640080"/>
            <a:ext cx="1112824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100" b="1" dirty="0">
                <a:solidFill>
                  <a:srgbClr val="1A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요청 유형에 따라 깨우는 Agent 가 다르다</a:t>
            </a:r>
            <a:endParaRPr lang="en-US" sz="3100" dirty="0"/>
          </a:p>
        </p:txBody>
      </p:sp>
      <p:sp>
        <p:nvSpPr>
          <p:cNvPr id="5" name="Text 3"/>
          <p:cNvSpPr/>
          <p:nvPr/>
        </p:nvSpPr>
        <p:spPr>
          <a:xfrm>
            <a:off x="530352" y="1225296"/>
            <a:ext cx="80192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2E37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모든 요청에 전체를 돌리면 단순한 질문도 일정 생성과 같은 비용을 치릅니다. A1 이 실행 계획을 만들고 그대로만 켭니다.</a:t>
            </a:r>
            <a:endParaRPr lang="en-US" sz="125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30352" y="1755648"/>
          <a:ext cx="11128248" cy="3072384"/>
        </p:xfrm>
        <a:graphic>
          <a:graphicData uri="http://schemas.openxmlformats.org/drawingml/2006/table">
            <a:tbl>
              <a:tblPr/>
              <a:tblGrid>
                <a:gridCol w="20116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6440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2412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4358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4358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2412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316736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kern="0" spc="100" dirty="0">
                          <a:solidFill>
                            <a:srgbClr val="8A929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요청 유형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DF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kern="0" spc="100" dirty="0">
                          <a:solidFill>
                            <a:srgbClr val="8A929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사용자 발화 예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DF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kern="0" spc="100" dirty="0">
                          <a:solidFill>
                            <a:srgbClr val="8A929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A2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DF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kern="0" spc="100" dirty="0">
                          <a:solidFill>
                            <a:srgbClr val="8A929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A3 · A4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DF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kern="0" spc="100" dirty="0">
                          <a:solidFill>
                            <a:srgbClr val="8A929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A5 · A6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DF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kern="0" spc="100" dirty="0">
                          <a:solidFill>
                            <a:srgbClr val="8A929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A7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DF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kern="0" spc="100" dirty="0">
                          <a:solidFill>
                            <a:srgbClr val="8A929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A8 · A9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DF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1A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과거 기록 질의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DF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F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8A929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「작년에 갔던 미술관 어디였지」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DF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F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0F6E7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●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DF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F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CBD2D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·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DF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F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CBD2D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·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DF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F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CBD2D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·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DF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F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CBD2D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·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DF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F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1A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장소 추천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DF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F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8A929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「성수동에 뭐 볼 만한 거 있어?」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DF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F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0F6E7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●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DF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F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0F6E7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●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DF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F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0F6E7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●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DF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F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0F6E7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●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DF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F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CBD2D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·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DF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F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1A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일정 생성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DF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F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8A929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「주말 서울 하루 일정 짜줘」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DF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F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0F6E7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●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DF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F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0F6E7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●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DF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F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0F6E7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●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DF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F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0F6E7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●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DF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F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0F6E7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●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DF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F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1A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일정 수정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DF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F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8A929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「두 번째 장소 빼줘」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DF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F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0F6E7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●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DF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F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CBD2D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·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DF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F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CBD2D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·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DF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F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0F6E7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●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DF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F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CBD2D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·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DF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F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1A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재방문 일정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DF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F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8A929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「작년에 갔던 데 또 가고 싶어」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DF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F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0F6E7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●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DF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F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0F6E7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●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DF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F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0F6E7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●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DF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F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0F6E7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●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DF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F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CBD2D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·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DF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F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1A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날씨 대응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DF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F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8A929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「비 온대, 실내로 바꿔줘」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DF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F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0F6E7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●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DF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F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0F6E7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●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DF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F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0F6E7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●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DF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F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0F6E7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●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DF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F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CBD2D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·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DF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F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1A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빈틈 채우기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DF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F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8A929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「일찍 끝났어, 근처 뭐 있어?」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DF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F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0F6E7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●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DF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F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0F6E7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●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DF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F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0F6E7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●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DF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F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0F6E7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●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DF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F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0F6E7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●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DF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F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530352" y="4809744"/>
            <a:ext cx="11128248" cy="786384"/>
          </a:xfrm>
          <a:prstGeom prst="roundRect">
            <a:avLst>
              <a:gd name="adj" fmla="val 4651"/>
            </a:avLst>
          </a:prstGeom>
          <a:solidFill>
            <a:srgbClr val="F7F9FA"/>
          </a:solidFill>
          <a:ln w="12700">
            <a:solidFill>
              <a:srgbClr val="DFE4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" name="Text 5"/>
          <p:cNvSpPr/>
          <p:nvPr/>
        </p:nvSpPr>
        <p:spPr>
          <a:xfrm>
            <a:off x="841248" y="4809744"/>
            <a:ext cx="1050645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0F6E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읽는 법 — </a:t>
            </a:r>
            <a:r>
              <a:rPr lang="en-US" sz="1050" dirty="0">
                <a:solidFill>
                  <a:srgbClr val="2E37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「작년에 갔던 미술관 어디였지」 한 줄이면 Preference(A2) 하나만 깨우고 답합니다. 일정을 만들지 않으므로 편성계 · 검증계 · 학습계는 아예 실행되지 않습니다. 이것이 기획안 «CASE 2 — Search · Validation 생략»의 구현입니다.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530352" y="5724144"/>
            <a:ext cx="11128248" cy="0"/>
          </a:xfrm>
          <a:prstGeom prst="line">
            <a:avLst/>
          </a:prstGeom>
          <a:noFill/>
          <a:ln w="12700">
            <a:solidFill>
              <a:srgbClr val="DFE4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Text 7"/>
          <p:cNvSpPr/>
          <p:nvPr/>
        </p:nvSpPr>
        <p:spPr>
          <a:xfrm>
            <a:off x="530352" y="5788152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100" dirty="0">
                <a:solidFill>
                  <a:srgbClr val="0F6E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출처</a:t>
            </a:r>
            <a:endParaRPr lang="en-US" sz="900" dirty="0"/>
          </a:p>
        </p:txBody>
      </p:sp>
      <p:sp>
        <p:nvSpPr>
          <p:cNvPr id="6" name="Text 8"/>
          <p:cNvSpPr/>
          <p:nvPr/>
        </p:nvSpPr>
        <p:spPr>
          <a:xfrm>
            <a:off x="1097280" y="5779008"/>
            <a:ext cx="105613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A92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docs/ARCHITECTURE.md §5 «쿼리 라우팅» 표 (RequestType 7종 × 실행 노드) · docs/REQUIREMENTS.md FR-03 «요청 유형별 실행 경로»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365760"/>
            <a:ext cx="4754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200" dirty="0">
                <a:solidFill>
                  <a:srgbClr val="8A92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02 · Agent Workflow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096512" y="365760"/>
            <a:ext cx="3840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200" dirty="0">
                <a:solidFill>
                  <a:srgbClr val="0F6E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Collaboration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30352" y="640080"/>
            <a:ext cx="1112824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100" b="1" dirty="0">
                <a:solidFill>
                  <a:srgbClr val="1A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Agent 는 서로를 호출하지 않는다</a:t>
            </a:r>
            <a:endParaRPr lang="en-US" sz="3100" dirty="0"/>
          </a:p>
        </p:txBody>
      </p:sp>
      <p:sp>
        <p:nvSpPr>
          <p:cNvPr id="5" name="Text 3"/>
          <p:cNvSpPr/>
          <p:nvPr/>
        </p:nvSpPr>
        <p:spPr>
          <a:xfrm>
            <a:off x="530352" y="1225296"/>
            <a:ext cx="80192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2E37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직접 호출은 Agent 를 추가할 때마다 관계가 제곱으로 늘어납니다. 공유 상태 채널 하나를 두고 결합을 끊습니다.</a:t>
            </a:r>
            <a:endParaRPr lang="en-US" sz="125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30352" y="1755648"/>
          <a:ext cx="11128248" cy="3474720"/>
        </p:xfrm>
        <a:graphic>
          <a:graphicData uri="http://schemas.openxmlformats.org/drawingml/2006/table">
            <a:tbl>
              <a:tblPr/>
              <a:tblGrid>
                <a:gridCol w="21031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81888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373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4688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4747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kern="0" spc="100" dirty="0">
                          <a:solidFill>
                            <a:srgbClr val="8A929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공유 상태 채널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DF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kern="0" spc="100" dirty="0">
                          <a:solidFill>
                            <a:srgbClr val="8A929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무엇이 담기는가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DF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kern="0" spc="100" dirty="0">
                          <a:solidFill>
                            <a:srgbClr val="8A929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쓴다 →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DF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kern="0" spc="100" dirty="0">
                          <a:solidFill>
                            <a:srgbClr val="8A929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← 읽는다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DF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1A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여행 조건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DF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F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2E374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요청에서 확정된 지역 · 날짜 · 시각 · 이동수단 · 좌표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DF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F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0F6E7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A1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DF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F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8A929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A2 A3 A5 A7 A8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DF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F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1A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취향 프로필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DF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F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2E374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카테고리 선호 · 실내 성향 · 평균 체류 · 불편 민감도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DF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F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0F6E7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A2 A9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DF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F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8A929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A3 A5 A7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DF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F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1A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과거 경험 조각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DF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F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2E374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이번 요청과 관련된 지난 방문 · 불편 기록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DF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F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0F6E7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A2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DF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F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8A929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A5 A8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DF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F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1A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장소 후보 목록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DF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F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2E374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좌표 · 운영시간 · 주차 · 점수를 갖춘 후보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DF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F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0F6E7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A3 A4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DF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F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8A929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A5 A7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DF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F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1A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신뢰 등급 · 근거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DF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F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2E374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확인 / 확인 필요 / 제외 와 그 출처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DF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F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0F6E7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A4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DF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F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8A929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A8 응답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DF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F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1A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확정 일정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DF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F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2E374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순서 · 도착 · 출발 · 체류시간이 정해진 하루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DF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F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0F6E7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A5 A7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DF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F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8A929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A6 A8 A9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DF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F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1A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구간 이동 정보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DF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F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2E374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소요시간 · 거리 · 경로 선형 · 요금 · 수단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DF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F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0F6E7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A6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DF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F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8A929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A5 응답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DF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F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1A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결함 · 확인 카드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DF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F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2E374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검사 결과와 사용자에게 물을 선택지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DF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F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0F6E7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A8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DF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F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8A929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사용자 A5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DF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F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1A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근거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DF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F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2E374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왜 이렇게 됐는지의 조각 — 화면의 «기록 근거»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DF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F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0F6E7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전체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DF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F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8A929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응답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DF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F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530352" y="5358384"/>
            <a:ext cx="11128248" cy="676656"/>
          </a:xfrm>
          <a:prstGeom prst="roundRect">
            <a:avLst>
              <a:gd name="adj" fmla="val 5405"/>
            </a:avLst>
          </a:prstGeom>
          <a:solidFill>
            <a:srgbClr val="F7F9FA"/>
          </a:solidFill>
          <a:ln w="12700">
            <a:solidFill>
              <a:srgbClr val="DFE4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" name="Text 5"/>
          <p:cNvSpPr/>
          <p:nvPr/>
        </p:nvSpPr>
        <p:spPr>
          <a:xfrm>
            <a:off x="841248" y="5358384"/>
            <a:ext cx="1050645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F6E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합류 규칙 — </a:t>
            </a:r>
            <a:r>
              <a:rPr lang="en-US" sz="1050" dirty="0">
                <a:solidFill>
                  <a:srgbClr val="2E37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병렬 갈래가 같은 채널에 쓰므로 단순히 이어 붙이면 합류마다 목록이 불어납니다. 식별자로 묶어 덮어쓰기 때문에 몇 번을 합쳐도 결과가 같습니다.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530352" y="6163056"/>
            <a:ext cx="11128248" cy="0"/>
          </a:xfrm>
          <a:prstGeom prst="line">
            <a:avLst/>
          </a:prstGeom>
          <a:noFill/>
          <a:ln w="12700">
            <a:solidFill>
              <a:srgbClr val="DFE4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Text 7"/>
          <p:cNvSpPr/>
          <p:nvPr/>
        </p:nvSpPr>
        <p:spPr>
          <a:xfrm>
            <a:off x="530352" y="6227064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100" dirty="0">
                <a:solidFill>
                  <a:srgbClr val="0F6E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출처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1097280" y="6217920"/>
            <a:ext cx="105613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A92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docs/ARCHITECTURE.md §4.1 «단일 루트 State» · §4.2 «리듀서: 왜 operator.add 가 아닌가»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365760"/>
            <a:ext cx="4754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200" dirty="0">
                <a:solidFill>
                  <a:srgbClr val="8A92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02 · Agent Workflow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096512" y="365760"/>
            <a:ext cx="3840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200" dirty="0">
                <a:solidFill>
                  <a:srgbClr val="0F6E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Sequence 1 · 정상 경로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30352" y="640080"/>
            <a:ext cx="1112824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100" b="1" dirty="0">
                <a:solidFill>
                  <a:srgbClr val="1A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일정 생성 — 요청부터 응답까지</a:t>
            </a:r>
            <a:endParaRPr lang="en-US" sz="3100" dirty="0"/>
          </a:p>
        </p:txBody>
      </p:sp>
      <p:sp>
        <p:nvSpPr>
          <p:cNvPr id="5" name="Text 3"/>
          <p:cNvSpPr/>
          <p:nvPr/>
        </p:nvSpPr>
        <p:spPr>
          <a:xfrm>
            <a:off x="530352" y="1225296"/>
            <a:ext cx="80192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2E37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가로축이 시간입니다. 세로로 겹친 구간이 병렬 실행입니다.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530352" y="1828800"/>
            <a:ext cx="1463040" cy="402336"/>
          </a:xfrm>
          <a:prstGeom prst="rect">
            <a:avLst/>
          </a:prstGeom>
          <a:solidFill>
            <a:srgbClr val="F7F9FA"/>
          </a:solidFill>
          <a:ln w="6350">
            <a:solidFill>
              <a:srgbClr val="DFE4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" name="Text 5"/>
          <p:cNvSpPr/>
          <p:nvPr/>
        </p:nvSpPr>
        <p:spPr>
          <a:xfrm>
            <a:off x="640080" y="1828800"/>
            <a:ext cx="13167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A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사용자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1993392" y="2231136"/>
            <a:ext cx="9665208" cy="0"/>
          </a:xfrm>
          <a:prstGeom prst="line">
            <a:avLst/>
          </a:prstGeom>
          <a:noFill/>
          <a:ln w="6350">
            <a:solidFill>
              <a:srgbClr val="DFE4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" name="Shape 7"/>
          <p:cNvSpPr/>
          <p:nvPr/>
        </p:nvSpPr>
        <p:spPr>
          <a:xfrm>
            <a:off x="530352" y="2231136"/>
            <a:ext cx="1463040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DFE4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Text 8"/>
          <p:cNvSpPr/>
          <p:nvPr/>
        </p:nvSpPr>
        <p:spPr>
          <a:xfrm>
            <a:off x="640080" y="2231136"/>
            <a:ext cx="13167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A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앱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1993392" y="2633472"/>
            <a:ext cx="9665208" cy="0"/>
          </a:xfrm>
          <a:prstGeom prst="line">
            <a:avLst/>
          </a:prstGeom>
          <a:noFill/>
          <a:ln w="6350">
            <a:solidFill>
              <a:srgbClr val="DFE4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2" name="Shape 10"/>
          <p:cNvSpPr/>
          <p:nvPr/>
        </p:nvSpPr>
        <p:spPr>
          <a:xfrm>
            <a:off x="530352" y="2633472"/>
            <a:ext cx="1463040" cy="402336"/>
          </a:xfrm>
          <a:prstGeom prst="rect">
            <a:avLst/>
          </a:prstGeom>
          <a:solidFill>
            <a:srgbClr val="F7F9FA"/>
          </a:solidFill>
          <a:ln w="6350">
            <a:solidFill>
              <a:srgbClr val="DFE4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3" name="Text 11"/>
          <p:cNvSpPr/>
          <p:nvPr/>
        </p:nvSpPr>
        <p:spPr>
          <a:xfrm>
            <a:off x="640080" y="2633472"/>
            <a:ext cx="13167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A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API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1993392" y="3035808"/>
            <a:ext cx="9665208" cy="0"/>
          </a:xfrm>
          <a:prstGeom prst="line">
            <a:avLst/>
          </a:prstGeom>
          <a:noFill/>
          <a:ln w="6350">
            <a:solidFill>
              <a:srgbClr val="DFE4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5" name="Shape 13"/>
          <p:cNvSpPr/>
          <p:nvPr/>
        </p:nvSpPr>
        <p:spPr>
          <a:xfrm>
            <a:off x="530352" y="3035808"/>
            <a:ext cx="1463040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DFE4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6" name="Text 14"/>
          <p:cNvSpPr/>
          <p:nvPr/>
        </p:nvSpPr>
        <p:spPr>
          <a:xfrm>
            <a:off x="640080" y="3035808"/>
            <a:ext cx="13167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A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A1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1993392" y="3438144"/>
            <a:ext cx="9665208" cy="0"/>
          </a:xfrm>
          <a:prstGeom prst="line">
            <a:avLst/>
          </a:prstGeom>
          <a:noFill/>
          <a:ln w="6350">
            <a:solidFill>
              <a:srgbClr val="DFE4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8" name="Shape 16"/>
          <p:cNvSpPr/>
          <p:nvPr/>
        </p:nvSpPr>
        <p:spPr>
          <a:xfrm>
            <a:off x="530352" y="3438144"/>
            <a:ext cx="1463040" cy="402336"/>
          </a:xfrm>
          <a:prstGeom prst="rect">
            <a:avLst/>
          </a:prstGeom>
          <a:solidFill>
            <a:srgbClr val="F7F9FA"/>
          </a:solidFill>
          <a:ln w="6350">
            <a:solidFill>
              <a:srgbClr val="DFE4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9" name="Text 17"/>
          <p:cNvSpPr/>
          <p:nvPr/>
        </p:nvSpPr>
        <p:spPr>
          <a:xfrm>
            <a:off x="640080" y="3438144"/>
            <a:ext cx="13167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A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A2 ∥ A3·A4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1993392" y="3840480"/>
            <a:ext cx="9665208" cy="0"/>
          </a:xfrm>
          <a:prstGeom prst="line">
            <a:avLst/>
          </a:prstGeom>
          <a:noFill/>
          <a:ln w="6350">
            <a:solidFill>
              <a:srgbClr val="DFE4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1" name="Shape 19"/>
          <p:cNvSpPr/>
          <p:nvPr/>
        </p:nvSpPr>
        <p:spPr>
          <a:xfrm>
            <a:off x="530352" y="3840480"/>
            <a:ext cx="1463040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DFE4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2" name="Text 20"/>
          <p:cNvSpPr/>
          <p:nvPr/>
        </p:nvSpPr>
        <p:spPr>
          <a:xfrm>
            <a:off x="640080" y="3840480"/>
            <a:ext cx="13167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A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A5·A6·A7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1993392" y="4242816"/>
            <a:ext cx="9665208" cy="0"/>
          </a:xfrm>
          <a:prstGeom prst="line">
            <a:avLst/>
          </a:prstGeom>
          <a:noFill/>
          <a:ln w="6350">
            <a:solidFill>
              <a:srgbClr val="DFE4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4" name="Shape 22"/>
          <p:cNvSpPr/>
          <p:nvPr/>
        </p:nvSpPr>
        <p:spPr>
          <a:xfrm>
            <a:off x="530352" y="4242816"/>
            <a:ext cx="1463040" cy="402336"/>
          </a:xfrm>
          <a:prstGeom prst="rect">
            <a:avLst/>
          </a:prstGeom>
          <a:solidFill>
            <a:srgbClr val="F7F9FA"/>
          </a:solidFill>
          <a:ln w="6350">
            <a:solidFill>
              <a:srgbClr val="DFE4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5" name="Text 23"/>
          <p:cNvSpPr/>
          <p:nvPr/>
        </p:nvSpPr>
        <p:spPr>
          <a:xfrm>
            <a:off x="640080" y="4242816"/>
            <a:ext cx="13167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A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A8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1993392" y="4645152"/>
            <a:ext cx="9665208" cy="0"/>
          </a:xfrm>
          <a:prstGeom prst="line">
            <a:avLst/>
          </a:prstGeom>
          <a:noFill/>
          <a:ln w="6350">
            <a:solidFill>
              <a:srgbClr val="DFE4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7" name="Shape 25"/>
          <p:cNvSpPr/>
          <p:nvPr/>
        </p:nvSpPr>
        <p:spPr>
          <a:xfrm>
            <a:off x="530352" y="4645152"/>
            <a:ext cx="1463040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DFE4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8" name="Text 26"/>
          <p:cNvSpPr/>
          <p:nvPr/>
        </p:nvSpPr>
        <p:spPr>
          <a:xfrm>
            <a:off x="640080" y="4645152"/>
            <a:ext cx="13167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A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A9 · 저장소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1993392" y="5047488"/>
            <a:ext cx="9665208" cy="0"/>
          </a:xfrm>
          <a:prstGeom prst="line">
            <a:avLst/>
          </a:prstGeom>
          <a:noFill/>
          <a:ln w="6350">
            <a:solidFill>
              <a:srgbClr val="DFE4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0" name="Shape 28"/>
          <p:cNvSpPr/>
          <p:nvPr/>
        </p:nvSpPr>
        <p:spPr>
          <a:xfrm>
            <a:off x="2039112" y="1892808"/>
            <a:ext cx="1051560" cy="274320"/>
          </a:xfrm>
          <a:prstGeom prst="roundRect">
            <a:avLst>
              <a:gd name="adj" fmla="val 10000"/>
            </a:avLst>
          </a:prstGeom>
          <a:solidFill>
            <a:srgbClr val="EDEFF1"/>
          </a:solidFill>
          <a:ln w="12700">
            <a:solidFill>
              <a:srgbClr val="8A929C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1" name="Text 29"/>
          <p:cNvSpPr/>
          <p:nvPr/>
        </p:nvSpPr>
        <p:spPr>
          <a:xfrm>
            <a:off x="2039112" y="1892808"/>
            <a:ext cx="105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8A92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요청 입력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3182112" y="2295144"/>
            <a:ext cx="1188720" cy="274320"/>
          </a:xfrm>
          <a:prstGeom prst="roundRect">
            <a:avLst>
              <a:gd name="adj" fmla="val 10000"/>
            </a:avLst>
          </a:prstGeom>
          <a:solidFill>
            <a:srgbClr val="EDEFF1"/>
          </a:solidFill>
          <a:ln w="12700">
            <a:solidFill>
              <a:srgbClr val="8A929C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3" name="Text 31"/>
          <p:cNvSpPr/>
          <p:nvPr/>
        </p:nvSpPr>
        <p:spPr>
          <a:xfrm>
            <a:off x="3182112" y="2295144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8A92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스트리밍 요청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4462272" y="2697480"/>
            <a:ext cx="1051560" cy="274320"/>
          </a:xfrm>
          <a:prstGeom prst="roundRect">
            <a:avLst>
              <a:gd name="adj" fmla="val 10000"/>
            </a:avLst>
          </a:prstGeom>
          <a:solidFill>
            <a:srgbClr val="EDEFF1"/>
          </a:solidFill>
          <a:ln w="12700">
            <a:solidFill>
              <a:srgbClr val="8A929C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5" name="Text 33"/>
          <p:cNvSpPr/>
          <p:nvPr/>
        </p:nvSpPr>
        <p:spPr>
          <a:xfrm>
            <a:off x="4462272" y="2697480"/>
            <a:ext cx="105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8A92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그래프 실행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605272" y="3099816"/>
            <a:ext cx="1234440" cy="274320"/>
          </a:xfrm>
          <a:prstGeom prst="roundRect">
            <a:avLst>
              <a:gd name="adj" fmla="val 10000"/>
            </a:avLst>
          </a:prstGeom>
          <a:solidFill>
            <a:srgbClr val="F1F3F5"/>
          </a:solidFill>
          <a:ln w="12700">
            <a:solidFill>
              <a:srgbClr val="5A6472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7" name="Text 35"/>
          <p:cNvSpPr/>
          <p:nvPr/>
        </p:nvSpPr>
        <p:spPr>
          <a:xfrm>
            <a:off x="5605272" y="3099816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5A64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조건 확정 → 팬아웃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6931152" y="3502152"/>
            <a:ext cx="1600200" cy="274320"/>
          </a:xfrm>
          <a:prstGeom prst="roundRect">
            <a:avLst>
              <a:gd name="adj" fmla="val 10000"/>
            </a:avLst>
          </a:prstGeom>
          <a:solidFill>
            <a:srgbClr val="E6F2F3"/>
          </a:solidFill>
          <a:ln w="12700">
            <a:solidFill>
              <a:srgbClr val="0F6E7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9" name="Text 37"/>
          <p:cNvSpPr/>
          <p:nvPr/>
        </p:nvSpPr>
        <p:spPr>
          <a:xfrm>
            <a:off x="6931152" y="3502152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0F6E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취향 조회 ∥ 후보 탐색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8622792" y="3904488"/>
            <a:ext cx="1234440" cy="274320"/>
          </a:xfrm>
          <a:prstGeom prst="roundRect">
            <a:avLst>
              <a:gd name="adj" fmla="val 10000"/>
            </a:avLst>
          </a:prstGeom>
          <a:solidFill>
            <a:srgbClr val="E8EBF5"/>
          </a:solidFill>
          <a:ln w="12700">
            <a:solidFill>
              <a:srgbClr val="2E4374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1" name="Text 39"/>
          <p:cNvSpPr/>
          <p:nvPr/>
        </p:nvSpPr>
        <p:spPr>
          <a:xfrm>
            <a:off x="8622792" y="3904488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2E437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하루 편성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9948672" y="4306824"/>
            <a:ext cx="777240" cy="274320"/>
          </a:xfrm>
          <a:prstGeom prst="roundRect">
            <a:avLst>
              <a:gd name="adj" fmla="val 10000"/>
            </a:avLst>
          </a:prstGeom>
          <a:solidFill>
            <a:srgbClr val="FBEEE0"/>
          </a:solidFill>
          <a:ln w="12700">
            <a:solidFill>
              <a:srgbClr val="A0641E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3" name="Text 41"/>
          <p:cNvSpPr/>
          <p:nvPr/>
        </p:nvSpPr>
        <p:spPr>
          <a:xfrm>
            <a:off x="9948672" y="4306824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A0641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검증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10817352" y="4709160"/>
            <a:ext cx="822960" cy="274320"/>
          </a:xfrm>
          <a:prstGeom prst="roundRect">
            <a:avLst>
              <a:gd name="adj" fmla="val 10000"/>
            </a:avLst>
          </a:prstGeom>
          <a:solidFill>
            <a:srgbClr val="E7F1EB"/>
          </a:solidFill>
          <a:ln w="12700">
            <a:solidFill>
              <a:srgbClr val="2F6B4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5" name="Text 43"/>
          <p:cNvSpPr/>
          <p:nvPr/>
        </p:nvSpPr>
        <p:spPr>
          <a:xfrm>
            <a:off x="10817352" y="470916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2F6B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기록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530352" y="5138928"/>
            <a:ext cx="11128248" cy="914400"/>
          </a:xfrm>
          <a:prstGeom prst="roundRect">
            <a:avLst>
              <a:gd name="adj" fmla="val 4000"/>
            </a:avLst>
          </a:prstGeom>
          <a:solidFill>
            <a:srgbClr val="F7F9FA"/>
          </a:solidFill>
          <a:ln w="12700">
            <a:solidFill>
              <a:srgbClr val="DFE4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7" name="Text 45"/>
          <p:cNvSpPr/>
          <p:nvPr/>
        </p:nvSpPr>
        <p:spPr>
          <a:xfrm>
            <a:off x="841248" y="5230368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응답을 2단계로 나눈다</a:t>
            </a:r>
            <a:endParaRPr lang="en-US" sz="1300" dirty="0"/>
          </a:p>
        </p:txBody>
      </p:sp>
      <p:sp>
        <p:nvSpPr>
          <p:cNvPr id="48" name="Text 46"/>
          <p:cNvSpPr/>
          <p:nvPr/>
        </p:nvSpPr>
        <p:spPr>
          <a:xfrm>
            <a:off x="841248" y="5522976"/>
            <a:ext cx="105064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2E37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1단계에서 일정을 먼저 내보내고, 화면이 그려진 뒤 실제 경로 좌표와 공식정보 검증을 채웁니다. 먼저 보고 싶은 것은 «어디를 가는가»지 «선이 정확한가»가 아닙니다.</a:t>
            </a:r>
            <a:endParaRPr lang="en-US" sz="1050" dirty="0"/>
          </a:p>
        </p:txBody>
      </p:sp>
      <p:sp>
        <p:nvSpPr>
          <p:cNvPr id="49" name="Shape 47"/>
          <p:cNvSpPr/>
          <p:nvPr/>
        </p:nvSpPr>
        <p:spPr>
          <a:xfrm>
            <a:off x="530352" y="6181344"/>
            <a:ext cx="11128248" cy="0"/>
          </a:xfrm>
          <a:prstGeom prst="line">
            <a:avLst/>
          </a:prstGeom>
          <a:noFill/>
          <a:ln w="12700">
            <a:solidFill>
              <a:srgbClr val="DFE4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0" name="Text 48"/>
          <p:cNvSpPr/>
          <p:nvPr/>
        </p:nvSpPr>
        <p:spPr>
          <a:xfrm>
            <a:off x="530352" y="6245352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100" dirty="0">
                <a:solidFill>
                  <a:srgbClr val="0F6E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출처</a:t>
            </a:r>
            <a:endParaRPr lang="en-US" sz="900" dirty="0"/>
          </a:p>
        </p:txBody>
      </p:sp>
      <p:sp>
        <p:nvSpPr>
          <p:cNvPr id="51" name="Text 49"/>
          <p:cNvSpPr/>
          <p:nvPr/>
        </p:nvSpPr>
        <p:spPr>
          <a:xfrm>
            <a:off x="1097280" y="6236208"/>
            <a:ext cx="105613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A92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docs/STRUCTURE.md 1단계 «요청을 받는다» ~ 10단계 «답변» · docs/ARCHITECTURE.md §11 «성능 · 비용 설계»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365760"/>
            <a:ext cx="4754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200" dirty="0">
                <a:solidFill>
                  <a:srgbClr val="8A92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02 · Agent Workflow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096512" y="365760"/>
            <a:ext cx="3840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200" dirty="0">
                <a:solidFill>
                  <a:srgbClr val="0F6E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Sequence 2 · 예외 경로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30352" y="640080"/>
            <a:ext cx="1112824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100" b="1" dirty="0">
                <a:solidFill>
                  <a:srgbClr val="1A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사용자 확인 — 멈추고, 남기고, 이어서 한다</a:t>
            </a:r>
            <a:endParaRPr lang="en-US" sz="3100" dirty="0"/>
          </a:p>
        </p:txBody>
      </p:sp>
      <p:sp>
        <p:nvSpPr>
          <p:cNvPr id="5" name="Text 3"/>
          <p:cNvSpPr/>
          <p:nvPr/>
        </p:nvSpPr>
        <p:spPr>
          <a:xfrm>
            <a:off x="530352" y="1225296"/>
            <a:ext cx="80192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2E37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경로가 성립하려면 그래프가 실제로 멈추고 상태가 저장돼야 합니다. UI 기능이 아니라 아키텍처 제약입니다.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530352" y="1773936"/>
            <a:ext cx="1671828" cy="786384"/>
          </a:xfrm>
          <a:prstGeom prst="roundRect">
            <a:avLst>
              <a:gd name="adj" fmla="val 4651"/>
            </a:avLst>
          </a:prstGeom>
          <a:solidFill>
            <a:srgbClr val="FBEEE0"/>
          </a:solidFill>
          <a:ln w="12700">
            <a:solidFill>
              <a:srgbClr val="A0641E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" name="Text 5"/>
          <p:cNvSpPr/>
          <p:nvPr/>
        </p:nvSpPr>
        <p:spPr>
          <a:xfrm>
            <a:off x="530352" y="1847088"/>
            <a:ext cx="16718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A0641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A8 결함 탐지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603504" y="2139696"/>
            <a:ext cx="15255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100"/>
              </a:lnSpc>
              <a:buNone/>
            </a:pPr>
            <a:r>
              <a:rPr lang="en-US" sz="850" dirty="0">
                <a:solidFill>
                  <a:srgbClr val="8A92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검사 결과를 결함으로 모은다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2229612" y="2167128"/>
            <a:ext cx="164592" cy="0"/>
          </a:xfrm>
          <a:prstGeom prst="line">
            <a:avLst/>
          </a:prstGeom>
          <a:noFill/>
          <a:ln w="15875">
            <a:solidFill>
              <a:srgbClr val="8A929C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Shape 8"/>
          <p:cNvSpPr/>
          <p:nvPr/>
        </p:nvSpPr>
        <p:spPr>
          <a:xfrm>
            <a:off x="2421636" y="1773936"/>
            <a:ext cx="1671828" cy="786384"/>
          </a:xfrm>
          <a:prstGeom prst="roundRect">
            <a:avLst>
              <a:gd name="adj" fmla="val 4651"/>
            </a:avLst>
          </a:prstGeom>
          <a:solidFill>
            <a:srgbClr val="FBEEE0"/>
          </a:solidFill>
          <a:ln w="12700">
            <a:solidFill>
              <a:srgbClr val="A0641E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Text 9"/>
          <p:cNvSpPr/>
          <p:nvPr/>
        </p:nvSpPr>
        <p:spPr>
          <a:xfrm>
            <a:off x="2421636" y="1847088"/>
            <a:ext cx="16718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A0641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분류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2494788" y="2139696"/>
            <a:ext cx="15255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100"/>
              </a:lnSpc>
              <a:buNone/>
            </a:pPr>
            <a:r>
              <a:rPr lang="en-US" sz="850" dirty="0">
                <a:solidFill>
                  <a:srgbClr val="8A92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자동 수정 / 사용자 판단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4120896" y="2167128"/>
            <a:ext cx="164592" cy="0"/>
          </a:xfrm>
          <a:prstGeom prst="line">
            <a:avLst/>
          </a:prstGeom>
          <a:noFill/>
          <a:ln w="15875">
            <a:solidFill>
              <a:srgbClr val="8A929C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4" name="Shape 12"/>
          <p:cNvSpPr/>
          <p:nvPr/>
        </p:nvSpPr>
        <p:spPr>
          <a:xfrm>
            <a:off x="4312920" y="1773936"/>
            <a:ext cx="1671828" cy="786384"/>
          </a:xfrm>
          <a:prstGeom prst="roundRect">
            <a:avLst>
              <a:gd name="adj" fmla="val 4651"/>
            </a:avLst>
          </a:prstGeom>
          <a:solidFill>
            <a:srgbClr val="FBEEE0"/>
          </a:solidFill>
          <a:ln w="12700">
            <a:solidFill>
              <a:srgbClr val="A0641E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5" name="Text 13"/>
          <p:cNvSpPr/>
          <p:nvPr/>
        </p:nvSpPr>
        <p:spPr>
          <a:xfrm>
            <a:off x="4312920" y="1847088"/>
            <a:ext cx="16718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A0641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그래프 정지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4386072" y="2139696"/>
            <a:ext cx="15255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100"/>
              </a:lnSpc>
              <a:buNone/>
            </a:pPr>
            <a:r>
              <a:rPr lang="en-US" sz="850" dirty="0">
                <a:solidFill>
                  <a:srgbClr val="8A92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실행을 멈춘다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6012180" y="2167128"/>
            <a:ext cx="164592" cy="0"/>
          </a:xfrm>
          <a:prstGeom prst="line">
            <a:avLst/>
          </a:prstGeom>
          <a:noFill/>
          <a:ln w="15875">
            <a:solidFill>
              <a:srgbClr val="8A929C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8" name="Shape 16"/>
          <p:cNvSpPr/>
          <p:nvPr/>
        </p:nvSpPr>
        <p:spPr>
          <a:xfrm>
            <a:off x="6204204" y="1773936"/>
            <a:ext cx="1671828" cy="786384"/>
          </a:xfrm>
          <a:prstGeom prst="roundRect">
            <a:avLst>
              <a:gd name="adj" fmla="val 4651"/>
            </a:avLst>
          </a:prstGeom>
          <a:solidFill>
            <a:srgbClr val="E7F1EB"/>
          </a:solidFill>
          <a:ln w="12700">
            <a:solidFill>
              <a:srgbClr val="2F6B4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9" name="Text 17"/>
          <p:cNvSpPr/>
          <p:nvPr/>
        </p:nvSpPr>
        <p:spPr>
          <a:xfrm>
            <a:off x="6204204" y="1847088"/>
            <a:ext cx="16718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2F6B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상태 저장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6277356" y="2139696"/>
            <a:ext cx="15255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100"/>
              </a:lnSpc>
              <a:buNone/>
            </a:pPr>
            <a:r>
              <a:rPr lang="en-US" sz="850" dirty="0">
                <a:solidFill>
                  <a:srgbClr val="8A92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정지 시점 전체를 남긴다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7903464" y="2167128"/>
            <a:ext cx="164592" cy="0"/>
          </a:xfrm>
          <a:prstGeom prst="line">
            <a:avLst/>
          </a:prstGeom>
          <a:noFill/>
          <a:ln w="15875">
            <a:solidFill>
              <a:srgbClr val="8A929C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2" name="Shape 20"/>
          <p:cNvSpPr/>
          <p:nvPr/>
        </p:nvSpPr>
        <p:spPr>
          <a:xfrm>
            <a:off x="8095488" y="1773936"/>
            <a:ext cx="1671828" cy="786384"/>
          </a:xfrm>
          <a:prstGeom prst="roundRect">
            <a:avLst>
              <a:gd name="adj" fmla="val 4651"/>
            </a:avLst>
          </a:prstGeom>
          <a:solidFill>
            <a:srgbClr val="F1F3F5"/>
          </a:solidFill>
          <a:ln w="12700">
            <a:solidFill>
              <a:srgbClr val="5A6472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3" name="Text 21"/>
          <p:cNvSpPr/>
          <p:nvPr/>
        </p:nvSpPr>
        <p:spPr>
          <a:xfrm>
            <a:off x="8095488" y="1847088"/>
            <a:ext cx="16718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5A64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사용자 선택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8168640" y="2139696"/>
            <a:ext cx="15255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100"/>
              </a:lnSpc>
              <a:buNone/>
            </a:pPr>
            <a:r>
              <a:rPr lang="en-US" sz="850" dirty="0">
                <a:solidFill>
                  <a:srgbClr val="8A92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카드에서 선택지 고르기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9794748" y="2167128"/>
            <a:ext cx="164592" cy="0"/>
          </a:xfrm>
          <a:prstGeom prst="line">
            <a:avLst/>
          </a:prstGeom>
          <a:noFill/>
          <a:ln w="15875">
            <a:solidFill>
              <a:srgbClr val="8A929C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6" name="Shape 24"/>
          <p:cNvSpPr/>
          <p:nvPr/>
        </p:nvSpPr>
        <p:spPr>
          <a:xfrm>
            <a:off x="9986772" y="1773936"/>
            <a:ext cx="1671828" cy="786384"/>
          </a:xfrm>
          <a:prstGeom prst="roundRect">
            <a:avLst>
              <a:gd name="adj" fmla="val 4651"/>
            </a:avLst>
          </a:prstGeom>
          <a:solidFill>
            <a:srgbClr val="E8EBF5"/>
          </a:solidFill>
          <a:ln w="12700">
            <a:solidFill>
              <a:srgbClr val="2E4374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7" name="Text 25"/>
          <p:cNvSpPr/>
          <p:nvPr/>
        </p:nvSpPr>
        <p:spPr>
          <a:xfrm>
            <a:off x="9986772" y="1847088"/>
            <a:ext cx="16718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2E437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재개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10059924" y="2139696"/>
            <a:ext cx="15255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100"/>
              </a:lnSpc>
              <a:buNone/>
            </a:pPr>
            <a:r>
              <a:rPr lang="en-US" sz="850" dirty="0">
                <a:solidFill>
                  <a:srgbClr val="8A92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정확히 그 지점부터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530352" y="2761488"/>
            <a:ext cx="11128248" cy="566928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12700">
            <a:solidFill>
              <a:srgbClr val="DFE4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0" name="Text 28"/>
          <p:cNvSpPr/>
          <p:nvPr/>
        </p:nvSpPr>
        <p:spPr>
          <a:xfrm>
            <a:off x="841248" y="2761488"/>
            <a:ext cx="1050645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A0641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선택에 따라 갈린다 — </a:t>
            </a:r>
            <a:r>
              <a:rPr lang="en-US" sz="1050" dirty="0">
                <a:solidFill>
                  <a:srgbClr val="2E37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«그대로 진행»만 골랐으면 확정으로 직행하고, 하나라도 변경을 골랐으면 편성계로 되돌아가 다시 만듭니다.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530352" y="3529584"/>
            <a:ext cx="111282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A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이 절차가 성립하기 위한 설계 제약</a:t>
            </a:r>
            <a:endParaRPr lang="en-US" sz="1500" dirty="0"/>
          </a:p>
        </p:txBody>
      </p:sp>
      <p:sp>
        <p:nvSpPr>
          <p:cNvPr id="32" name="Shape 30"/>
          <p:cNvSpPr/>
          <p:nvPr/>
        </p:nvSpPr>
        <p:spPr>
          <a:xfrm>
            <a:off x="530352" y="3877056"/>
            <a:ext cx="5486400" cy="749808"/>
          </a:xfrm>
          <a:prstGeom prst="roundRect">
            <a:avLst>
              <a:gd name="adj" fmla="val 4878"/>
            </a:avLst>
          </a:prstGeom>
          <a:solidFill>
            <a:srgbClr val="F7F9FA"/>
          </a:solidFill>
          <a:ln w="12700">
            <a:solidFill>
              <a:srgbClr val="DFE4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3" name="Text 31"/>
          <p:cNvSpPr/>
          <p:nvPr/>
        </p:nvSpPr>
        <p:spPr>
          <a:xfrm>
            <a:off x="749808" y="3968496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F6E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상태 영속화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2542032" y="3968496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정지 시점의 전체 상태를 저장한다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749808" y="4279392"/>
            <a:ext cx="5120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8A92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앱을 껐다 켜도 확인 카드가 살아 있다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6153912" y="3877056"/>
            <a:ext cx="5486400" cy="749808"/>
          </a:xfrm>
          <a:prstGeom prst="roundRect">
            <a:avLst>
              <a:gd name="adj" fmla="val 4878"/>
            </a:avLst>
          </a:prstGeom>
          <a:solidFill>
            <a:srgbClr val="FFFFFF"/>
          </a:solidFill>
          <a:ln w="12700">
            <a:solidFill>
              <a:srgbClr val="DFE4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7" name="Text 35"/>
          <p:cNvSpPr/>
          <p:nvPr/>
        </p:nvSpPr>
        <p:spPr>
          <a:xfrm>
            <a:off x="6373368" y="3968496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F6E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단일 상태 누적</a:t>
            </a:r>
            <a:endParaRPr lang="en-US" sz="1050" dirty="0"/>
          </a:p>
        </p:txBody>
      </p:sp>
      <p:sp>
        <p:nvSpPr>
          <p:cNvPr id="38" name="Text 36"/>
          <p:cNvSpPr/>
          <p:nvPr/>
        </p:nvSpPr>
        <p:spPr>
          <a:xfrm>
            <a:off x="8165592" y="3968496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중간 산출물이 전부 남아 있다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6373368" y="4279392"/>
            <a:ext cx="5120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8A92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«왜 이렇게 됐는지»를 재구성할 수 있다</a:t>
            </a:r>
            <a:endParaRPr lang="en-US" sz="950" dirty="0"/>
          </a:p>
        </p:txBody>
      </p:sp>
      <p:sp>
        <p:nvSpPr>
          <p:cNvPr id="40" name="Shape 38"/>
          <p:cNvSpPr/>
          <p:nvPr/>
        </p:nvSpPr>
        <p:spPr>
          <a:xfrm>
            <a:off x="530352" y="4736592"/>
            <a:ext cx="5486400" cy="749808"/>
          </a:xfrm>
          <a:prstGeom prst="roundRect">
            <a:avLst>
              <a:gd name="adj" fmla="val 4878"/>
            </a:avLst>
          </a:prstGeom>
          <a:solidFill>
            <a:srgbClr val="F7F9FA"/>
          </a:solidFill>
          <a:ln w="12700">
            <a:solidFill>
              <a:srgbClr val="DFE4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1" name="Text 39"/>
          <p:cNvSpPr/>
          <p:nvPr/>
        </p:nvSpPr>
        <p:spPr>
          <a:xfrm>
            <a:off x="749808" y="4828032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F6E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재편성 횟수 제한</a:t>
            </a:r>
            <a:endParaRPr lang="en-US" sz="1050" dirty="0"/>
          </a:p>
        </p:txBody>
      </p:sp>
      <p:sp>
        <p:nvSpPr>
          <p:cNvPr id="42" name="Text 40"/>
          <p:cNvSpPr/>
          <p:nvPr/>
        </p:nvSpPr>
        <p:spPr>
          <a:xfrm>
            <a:off x="2542032" y="4828032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되돌아가는 횟수에 상한을 둔다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749808" y="5138928"/>
            <a:ext cx="5120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8A92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선택 → 재편성 → 또 확인 의 무한 순환을 끊는다</a:t>
            </a:r>
            <a:endParaRPr lang="en-US" sz="950" dirty="0"/>
          </a:p>
        </p:txBody>
      </p:sp>
      <p:sp>
        <p:nvSpPr>
          <p:cNvPr id="44" name="Shape 42"/>
          <p:cNvSpPr/>
          <p:nvPr/>
        </p:nvSpPr>
        <p:spPr>
          <a:xfrm>
            <a:off x="6153912" y="4736592"/>
            <a:ext cx="5486400" cy="749808"/>
          </a:xfrm>
          <a:prstGeom prst="roundRect">
            <a:avLst>
              <a:gd name="adj" fmla="val 4878"/>
            </a:avLst>
          </a:prstGeom>
          <a:solidFill>
            <a:srgbClr val="FFFFFF"/>
          </a:solidFill>
          <a:ln w="12700">
            <a:solidFill>
              <a:srgbClr val="DFE4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5" name="Text 43"/>
          <p:cNvSpPr/>
          <p:nvPr/>
        </p:nvSpPr>
        <p:spPr>
          <a:xfrm>
            <a:off x="6373368" y="4828032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F6E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자동 · 수동 분리</a:t>
            </a:r>
            <a:endParaRPr lang="en-US" sz="1050" dirty="0"/>
          </a:p>
        </p:txBody>
      </p:sp>
      <p:sp>
        <p:nvSpPr>
          <p:cNvPr id="46" name="Text 44"/>
          <p:cNvSpPr/>
          <p:nvPr/>
        </p:nvSpPr>
        <p:spPr>
          <a:xfrm>
            <a:off x="8165592" y="4828032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고칠 수 있는 것은 묻지 않는다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6373368" y="5138928"/>
            <a:ext cx="5120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8A92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물음이 잦으면 사용자가 읽지 않게 된다</a:t>
            </a:r>
            <a:endParaRPr lang="en-US" sz="950" dirty="0"/>
          </a:p>
        </p:txBody>
      </p:sp>
      <p:sp>
        <p:nvSpPr>
          <p:cNvPr id="48" name="Shape 46"/>
          <p:cNvSpPr/>
          <p:nvPr/>
        </p:nvSpPr>
        <p:spPr>
          <a:xfrm>
            <a:off x="530352" y="5815584"/>
            <a:ext cx="11128248" cy="0"/>
          </a:xfrm>
          <a:prstGeom prst="line">
            <a:avLst/>
          </a:prstGeom>
          <a:noFill/>
          <a:ln w="12700">
            <a:solidFill>
              <a:srgbClr val="DFE4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9" name="Text 47"/>
          <p:cNvSpPr/>
          <p:nvPr/>
        </p:nvSpPr>
        <p:spPr>
          <a:xfrm>
            <a:off x="530352" y="5879592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100" dirty="0">
                <a:solidFill>
                  <a:srgbClr val="0F6E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출처</a:t>
            </a:r>
            <a:endParaRPr lang="en-US" sz="900" dirty="0"/>
          </a:p>
        </p:txBody>
      </p:sp>
      <p:sp>
        <p:nvSpPr>
          <p:cNvPr id="50" name="Text 48"/>
          <p:cNvSpPr/>
          <p:nvPr/>
        </p:nvSpPr>
        <p:spPr>
          <a:xfrm>
            <a:off x="1097280" y="5870448"/>
            <a:ext cx="105613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A92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docs/STRUCTURE.md 7단계 «사람에게 묻는다» · docs/ARCHITECTURE.md §8 «Human-in-the-loop과 설명가능성» · docs/REQUIREMENTS.md UR-13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365760"/>
            <a:ext cx="4754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200" dirty="0">
                <a:solidFill>
                  <a:srgbClr val="8A92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03 · System Architecture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096512" y="365760"/>
            <a:ext cx="3840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200" dirty="0">
                <a:solidFill>
                  <a:srgbClr val="0F6E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System Diagram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30352" y="640080"/>
            <a:ext cx="1112824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100" b="1" dirty="0">
                <a:solidFill>
                  <a:srgbClr val="1A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전체 시스템 아키텍처</a:t>
            </a:r>
            <a:endParaRPr lang="en-US" sz="3100" dirty="0"/>
          </a:p>
        </p:txBody>
      </p:sp>
      <p:sp>
        <p:nvSpPr>
          <p:cNvPr id="5" name="Text 3"/>
          <p:cNvSpPr/>
          <p:nvPr/>
        </p:nvSpPr>
        <p:spPr>
          <a:xfrm>
            <a:off x="530352" y="1225296"/>
            <a:ext cx="80192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2E37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React Native · FastAPI · LangGraph · PostgreSQL · 외부 API 가 어디서 실행되고 무엇으로 연결되는가.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530352" y="1719072"/>
            <a:ext cx="11128248" cy="621792"/>
          </a:xfrm>
          <a:prstGeom prst="roundRect">
            <a:avLst>
              <a:gd name="adj" fmla="val 5882"/>
            </a:avLst>
          </a:prstGeom>
          <a:solidFill>
            <a:srgbClr val="F7F9FA"/>
          </a:solidFill>
          <a:ln w="12700">
            <a:solidFill>
              <a:srgbClr val="DFE4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" name="Text 5"/>
          <p:cNvSpPr/>
          <p:nvPr/>
        </p:nvSpPr>
        <p:spPr>
          <a:xfrm>
            <a:off x="786384" y="1773936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클라이언트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2633472" y="1792224"/>
            <a:ext cx="2103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0F6E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React Native (Expo)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786384" y="2029968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E37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타임라인 · 지도 · 확인 카드 · 캘린더 · 아카이브 — 사용자 기기에서 실행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8092440" y="2011680"/>
            <a:ext cx="3291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i="1" dirty="0">
                <a:solidFill>
                  <a:srgbClr val="8A92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지도 렌더링은 클라이언트 책임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1810512" y="2340864"/>
            <a:ext cx="0" cy="237744"/>
          </a:xfrm>
          <a:prstGeom prst="line">
            <a:avLst/>
          </a:prstGeom>
          <a:noFill/>
          <a:ln w="15875">
            <a:solidFill>
              <a:srgbClr val="0F6E78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2" name="Text 10"/>
          <p:cNvSpPr/>
          <p:nvPr/>
        </p:nvSpPr>
        <p:spPr>
          <a:xfrm>
            <a:off x="1993392" y="2359152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8A92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HTTPS · 스트리밍 (응답 + 확인 이벤트)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530352" y="2633472"/>
            <a:ext cx="11128248" cy="2029968"/>
          </a:xfrm>
          <a:prstGeom prst="roundRect">
            <a:avLst>
              <a:gd name="adj" fmla="val 1802"/>
            </a:avLst>
          </a:prstGeom>
          <a:solidFill>
            <a:srgbClr val="FFFFFF"/>
          </a:solidFill>
          <a:ln w="12700">
            <a:solidFill>
              <a:srgbClr val="8A929C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4" name="Text 12"/>
          <p:cNvSpPr/>
          <p:nvPr/>
        </p:nvSpPr>
        <p:spPr>
          <a:xfrm>
            <a:off x="731520" y="2679192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8A92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서버 런타임 — MVP 는 컨테이너 하나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731520" y="2926080"/>
            <a:ext cx="10725912" cy="438912"/>
          </a:xfrm>
          <a:prstGeom prst="roundRect">
            <a:avLst>
              <a:gd name="adj" fmla="val 6250"/>
            </a:avLst>
          </a:prstGeom>
          <a:solidFill>
            <a:srgbClr val="F7F9FA"/>
          </a:solidFill>
          <a:ln w="12700">
            <a:solidFill>
              <a:srgbClr val="DFE4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6" name="Text 14"/>
          <p:cNvSpPr/>
          <p:nvPr/>
        </p:nvSpPr>
        <p:spPr>
          <a:xfrm>
            <a:off x="914400" y="2926080"/>
            <a:ext cx="1371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FastAPI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2450592" y="2926080"/>
            <a:ext cx="5486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E37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요청 접수 · 스트리밍 · 2단계 보강 호출 · 일정 보관 조회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8001000" y="2926080"/>
            <a:ext cx="3383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i="1" dirty="0">
                <a:solidFill>
                  <a:srgbClr val="8A92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얇은 계층 — 그래프를 호출만 한다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1901952" y="3364992"/>
            <a:ext cx="0" cy="182880"/>
          </a:xfrm>
          <a:prstGeom prst="line">
            <a:avLst/>
          </a:prstGeom>
          <a:noFill/>
          <a:ln w="15875">
            <a:solidFill>
              <a:srgbClr val="8A929C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0" name="Shape 18"/>
          <p:cNvSpPr/>
          <p:nvPr/>
        </p:nvSpPr>
        <p:spPr>
          <a:xfrm>
            <a:off x="731520" y="3547872"/>
            <a:ext cx="10725912" cy="987552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A0641E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1" name="Text 19"/>
          <p:cNvSpPr/>
          <p:nvPr/>
        </p:nvSpPr>
        <p:spPr>
          <a:xfrm>
            <a:off x="914400" y="3584448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LangGraph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2542032" y="3602736"/>
            <a:ext cx="4937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E37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오케스트레이션 — 실행 순서 · 분기 · 정지/재개 · 상태 병합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7754112" y="3639312"/>
            <a:ext cx="100584" cy="100584"/>
          </a:xfrm>
          <a:prstGeom prst="ellipse">
            <a:avLst/>
          </a:prstGeom>
          <a:solidFill>
            <a:srgbClr val="0F6E78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4" name="Text 22"/>
          <p:cNvSpPr/>
          <p:nvPr/>
        </p:nvSpPr>
        <p:spPr>
          <a:xfrm>
            <a:off x="7900416" y="3584448"/>
            <a:ext cx="7863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E37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탐색계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8686800" y="3639312"/>
            <a:ext cx="100584" cy="100584"/>
          </a:xfrm>
          <a:prstGeom prst="ellipse">
            <a:avLst/>
          </a:prstGeom>
          <a:solidFill>
            <a:srgbClr val="2E4374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6" name="Text 24"/>
          <p:cNvSpPr/>
          <p:nvPr/>
        </p:nvSpPr>
        <p:spPr>
          <a:xfrm>
            <a:off x="8833104" y="3584448"/>
            <a:ext cx="7863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E37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편성계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9619488" y="3639312"/>
            <a:ext cx="100584" cy="100584"/>
          </a:xfrm>
          <a:prstGeom prst="ellipse">
            <a:avLst/>
          </a:prstGeom>
          <a:solidFill>
            <a:srgbClr val="A0641E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8" name="Text 26"/>
          <p:cNvSpPr/>
          <p:nvPr/>
        </p:nvSpPr>
        <p:spPr>
          <a:xfrm>
            <a:off x="9765792" y="3584448"/>
            <a:ext cx="7863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E37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검증계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10552176" y="3639312"/>
            <a:ext cx="100584" cy="100584"/>
          </a:xfrm>
          <a:prstGeom prst="ellipse">
            <a:avLst/>
          </a:prstGeom>
          <a:solidFill>
            <a:srgbClr val="2F6B4F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0" name="Text 28"/>
          <p:cNvSpPr/>
          <p:nvPr/>
        </p:nvSpPr>
        <p:spPr>
          <a:xfrm>
            <a:off x="10698480" y="3584448"/>
            <a:ext cx="7863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E37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학습계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914400" y="3913632"/>
            <a:ext cx="1078992" cy="292608"/>
          </a:xfrm>
          <a:prstGeom prst="roundRect">
            <a:avLst>
              <a:gd name="adj" fmla="val 9375"/>
            </a:avLst>
          </a:prstGeom>
          <a:solidFill>
            <a:srgbClr val="F1F3F5"/>
          </a:solidFill>
          <a:ln w="12700">
            <a:solidFill>
              <a:srgbClr val="5A6472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2" name="Text 30"/>
          <p:cNvSpPr/>
          <p:nvPr/>
        </p:nvSpPr>
        <p:spPr>
          <a:xfrm>
            <a:off x="914400" y="3913632"/>
            <a:ext cx="10789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5A64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Router</a:t>
            </a:r>
            <a:r>
              <a:rPr lang="en-US" sz="750" dirty="0">
                <a:solidFill>
                  <a:srgbClr val="5A64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(A1)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2066544" y="3913632"/>
            <a:ext cx="1078992" cy="292608"/>
          </a:xfrm>
          <a:prstGeom prst="roundRect">
            <a:avLst>
              <a:gd name="adj" fmla="val 9375"/>
            </a:avLst>
          </a:prstGeom>
          <a:solidFill>
            <a:srgbClr val="E6F2F3"/>
          </a:solidFill>
          <a:ln w="12700">
            <a:solidFill>
              <a:srgbClr val="0F6E7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4" name="Text 32"/>
          <p:cNvSpPr/>
          <p:nvPr/>
        </p:nvSpPr>
        <p:spPr>
          <a:xfrm>
            <a:off x="2066544" y="3913632"/>
            <a:ext cx="10789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F6E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Preference</a:t>
            </a:r>
            <a:r>
              <a:rPr lang="en-US" sz="750" dirty="0">
                <a:solidFill>
                  <a:srgbClr val="0F6E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(A2)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218688" y="3913632"/>
            <a:ext cx="1078992" cy="292608"/>
          </a:xfrm>
          <a:prstGeom prst="roundRect">
            <a:avLst>
              <a:gd name="adj" fmla="val 9375"/>
            </a:avLst>
          </a:prstGeom>
          <a:solidFill>
            <a:srgbClr val="E6F2F3"/>
          </a:solidFill>
          <a:ln w="12700">
            <a:solidFill>
              <a:srgbClr val="0F6E7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6" name="Text 34"/>
          <p:cNvSpPr/>
          <p:nvPr/>
        </p:nvSpPr>
        <p:spPr>
          <a:xfrm>
            <a:off x="3218688" y="3913632"/>
            <a:ext cx="10789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F6E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Culture</a:t>
            </a:r>
            <a:r>
              <a:rPr lang="en-US" sz="750" dirty="0">
                <a:solidFill>
                  <a:srgbClr val="0F6E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(A3)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370832" y="3913632"/>
            <a:ext cx="1078992" cy="292608"/>
          </a:xfrm>
          <a:prstGeom prst="roundRect">
            <a:avLst>
              <a:gd name="adj" fmla="val 9375"/>
            </a:avLst>
          </a:prstGeom>
          <a:solidFill>
            <a:srgbClr val="E6F2F3"/>
          </a:solidFill>
          <a:ln w="12700">
            <a:solidFill>
              <a:srgbClr val="0F6E7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8" name="Text 36"/>
          <p:cNvSpPr/>
          <p:nvPr/>
        </p:nvSpPr>
        <p:spPr>
          <a:xfrm>
            <a:off x="4370832" y="3913632"/>
            <a:ext cx="10789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F6E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Verifier</a:t>
            </a:r>
            <a:r>
              <a:rPr lang="en-US" sz="750" dirty="0">
                <a:solidFill>
                  <a:srgbClr val="0F6E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(A4)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5522976" y="3913632"/>
            <a:ext cx="1078992" cy="292608"/>
          </a:xfrm>
          <a:prstGeom prst="roundRect">
            <a:avLst>
              <a:gd name="adj" fmla="val 9375"/>
            </a:avLst>
          </a:prstGeom>
          <a:solidFill>
            <a:srgbClr val="E8EBF5"/>
          </a:solidFill>
          <a:ln w="12700">
            <a:solidFill>
              <a:srgbClr val="2E4374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0" name="Text 38"/>
          <p:cNvSpPr/>
          <p:nvPr/>
        </p:nvSpPr>
        <p:spPr>
          <a:xfrm>
            <a:off x="5522976" y="3913632"/>
            <a:ext cx="10789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2E437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Planner</a:t>
            </a:r>
            <a:r>
              <a:rPr lang="en-US" sz="750" dirty="0">
                <a:solidFill>
                  <a:srgbClr val="2E437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(A5)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6675120" y="3913632"/>
            <a:ext cx="1078992" cy="292608"/>
          </a:xfrm>
          <a:prstGeom prst="roundRect">
            <a:avLst>
              <a:gd name="adj" fmla="val 9375"/>
            </a:avLst>
          </a:prstGeom>
          <a:solidFill>
            <a:srgbClr val="E8EBF5"/>
          </a:solidFill>
          <a:ln w="12700">
            <a:solidFill>
              <a:srgbClr val="2E4374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2" name="Text 40"/>
          <p:cNvSpPr/>
          <p:nvPr/>
        </p:nvSpPr>
        <p:spPr>
          <a:xfrm>
            <a:off x="6675120" y="3913632"/>
            <a:ext cx="10789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2E437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Route</a:t>
            </a:r>
            <a:r>
              <a:rPr lang="en-US" sz="750" dirty="0">
                <a:solidFill>
                  <a:srgbClr val="2E437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(A6)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7827264" y="3913632"/>
            <a:ext cx="1078992" cy="292608"/>
          </a:xfrm>
          <a:prstGeom prst="roundRect">
            <a:avLst>
              <a:gd name="adj" fmla="val 9375"/>
            </a:avLst>
          </a:prstGeom>
          <a:solidFill>
            <a:srgbClr val="E8EBF5"/>
          </a:solidFill>
          <a:ln w="12700">
            <a:solidFill>
              <a:srgbClr val="2E4374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4" name="Text 42"/>
          <p:cNvSpPr/>
          <p:nvPr/>
        </p:nvSpPr>
        <p:spPr>
          <a:xfrm>
            <a:off x="7827264" y="3913632"/>
            <a:ext cx="10789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2E437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Gap</a:t>
            </a:r>
            <a:r>
              <a:rPr lang="en-US" sz="750" dirty="0">
                <a:solidFill>
                  <a:srgbClr val="2E437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(A7)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8979408" y="3913632"/>
            <a:ext cx="1078992" cy="292608"/>
          </a:xfrm>
          <a:prstGeom prst="roundRect">
            <a:avLst>
              <a:gd name="adj" fmla="val 9375"/>
            </a:avLst>
          </a:prstGeom>
          <a:solidFill>
            <a:srgbClr val="FBEEE0"/>
          </a:solidFill>
          <a:ln w="12700">
            <a:solidFill>
              <a:srgbClr val="A0641E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6" name="Text 44"/>
          <p:cNvSpPr/>
          <p:nvPr/>
        </p:nvSpPr>
        <p:spPr>
          <a:xfrm>
            <a:off x="8979408" y="3913632"/>
            <a:ext cx="10789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A0641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Guardian</a:t>
            </a:r>
            <a:r>
              <a:rPr lang="en-US" sz="750" dirty="0">
                <a:solidFill>
                  <a:srgbClr val="A0641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(A8)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10131552" y="3913632"/>
            <a:ext cx="1078992" cy="292608"/>
          </a:xfrm>
          <a:prstGeom prst="roundRect">
            <a:avLst>
              <a:gd name="adj" fmla="val 9375"/>
            </a:avLst>
          </a:prstGeom>
          <a:solidFill>
            <a:srgbClr val="E7F1EB"/>
          </a:solidFill>
          <a:ln w="12700">
            <a:solidFill>
              <a:srgbClr val="2F6B4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8" name="Text 46"/>
          <p:cNvSpPr/>
          <p:nvPr/>
        </p:nvSpPr>
        <p:spPr>
          <a:xfrm>
            <a:off x="10131552" y="3913632"/>
            <a:ext cx="10789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2F6B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Memory</a:t>
            </a:r>
            <a:r>
              <a:rPr lang="en-US" sz="750" dirty="0">
                <a:solidFill>
                  <a:srgbClr val="2F6B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(A9)</a:t>
            </a:r>
            <a:endParaRPr lang="en-US" sz="900" dirty="0"/>
          </a:p>
        </p:txBody>
      </p:sp>
      <p:sp>
        <p:nvSpPr>
          <p:cNvPr id="49" name="Text 47"/>
          <p:cNvSpPr/>
          <p:nvPr/>
        </p:nvSpPr>
        <p:spPr>
          <a:xfrm>
            <a:off x="914400" y="4242816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8A92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공유 상태 — 모든 산출물이 여기 누적되고, 정지 시 통째로 저장된다</a:t>
            </a:r>
            <a:endParaRPr lang="en-US" sz="950" dirty="0"/>
          </a:p>
        </p:txBody>
      </p:sp>
      <p:sp>
        <p:nvSpPr>
          <p:cNvPr id="50" name="Shape 48"/>
          <p:cNvSpPr/>
          <p:nvPr/>
        </p:nvSpPr>
        <p:spPr>
          <a:xfrm>
            <a:off x="530352" y="4956048"/>
            <a:ext cx="5486400" cy="841248"/>
          </a:xfrm>
          <a:prstGeom prst="roundRect">
            <a:avLst>
              <a:gd name="adj" fmla="val 4348"/>
            </a:avLst>
          </a:prstGeom>
          <a:solidFill>
            <a:srgbClr val="F7F9FA"/>
          </a:solidFill>
          <a:ln w="12700">
            <a:solidFill>
              <a:srgbClr val="DFE4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1" name="Text 49"/>
          <p:cNvSpPr/>
          <p:nvPr/>
        </p:nvSpPr>
        <p:spPr>
          <a:xfrm>
            <a:off x="768096" y="5029200"/>
            <a:ext cx="4937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PostgreSQL + pgvector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768096" y="5285232"/>
            <a:ext cx="5029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E37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아카이브(방문 · 수정 행동) · 확정 일정 · 장소 · 벡터 인덱스 · 정지 지점</a:t>
            </a:r>
            <a:endParaRPr lang="en-US" sz="950" dirty="0"/>
          </a:p>
        </p:txBody>
      </p:sp>
      <p:sp>
        <p:nvSpPr>
          <p:cNvPr id="53" name="Text 51"/>
          <p:cNvSpPr/>
          <p:nvPr/>
        </p:nvSpPr>
        <p:spPr>
          <a:xfrm>
            <a:off x="768096" y="5486400"/>
            <a:ext cx="5029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8A92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DB 에 두는 이유 — 개인화가 조인 한 번으로 성립한다</a:t>
            </a:r>
            <a:endParaRPr lang="en-US" sz="950" dirty="0"/>
          </a:p>
        </p:txBody>
      </p:sp>
      <p:sp>
        <p:nvSpPr>
          <p:cNvPr id="54" name="Shape 52"/>
          <p:cNvSpPr/>
          <p:nvPr/>
        </p:nvSpPr>
        <p:spPr>
          <a:xfrm>
            <a:off x="6153912" y="4956048"/>
            <a:ext cx="5486400" cy="841248"/>
          </a:xfrm>
          <a:prstGeom prst="roundRect">
            <a:avLst>
              <a:gd name="adj" fmla="val 4348"/>
            </a:avLst>
          </a:prstGeom>
          <a:solidFill>
            <a:srgbClr val="F7F9FA"/>
          </a:solidFill>
          <a:ln w="12700">
            <a:solidFill>
              <a:srgbClr val="DFE4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5" name="Text 53"/>
          <p:cNvSpPr/>
          <p:nvPr/>
        </p:nvSpPr>
        <p:spPr>
          <a:xfrm>
            <a:off x="6391656" y="5029200"/>
            <a:ext cx="4937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외부 API 10종</a:t>
            </a:r>
            <a:endParaRPr lang="en-US" sz="1300" dirty="0"/>
          </a:p>
        </p:txBody>
      </p:sp>
      <p:sp>
        <p:nvSpPr>
          <p:cNvPr id="56" name="Text 54"/>
          <p:cNvSpPr/>
          <p:nvPr/>
        </p:nvSpPr>
        <p:spPr>
          <a:xfrm>
            <a:off x="6391656" y="5285232"/>
            <a:ext cx="5029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E37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문화 콘텐츠 · 지도/경로 · 날씨 · 웹검색 · AI 모델</a:t>
            </a:r>
            <a:endParaRPr lang="en-US" sz="950" dirty="0"/>
          </a:p>
        </p:txBody>
      </p:sp>
      <p:sp>
        <p:nvSpPr>
          <p:cNvPr id="57" name="Text 55"/>
          <p:cNvSpPr/>
          <p:nvPr/>
        </p:nvSpPr>
        <p:spPr>
          <a:xfrm>
            <a:off x="6391656" y="5486400"/>
            <a:ext cx="5029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8A92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전부 «없어도 서비스가 성립»해야 한다 — 필수 경로에 두지 않는다</a:t>
            </a:r>
            <a:endParaRPr lang="en-US" sz="950" dirty="0"/>
          </a:p>
        </p:txBody>
      </p:sp>
      <p:sp>
        <p:nvSpPr>
          <p:cNvPr id="58" name="Shape 56"/>
          <p:cNvSpPr/>
          <p:nvPr/>
        </p:nvSpPr>
        <p:spPr>
          <a:xfrm>
            <a:off x="2816352" y="4663440"/>
            <a:ext cx="0" cy="274320"/>
          </a:xfrm>
          <a:prstGeom prst="line">
            <a:avLst/>
          </a:prstGeom>
          <a:noFill/>
          <a:ln w="15875">
            <a:solidFill>
              <a:srgbClr val="8A929C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9" name="Shape 57"/>
          <p:cNvSpPr/>
          <p:nvPr/>
        </p:nvSpPr>
        <p:spPr>
          <a:xfrm>
            <a:off x="8577072" y="4663440"/>
            <a:ext cx="0" cy="274320"/>
          </a:xfrm>
          <a:prstGeom prst="line">
            <a:avLst/>
          </a:prstGeom>
          <a:noFill/>
          <a:ln w="15875">
            <a:solidFill>
              <a:srgbClr val="8A929C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0" name="Shape 58"/>
          <p:cNvSpPr/>
          <p:nvPr/>
        </p:nvSpPr>
        <p:spPr>
          <a:xfrm>
            <a:off x="530352" y="5907024"/>
            <a:ext cx="11128248" cy="0"/>
          </a:xfrm>
          <a:prstGeom prst="line">
            <a:avLst/>
          </a:prstGeom>
          <a:noFill/>
          <a:ln w="12700">
            <a:solidFill>
              <a:srgbClr val="DFE4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1" name="Text 59"/>
          <p:cNvSpPr/>
          <p:nvPr/>
        </p:nvSpPr>
        <p:spPr>
          <a:xfrm>
            <a:off x="530352" y="5971032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100" dirty="0">
                <a:solidFill>
                  <a:srgbClr val="0F6E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출처</a:t>
            </a:r>
            <a:endParaRPr lang="en-US" sz="900" dirty="0"/>
          </a:p>
        </p:txBody>
      </p:sp>
      <p:sp>
        <p:nvSpPr>
          <p:cNvPr id="62" name="Text 60"/>
          <p:cNvSpPr/>
          <p:nvPr/>
        </p:nvSpPr>
        <p:spPr>
          <a:xfrm>
            <a:off x="1097280" y="5961888"/>
            <a:ext cx="105613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A92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docs/ARCHITECTURE.md §2 «시스템 구성» 기술 스택 표 · docs/STRUCTURE.md §1 «요청을 받는다» · §12 «외부 의존»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365760"/>
            <a:ext cx="4754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200" dirty="0">
                <a:solidFill>
                  <a:srgbClr val="8A92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03 · System Architecture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096512" y="365760"/>
            <a:ext cx="3840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200" dirty="0">
                <a:solidFill>
                  <a:srgbClr val="0F6E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Layer Contracts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30352" y="640080"/>
            <a:ext cx="1112824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100" b="1" dirty="0">
                <a:solidFill>
                  <a:srgbClr val="1A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각 계층이 지는 책임과 넘기지 않는 것</a:t>
            </a:r>
            <a:endParaRPr lang="en-US" sz="3100" dirty="0"/>
          </a:p>
        </p:txBody>
      </p:sp>
      <p:sp>
        <p:nvSpPr>
          <p:cNvPr id="5" name="Text 3"/>
          <p:cNvSpPr/>
          <p:nvPr/>
        </p:nvSpPr>
        <p:spPr>
          <a:xfrm>
            <a:off x="530352" y="1225296"/>
            <a:ext cx="80192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2E37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계층을 나눈 목적은 «바꾸고 싶을 때 어디를 여는가»를 하나로 정하는 것입니다.</a:t>
            </a:r>
            <a:endParaRPr lang="en-US" sz="125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30352" y="1755648"/>
          <a:ext cx="11128248" cy="2852928"/>
        </p:xfrm>
        <a:graphic>
          <a:graphicData uri="http://schemas.openxmlformats.org/drawingml/2006/table">
            <a:tbl>
              <a:tblPr/>
              <a:tblGrid>
                <a:gridCol w="1737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114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0175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25856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7548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kern="0" spc="100" dirty="0">
                          <a:solidFill>
                            <a:srgbClr val="8A929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계층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DF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kern="0" spc="100" dirty="0">
                          <a:solidFill>
                            <a:srgbClr val="8A929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책임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DF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kern="0" spc="100" dirty="0">
                          <a:solidFill>
                            <a:srgbClr val="8A929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넘기지 않는 것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DF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kern="0" spc="100" dirty="0">
                          <a:solidFill>
                            <a:srgbClr val="8A929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교체 시 영향 범위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DF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1A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React Native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DF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F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2E374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화면 · 지도 렌더링 · 입력 수집 · 오프라인 캐시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DF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F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A0641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일정 계산 · 장소 선택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DF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F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8A929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앱만 — 서버 계약 불변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DF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F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1A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FastAPI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DF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F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2E374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요청 접수 · 스트리밍 · 세션 식별 · 일정 보관 조회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DF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F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A0641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판단 전부 (무엇을 갈지 · 언제 갈지)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DF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F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8A929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웹 계층만 — 그래프 불변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DF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F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1A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LangGraph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DF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F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2E374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실행 순서 · 분기 · 정지/재개 · 상태 병합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DF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F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A0641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외부 API 직접 호출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DF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F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8A929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오케스트레이션만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DF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F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1A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도구 계층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DF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F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2E374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외부 호출 · 타임아웃 · 캐시 · 폴백 · 응답 정규화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DF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F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A0641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무엇을 고를지의 판단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DF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F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8A929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그 도구를 쓰는 Agent 만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DF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F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1A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PostgreSQL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DF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F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2E374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사실 · 계획 · 경험 · 벡터 · 정지 지점 보관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DF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F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A0641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비즈니스 규칙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DF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F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8A929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저장 계층만 — 채널 정의 불변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DF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F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530352" y="4626864"/>
            <a:ext cx="11128248" cy="914400"/>
          </a:xfrm>
          <a:prstGeom prst="roundRect">
            <a:avLst>
              <a:gd name="adj" fmla="val 4000"/>
            </a:avLst>
          </a:prstGeom>
          <a:solidFill>
            <a:srgbClr val="F7F9FA"/>
          </a:solidFill>
          <a:ln w="12700">
            <a:solidFill>
              <a:srgbClr val="DFE4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" name="Text 5"/>
          <p:cNvSpPr/>
          <p:nvPr/>
        </p:nvSpPr>
        <p:spPr>
          <a:xfrm>
            <a:off x="841248" y="4718304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모델도 계층 뒤에 둔다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841248" y="4992624"/>
            <a:ext cx="105064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2E37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발화 이해와 판정용 모델은 제공자 추상화 뒤에 있어 교체해도 그래프가 바뀌지 않습니다. 다만 임베딩만은 저장된 벡터 차원과 묶여 있어, 바꾸려면 기존 임베딩을 함께 다시 만들어야 합니다.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530352" y="5669280"/>
            <a:ext cx="11128248" cy="0"/>
          </a:xfrm>
          <a:prstGeom prst="line">
            <a:avLst/>
          </a:prstGeom>
          <a:noFill/>
          <a:ln w="12700">
            <a:solidFill>
              <a:srgbClr val="DFE4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Text 8"/>
          <p:cNvSpPr/>
          <p:nvPr/>
        </p:nvSpPr>
        <p:spPr>
          <a:xfrm>
            <a:off x="530352" y="5733288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100" dirty="0">
                <a:solidFill>
                  <a:srgbClr val="0F6E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출처</a:t>
            </a:r>
            <a:endParaRPr lang="en-US" sz="900" dirty="0"/>
          </a:p>
        </p:txBody>
      </p:sp>
      <p:sp>
        <p:nvSpPr>
          <p:cNvPr id="12" name="Text 9"/>
          <p:cNvSpPr/>
          <p:nvPr/>
        </p:nvSpPr>
        <p:spPr>
          <a:xfrm>
            <a:off x="1097280" y="5724144"/>
            <a:ext cx="105613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A92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docs/ARCHITECTURE.md §2 «기술 스택» · §11 «성능 · 비용 설계» · docs/STRUCTURE.md §12 «외부 의존» 규칙 문단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365760"/>
            <a:ext cx="4754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200" dirty="0">
                <a:solidFill>
                  <a:srgbClr val="8A92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03 · System Architecture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096512" y="365760"/>
            <a:ext cx="3840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200" dirty="0">
                <a:solidFill>
                  <a:srgbClr val="0F6E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Runtime Deployment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30352" y="640080"/>
            <a:ext cx="1112824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100" b="1" dirty="0">
                <a:solidFill>
                  <a:srgbClr val="1A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어디서 실행되는가</a:t>
            </a:r>
            <a:endParaRPr lang="en-US" sz="3100" dirty="0"/>
          </a:p>
        </p:txBody>
      </p:sp>
      <p:sp>
        <p:nvSpPr>
          <p:cNvPr id="5" name="Text 3"/>
          <p:cNvSpPr/>
          <p:nvPr/>
        </p:nvSpPr>
        <p:spPr>
          <a:xfrm>
            <a:off x="530352" y="1225296"/>
            <a:ext cx="80192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2E37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논리 구조와 물리 배치는 다릅니다. MVP 와 정식 운영의 배치를 함께 정해 둡니다.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530352" y="1755648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00" dirty="0">
                <a:solidFill>
                  <a:srgbClr val="0F6E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MVP 배치 — 지금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30352" y="2084832"/>
            <a:ext cx="5394960" cy="402336"/>
          </a:xfrm>
          <a:prstGeom prst="roundRect">
            <a:avLst>
              <a:gd name="adj" fmla="val 6818"/>
            </a:avLst>
          </a:prstGeom>
          <a:solidFill>
            <a:srgbClr val="F7F9FA"/>
          </a:solidFill>
          <a:ln w="12700">
            <a:solidFill>
              <a:srgbClr val="DFE4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" name="Text 6"/>
          <p:cNvSpPr/>
          <p:nvPr/>
        </p:nvSpPr>
        <p:spPr>
          <a:xfrm>
            <a:off x="713232" y="2084832"/>
            <a:ext cx="5029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E37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사용자 기기 — React Native 앱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530352" y="2615184"/>
            <a:ext cx="5394960" cy="512064"/>
          </a:xfrm>
          <a:prstGeom prst="roundRect">
            <a:avLst>
              <a:gd name="adj" fmla="val 5357"/>
            </a:avLst>
          </a:prstGeom>
          <a:solidFill>
            <a:srgbClr val="FFFFFF"/>
          </a:solidFill>
          <a:ln w="12700">
            <a:solidFill>
              <a:srgbClr val="0F6E7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Text 8"/>
          <p:cNvSpPr/>
          <p:nvPr/>
        </p:nvSpPr>
        <p:spPr>
          <a:xfrm>
            <a:off x="713232" y="2660904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F6E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컨테이너 1개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713232" y="2880360"/>
            <a:ext cx="5029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8A92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FastAPI + LangGraph + PostgreSQL(pgvector) 를 한 컨테이너에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566928" y="3310128"/>
            <a:ext cx="5303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0F6E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＋ 운영 부담 최소화 · 데모 환경 재현이 쉽다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566928" y="3566160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400"/>
              </a:lnSpc>
              <a:buNone/>
            </a:pPr>
            <a:r>
              <a:rPr lang="en-US" sz="1000" dirty="0">
                <a:solidFill>
                  <a:srgbClr val="A0641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－ DB 장애가 곧 전체 장애. 수평 확장 불가. 정식 운영 전에 분리해야 한다.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6245352" y="1755648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00" dirty="0">
                <a:solidFill>
                  <a:srgbClr val="A0641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정식 운영 배치 — 다음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45352" y="2084832"/>
            <a:ext cx="5394960" cy="402336"/>
          </a:xfrm>
          <a:prstGeom prst="roundRect">
            <a:avLst>
              <a:gd name="adj" fmla="val 6818"/>
            </a:avLst>
          </a:prstGeom>
          <a:solidFill>
            <a:srgbClr val="F7F9FA"/>
          </a:solidFill>
          <a:ln w="12700">
            <a:solidFill>
              <a:srgbClr val="DFE4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6" name="Text 14"/>
          <p:cNvSpPr/>
          <p:nvPr/>
        </p:nvSpPr>
        <p:spPr>
          <a:xfrm>
            <a:off x="6428232" y="2084832"/>
            <a:ext cx="5029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E37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사용자 기기 — React Native 앱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245352" y="2615184"/>
            <a:ext cx="5394960" cy="512064"/>
          </a:xfrm>
          <a:prstGeom prst="roundRect">
            <a:avLst>
              <a:gd name="adj" fmla="val 5357"/>
            </a:avLst>
          </a:prstGeom>
          <a:solidFill>
            <a:srgbClr val="FFFFFF"/>
          </a:solidFill>
          <a:ln w="12700">
            <a:solidFill>
              <a:srgbClr val="A0641E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8" name="Text 16"/>
          <p:cNvSpPr/>
          <p:nvPr/>
        </p:nvSpPr>
        <p:spPr>
          <a:xfrm>
            <a:off x="6428232" y="2660904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A0641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API + 그래프 ×N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6428232" y="2880360"/>
            <a:ext cx="5029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8A92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요청량에 따라 늘린다 — 상태를 안 들고 있어 복제가 가능하다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6245352" y="3218688"/>
            <a:ext cx="5394960" cy="512064"/>
          </a:xfrm>
          <a:prstGeom prst="roundRect">
            <a:avLst>
              <a:gd name="adj" fmla="val 5357"/>
            </a:avLst>
          </a:prstGeom>
          <a:solidFill>
            <a:srgbClr val="FFFFFF"/>
          </a:solidFill>
          <a:ln w="12700">
            <a:solidFill>
              <a:srgbClr val="A0641E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1" name="Text 19"/>
          <p:cNvSpPr/>
          <p:nvPr/>
        </p:nvSpPr>
        <p:spPr>
          <a:xfrm>
            <a:off x="6428232" y="3264408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A0641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PostgreSQL (독립)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6428232" y="3483864"/>
            <a:ext cx="5029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8A92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정지 지점 · 아카이브 · 벡터를 함께 — 개인화 조인을 유지한다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6281928" y="3913632"/>
            <a:ext cx="5303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0F6E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＋ 수평 확장 · 장애 격리 · 무중단 배포가 가능해진다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6281928" y="4169664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400"/>
              </a:lnSpc>
              <a:buNone/>
            </a:pPr>
            <a:r>
              <a:rPr lang="en-US" sz="1000" dirty="0">
                <a:solidFill>
                  <a:srgbClr val="A0641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－ 전환 조건 — 동시 사용자가 늘거나, DB 장애가 서비스 전체를 멈추는 것을 감당할 수 없을 때.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530352" y="5760720"/>
            <a:ext cx="11128248" cy="0"/>
          </a:xfrm>
          <a:prstGeom prst="line">
            <a:avLst/>
          </a:prstGeom>
          <a:noFill/>
          <a:ln w="12700">
            <a:solidFill>
              <a:srgbClr val="DFE4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6" name="Text 24"/>
          <p:cNvSpPr/>
          <p:nvPr/>
        </p:nvSpPr>
        <p:spPr>
          <a:xfrm>
            <a:off x="530352" y="5824728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100" dirty="0">
                <a:solidFill>
                  <a:srgbClr val="0F6E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출처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1097280" y="5815584"/>
            <a:ext cx="105613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A92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docs/ARCHITECTURE.md §2 «배포» · docs/PROGRESS.md §3 우선순위 3 «DB 분리 검토» · docs/SETUP.md §3 «실행»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365760"/>
            <a:ext cx="4754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200" dirty="0">
                <a:solidFill>
                  <a:srgbClr val="8A92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03 · System Architecture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096512" y="365760"/>
            <a:ext cx="3840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200" dirty="0">
                <a:solidFill>
                  <a:srgbClr val="0F6E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External Integration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30352" y="640080"/>
            <a:ext cx="1112824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100" b="1" dirty="0">
                <a:solidFill>
                  <a:srgbClr val="1A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외부 API 는 도구 계층을 통해서만 닿는다</a:t>
            </a:r>
            <a:endParaRPr lang="en-US" sz="3100" dirty="0"/>
          </a:p>
        </p:txBody>
      </p:sp>
      <p:sp>
        <p:nvSpPr>
          <p:cNvPr id="5" name="Text 3"/>
          <p:cNvSpPr/>
          <p:nvPr/>
        </p:nvSpPr>
        <p:spPr>
          <a:xfrm>
            <a:off x="530352" y="1225296"/>
            <a:ext cx="80192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2E37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Agent 가 직접 부르지 않습니다. 타임아웃 · 캐시 · 폴백을 한 곳에 모아야 Agent 가 판단에만 집중합니다.</a:t>
            </a:r>
            <a:endParaRPr lang="en-US" sz="125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30352" y="1755648"/>
          <a:ext cx="11128248" cy="3621024"/>
        </p:xfrm>
        <a:graphic>
          <a:graphicData uri="http://schemas.openxmlformats.org/drawingml/2006/table">
            <a:tbl>
              <a:tblPr/>
              <a:tblGrid>
                <a:gridCol w="1828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945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91032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2918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kern="0" spc="100" dirty="0">
                          <a:solidFill>
                            <a:srgbClr val="8A929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용도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DF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kern="0" spc="100" dirty="0">
                          <a:solidFill>
                            <a:srgbClr val="8A929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제공자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DF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kern="0" spc="100" dirty="0">
                          <a:solidFill>
                            <a:srgbClr val="8A929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호출 Agent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DF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kern="0" spc="100" dirty="0">
                          <a:solidFill>
                            <a:srgbClr val="8A929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캐시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DF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kern="0" spc="100" dirty="0">
                          <a:solidFill>
                            <a:srgbClr val="8A929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없으면 — 폴백 동작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DF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1A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좌표 확정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DF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F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2E374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지도 지오코딩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DF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F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0F6E7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A1 · A3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DF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F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8A929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장기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DF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F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2E374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좌표 없으면 후보 자격 상실 — 필수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DF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F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1A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문화 행사 · 시설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DF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F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2E374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공공 문화 API 2종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DF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F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0F6E7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A3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DF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F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8A929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중기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DF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F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2E374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웹검색 · 내장 카탈로그로 대체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DF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F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1A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주변 장소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DF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F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2E374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지역 검색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DF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F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0F6E7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A3 · A7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DF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F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8A929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중기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DF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F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2E374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상시공간 · 식당 추천이 빈다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DF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F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1A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자동차 경로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DF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F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2E374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지도 경로 API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DF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F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0F6E7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A6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DF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F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8A929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단기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DF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F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2E374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거리 기반 추정 + «추정» 표시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DF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F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1A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도보 · 자전거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DF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F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2E374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경로 API (무료)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DF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F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0F6E7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A6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DF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F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8A929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단기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DF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F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2E374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거리 기반 추정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DF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F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1A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지하철 · 버스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DF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F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2E374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대중교통 API (무료)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DF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F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0F6E7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A6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DF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F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8A929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단기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DF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F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2E374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거리 기반 추정 · 노선 선형 없음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DF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F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1A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날씨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DF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F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2E374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기상청 예보 · 실황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DF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F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0F6E7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A5 · A8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DF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F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8A929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단기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DF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F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2E374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날씨 보정 없이 편성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DF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F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1A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공식정보 검증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DF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F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2E374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웹 검색 2종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DF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F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0F6E7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A4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DF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F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8A929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중기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DF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F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2E374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전부 «확인 필요» 표시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DF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F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1A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발화 이해 · 판정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DF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F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2E374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대화 모델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DF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F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0F6E7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A1 · A2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DF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F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8A929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없음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DF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F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2E374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규칙 파서로 진행 — 정확도만 낮아진다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DF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F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1A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임베딩 · 재순위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DF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F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2E374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임베딩 · 재순위 모델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DF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F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0F6E7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A2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DF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F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8A929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없음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DF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F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2E374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아카이브 검색 불가 — 개인화가 꺼진다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DF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F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530352" y="5431536"/>
            <a:ext cx="11128248" cy="603504"/>
          </a:xfrm>
          <a:prstGeom prst="roundRect">
            <a:avLst>
              <a:gd name="adj" fmla="val 6061"/>
            </a:avLst>
          </a:prstGeom>
          <a:solidFill>
            <a:srgbClr val="F7F9FA"/>
          </a:solidFill>
          <a:ln w="12700">
            <a:solidFill>
              <a:srgbClr val="DFE4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" name="Text 5"/>
          <p:cNvSpPr/>
          <p:nvPr/>
        </p:nvSpPr>
        <p:spPr>
          <a:xfrm>
            <a:off x="841248" y="5431536"/>
            <a:ext cx="1050645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F6E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계층이 담당하는 것 — </a:t>
            </a:r>
            <a:r>
              <a:rPr lang="en-US" sz="1050" dirty="0">
                <a:solidFill>
                  <a:srgbClr val="2E37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타임아웃 · TTL 캐시 · 폴백 · 응답 정규화 · 쿼터 보호. 그리고 «남은 예산»을 보고 호출을 미리 포기할지 결정합니다.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530352" y="6144768"/>
            <a:ext cx="11128248" cy="0"/>
          </a:xfrm>
          <a:prstGeom prst="line">
            <a:avLst/>
          </a:prstGeom>
          <a:noFill/>
          <a:ln w="12700">
            <a:solidFill>
              <a:srgbClr val="DFE4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Text 7"/>
          <p:cNvSpPr/>
          <p:nvPr/>
        </p:nvSpPr>
        <p:spPr>
          <a:xfrm>
            <a:off x="530352" y="6208776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100" dirty="0">
                <a:solidFill>
                  <a:srgbClr val="0F6E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출처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1097280" y="6199632"/>
            <a:ext cx="105613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A92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docs/SETUP.md §1 «키 목록 한눈에» (용도 · 없으면) · docs/STRUCTURE.md §12 «외부 의존» · §13 «예산»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365760"/>
            <a:ext cx="4754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200" dirty="0">
                <a:solidFill>
                  <a:srgbClr val="8A92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NEXT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096512" y="365760"/>
            <a:ext cx="3840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200" dirty="0">
                <a:solidFill>
                  <a:srgbClr val="0F6E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다음 설계의 입력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30352" y="640080"/>
            <a:ext cx="1112824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100" b="1" dirty="0">
                <a:solidFill>
                  <a:srgbClr val="1A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이 문서가 확정한 것이 다음 설계의 입력이 된다</a:t>
            </a:r>
            <a:endParaRPr lang="en-US" sz="3100" dirty="0"/>
          </a:p>
        </p:txBody>
      </p:sp>
      <p:sp>
        <p:nvSpPr>
          <p:cNvPr id="5" name="Text 3"/>
          <p:cNvSpPr/>
          <p:nvPr/>
        </p:nvSpPr>
        <p:spPr>
          <a:xfrm>
            <a:off x="530352" y="1225296"/>
            <a:ext cx="80192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2E37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 축이 정해졌으므로 DB 와 API 설계를 근거 있게 시작할 수 있습니다.</a:t>
            </a:r>
            <a:endParaRPr lang="en-US" sz="125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30352" y="1755648"/>
          <a:ext cx="11128248" cy="2743200"/>
        </p:xfrm>
        <a:graphic>
          <a:graphicData uri="http://schemas.openxmlformats.org/drawingml/2006/table">
            <a:tbl>
              <a:tblPr/>
              <a:tblGrid>
                <a:gridCol w="2743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2062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17880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kern="0" spc="100" dirty="0">
                          <a:solidFill>
                            <a:srgbClr val="8A929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이 문서의 산출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DF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kern="0" spc="100" dirty="0">
                          <a:solidFill>
                            <a:srgbClr val="8A929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DB 설계로 넘어가는 것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DF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kern="0" spc="100" dirty="0">
                          <a:solidFill>
                            <a:srgbClr val="8A929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API 설계로 넘어가는 것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DF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1A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Agent 출력 채널 9종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DF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F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2E374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각 채널의 영속화 대상 · 테이블 후보 · 인덱스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DF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F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2E374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응답 페이로드 구조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DF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F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1A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Agent 입력 정의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DF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F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2E374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조회 패턴 → 인덱스 설계 근거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DF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F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2E374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요청 스키마 · 필수 · 선택 구분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DF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F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1A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정지 · 재개 절차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DF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F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2E374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정지 지점 보관 방식 · 보존 기간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DF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F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2E374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확인 · 재개 엔드포인트 계약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DF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F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1A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실행 경로 7종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DF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F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2E374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요청 유형별 조회 부하 예측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DF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F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2E374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엔드포인트 분리 기준 · 오류 계약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DF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F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1A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계층 계약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DF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F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2E374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저장 계층이 알아도 되는 것의 경계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DF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F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2E374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인증 · 세션 식별 위치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DF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F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530352" y="4663440"/>
            <a:ext cx="11128248" cy="914400"/>
          </a:xfrm>
          <a:prstGeom prst="roundRect">
            <a:avLst>
              <a:gd name="adj" fmla="val 4000"/>
            </a:avLst>
          </a:prstGeom>
          <a:solidFill>
            <a:srgbClr val="F7F9FA"/>
          </a:solidFill>
          <a:ln w="12700">
            <a:solidFill>
              <a:srgbClr val="DFE4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" name="Text 5"/>
          <p:cNvSpPr/>
          <p:nvPr/>
        </p:nvSpPr>
        <p:spPr>
          <a:xfrm>
            <a:off x="841248" y="4754880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아직 열려 있는 것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841248" y="5029200"/>
            <a:ext cx="105064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2E37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개인 제약 자동 산출(도보 · 환승 상한이 아직 전 사용자 공통 상수) · 장소 데이터 보강(지방 커버리지) · 기록 자동 유도(선순환의 «기록» 진입점). 우선순위는 docs/PROGRESS.md §3 에 있습니다.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530352" y="5705856"/>
            <a:ext cx="11128248" cy="0"/>
          </a:xfrm>
          <a:prstGeom prst="line">
            <a:avLst/>
          </a:prstGeom>
          <a:noFill/>
          <a:ln w="12700">
            <a:solidFill>
              <a:srgbClr val="DFE4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Text 8"/>
          <p:cNvSpPr/>
          <p:nvPr/>
        </p:nvSpPr>
        <p:spPr>
          <a:xfrm>
            <a:off x="530352" y="5769864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100" dirty="0">
                <a:solidFill>
                  <a:srgbClr val="0F6E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출처</a:t>
            </a:r>
            <a:endParaRPr lang="en-US" sz="900" dirty="0"/>
          </a:p>
        </p:txBody>
      </p:sp>
      <p:sp>
        <p:nvSpPr>
          <p:cNvPr id="12" name="Text 9"/>
          <p:cNvSpPr/>
          <p:nvPr/>
        </p:nvSpPr>
        <p:spPr>
          <a:xfrm>
            <a:off x="1097280" y="5760720"/>
            <a:ext cx="105613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A92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docs/PROGRESS.md §3 «남은 일» · docs/REQUIREMENTS.md §3.5 «상태를 포함한 UR 목록» · docs/ARCHITECTURE.md §14 «확장 로드맵»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31A2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841248"/>
            <a:ext cx="111282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0F6E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SUMMARY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30352" y="1133856"/>
            <a:ext cx="1112824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확정한 세 가지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30352" y="2084832"/>
            <a:ext cx="3520440" cy="0"/>
          </a:xfrm>
          <a:prstGeom prst="line">
            <a:avLst/>
          </a:prstGeom>
          <a:noFill/>
          <a:ln w="19050">
            <a:solidFill>
              <a:srgbClr val="0F6E7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Text 3"/>
          <p:cNvSpPr/>
          <p:nvPr/>
        </p:nvSpPr>
        <p:spPr>
          <a:xfrm>
            <a:off x="530352" y="2176272"/>
            <a:ext cx="3520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kern="0" spc="200" dirty="0">
                <a:solidFill>
                  <a:srgbClr val="0F6E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530352" y="2395728"/>
            <a:ext cx="3520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Agent 역할 정의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530352" y="2743200"/>
            <a:ext cx="3520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F6E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기획안 4종 → 설계 9종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30352" y="3054096"/>
            <a:ext cx="35204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100" dirty="0">
                <a:solidFill>
                  <a:srgbClr val="C9D2D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책임 · 입력 · 출력 · 하지 않는 일까지 계약으로 고정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270248" y="2084832"/>
            <a:ext cx="3520440" cy="0"/>
          </a:xfrm>
          <a:prstGeom prst="line">
            <a:avLst/>
          </a:prstGeom>
          <a:noFill/>
          <a:ln w="19050">
            <a:solidFill>
              <a:srgbClr val="2E4374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Text 8"/>
          <p:cNvSpPr/>
          <p:nvPr/>
        </p:nvSpPr>
        <p:spPr>
          <a:xfrm>
            <a:off x="4270248" y="2176272"/>
            <a:ext cx="3520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kern="0" spc="200" dirty="0">
                <a:solidFill>
                  <a:srgbClr val="2E437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4270248" y="2395728"/>
            <a:ext cx="3520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Agent Workflow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4270248" y="2743200"/>
            <a:ext cx="3520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E437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흐름 · 7개 경로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270248" y="3054096"/>
            <a:ext cx="35204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100" dirty="0">
                <a:solidFill>
                  <a:srgbClr val="C9D2D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협업은 공유 상태로만. 정지와 재개가 구조로 성립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8010144" y="2084832"/>
            <a:ext cx="3520440" cy="0"/>
          </a:xfrm>
          <a:prstGeom prst="line">
            <a:avLst/>
          </a:prstGeom>
          <a:noFill/>
          <a:ln w="19050">
            <a:solidFill>
              <a:srgbClr val="A0641E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5" name="Text 13"/>
          <p:cNvSpPr/>
          <p:nvPr/>
        </p:nvSpPr>
        <p:spPr>
          <a:xfrm>
            <a:off x="8010144" y="2176272"/>
            <a:ext cx="3520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kern="0" spc="200" dirty="0">
                <a:solidFill>
                  <a:srgbClr val="A0641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03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8010144" y="2395728"/>
            <a:ext cx="3520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System Architecture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8010144" y="2743200"/>
            <a:ext cx="3520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A0641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5계층 · 외부 10종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8010144" y="3054096"/>
            <a:ext cx="35204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100" dirty="0">
                <a:solidFill>
                  <a:srgbClr val="C9D2D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계층마다 «넘기지 않는 것»과 교체 영향 범위를 못 박음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530352" y="3986784"/>
            <a:ext cx="11128248" cy="1133856"/>
          </a:xfrm>
          <a:prstGeom prst="roundRect">
            <a:avLst>
              <a:gd name="adj" fmla="val 3226"/>
            </a:avLst>
          </a:prstGeom>
          <a:solidFill>
            <a:srgbClr val="1C2632"/>
          </a:solidFill>
          <a:ln w="12700">
            <a:solidFill>
              <a:srgbClr val="2A3644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0" name="Text 18"/>
          <p:cNvSpPr/>
          <p:nvPr/>
        </p:nvSpPr>
        <p:spPr>
          <a:xfrm>
            <a:off x="859536" y="4114800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kern="0" spc="100" dirty="0">
                <a:solidFill>
                  <a:srgbClr val="0F6E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문장으로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859536" y="4389120"/>
            <a:ext cx="104698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900"/>
              </a:lnSpc>
              <a:buNone/>
            </a:pPr>
            <a:r>
              <a:rPr lang="en-US" sz="13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«한 Agent 가 두 가지 책임을 지지 않는다»와 «따로 실패할 수 있다»를 기준으로 나눈 결과가 9종이고, 이 아홉은 서로를 부르지 않고 공유 상태로만 협업합니다.</a:t>
            </a:r>
            <a:endParaRPr lang="en-US" sz="1350" dirty="0"/>
          </a:p>
        </p:txBody>
      </p:sp>
      <p:sp>
        <p:nvSpPr>
          <p:cNvPr id="22" name="Text 20"/>
          <p:cNvSpPr/>
          <p:nvPr/>
        </p:nvSpPr>
        <p:spPr>
          <a:xfrm>
            <a:off x="530352" y="5303520"/>
            <a:ext cx="111282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AAB3B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다음 — 이 문서의 Agent 출력 채널과 Workflow 경계를 입력으로 DB 설계와 API 설계를 진행합니다.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530352" y="5760720"/>
            <a:ext cx="111282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8A92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근거 문서 — culturemate/docs : ARCHITECTURE.md · FUNCTIONAL_MAP.md · PROGRESS.md · REQUIREMENTS.md · SETUP.md · STRUCTURE.md</a:t>
            </a:r>
            <a:endParaRPr lang="en-US" sz="1050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B7659163-5B9D-C297-F316-55F23C908612}"/>
              </a:ext>
            </a:extLst>
          </p:cNvPr>
          <p:cNvSpPr txBox="1"/>
          <p:nvPr/>
        </p:nvSpPr>
        <p:spPr>
          <a:xfrm>
            <a:off x="9384030" y="5875020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4096</Words>
  <Application>Microsoft Office PowerPoint</Application>
  <PresentationFormat>와이드스크린</PresentationFormat>
  <Paragraphs>685</Paragraphs>
  <Slides>19</Slides>
  <Notes>19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19</vt:i4>
      </vt:variant>
    </vt:vector>
  </HeadingPairs>
  <TitlesOfParts>
    <vt:vector size="23" baseType="lpstr">
      <vt:lpstr>Malgun Gothic</vt:lpstr>
      <vt:lpstr>Arial</vt:lpstr>
      <vt:lpstr>Cambria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MOBIDIC Architecture 설계서</dc:title>
  <dc:subject>PptxGenJS Presentation</dc:subject>
  <dc:creator>CulturePilot</dc:creator>
  <cp:lastModifiedBy>ChaeUng Lim</cp:lastModifiedBy>
  <cp:revision>2</cp:revision>
  <dcterms:created xsi:type="dcterms:W3CDTF">2026-08-17T13:10:01Z</dcterms:created>
  <dcterms:modified xsi:type="dcterms:W3CDTF">2026-08-17T13:18:12Z</dcterms:modified>
</cp:coreProperties>
</file>