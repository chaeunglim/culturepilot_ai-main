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책임 · 협업 흐름 · 시스템 구성 세 가지만 다룬다. DB 설계와 API 설계는 다음 단계다.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389888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1773936"/>
            <a:ext cx="11128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MOBIDIC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30352" y="2395728"/>
            <a:ext cx="11128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설계서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30352" y="3218688"/>
            <a:ext cx="11128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아카이브 기반 AI 문화생활 일정 · 동선 서비스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4041648"/>
            <a:ext cx="3255264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13308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43708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역할 정의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" y="471830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결정하는가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87952" y="4041648"/>
            <a:ext cx="3255264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413308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87952" y="43708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87952" y="471830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45552" y="4041648"/>
            <a:ext cx="3255264" cy="0"/>
          </a:xfrm>
          <a:prstGeom prst="line">
            <a:avLst/>
          </a:prstGeom>
          <a:noFill/>
          <a:ln w="19050">
            <a:solidFill>
              <a:srgbClr val="A064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413308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45552" y="43708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845552" y="471830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5358384"/>
            <a:ext cx="11128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5596128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3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culturemate/docs — PLANNING · ARCHITECTURE · STRUCTURE · REQUIREMENTS · FUNCTIONAL_MAP · PROGRESS · TEST (10개 문서) + 소스 전량 재확인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First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기획안 Agent 4종 → 설계 9종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«7종에 캘린더를 더하면 8종인가?» — 아닙니다. 캘린더는 Agent 가 아니고, 빠진 것은 따로 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" y="1847088"/>
            <a:ext cx="3538728" cy="2615184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121408"/>
            <a:ext cx="384048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23113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캘린더는 Agent 가 아니다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688336"/>
            <a:ext cx="3026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하지 않습니다. 확정된 일정을 저장하고 날짜로 다시 꺼내 화면에 그리는 일입니다. 무엇을 보여줄지는 이미 Planner(A5)가 정한 결과입니다.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3730752"/>
            <a:ext cx="3026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로 세면 «화면 수 = Agent 수»가 되어 기준이 무너집니다.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0248" y="1847088"/>
            <a:ext cx="3538728" cy="2615184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121408"/>
            <a:ext cx="384048" cy="0"/>
          </a:xfrm>
          <a:prstGeom prst="line">
            <a:avLst/>
          </a:prstGeom>
          <a:noFill/>
          <a:ln w="25400">
            <a:solidFill>
              <a:srgbClr val="2F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23113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빠진 것은 «기록 · 학습»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688336"/>
            <a:ext cx="3026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3.1 Agent 목록에 없습니다. 그런데 본문이 서비스의 핵심이라 말하는 «경험 기억형 개인화»의 주체가 바로 이것입니다.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3730752"/>
            <a:ext cx="3026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코드에도 실재합니다 — 확정 시점에 수정 행동을 남기고 취향을 다시 만듭니다.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1847088"/>
            <a:ext cx="3538728" cy="2615184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2121408"/>
            <a:ext cx="384048" cy="0"/>
          </a:xfrm>
          <a:prstGeom prst="line">
            <a:avLst/>
          </a:prstGeom>
          <a:noFill/>
          <a:ln w="25400">
            <a:solidFill>
              <a:srgbClr val="A064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223113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 4 → 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66176" y="2688336"/>
            <a:ext cx="3026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4종을 책임 단위로 쪼개면 8종. 여기에 기획안이 이름 붙이지 않은 Memory(A9)를 더해 9종입니다.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66176" y="3730752"/>
            <a:ext cx="3026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7종으로 줄이려면 Verifier(A4)를 Culture(A3)에, Gap(A7)을 Planner(A5)에 접어야 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" y="4700016"/>
            <a:ext cx="11128248" cy="841248"/>
          </a:xfrm>
          <a:prstGeom prst="roundRect">
            <a:avLst>
              <a:gd name="adj" fmla="val 4348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00016"/>
            <a:ext cx="10396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4종</a:t>
            </a:r>
            <a:pPr indent="0" marL="0">
              <a:buNone/>
            </a:pPr>
            <a:r>
              <a:rPr lang="en-US" sz="1500" dirty="0">
                <a:solidFill>
                  <a:srgbClr val="DFE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단위 분할 8종</a:t>
            </a:r>
            <a:pPr indent="0" marL="0">
              <a:buNone/>
            </a:pPr>
            <a:r>
              <a:rPr lang="en-US" sz="1500" dirty="0">
                <a:solidFill>
                  <a:srgbClr val="DFE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+   </a:t>
            </a:r>
            <a:pPr indent="0" marL="0">
              <a:buNone/>
            </a:pPr>
            <a:r>
              <a:rPr lang="en-US" sz="17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미기재 1종</a:t>
            </a:r>
            <a:pPr indent="0" marL="0">
              <a:buNone/>
            </a:pPr>
            <a:r>
              <a:rPr lang="en-US" sz="1500" dirty="0">
                <a:solidFill>
                  <a:srgbClr val="DFE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=   </a:t>
            </a:r>
            <a:pPr indent="0" marL="0">
              <a:buNone/>
            </a:pPr>
            <a:r>
              <a:rPr lang="en-US" sz="22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9종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30352" y="5687568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760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" y="5751576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«캘린더» = 확정 일정 저장·조회 기능(UR-28) · docs/PLANNING.md §7 · docs/REQUIREMENTS.md §3.5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3856" y="5961888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«기록·학습» = 수정 행동 기록과 취향 재집계(UR-09 · UR-01) · docs/PROGRESS.md §2 · docs/HANDOFF.md §0.1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48132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DESIGN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84708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0352" y="2596896"/>
            <a:ext cx="11128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결정하는가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0352" y="3054096"/>
            <a:ext cx="1112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기획안은 Agent 이름을 나열합니다. 설계는 «한 Agent 가 두 책임을 지고 있지 않은가»를 먼저 따집니다.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판정 기준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와 도구를 가르는 세 가지 조건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9768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9768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도출 근거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39768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4종이 왜 9종이 되는가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49184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9184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책임 · 입력 · 출력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49184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별 계약과 구현 위치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Agent 로 셀 것인가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모두 만족해야 Agent 입니다. 하나라도 빠지면 도구(Tool)이거나 저장소(Store)입니다.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" y="1883664"/>
            <a:ext cx="11128248" cy="1115568"/>
          </a:xfrm>
          <a:prstGeom prst="roundRect">
            <a:avLst>
              <a:gd name="adj" fmla="val 3279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44752" y="2048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자기 결정을 한다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44752" y="241401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받아 «무엇을 할지»를 스스로 정합니다. 조회하거나 형태만 바꾸면 도구입니다.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62672" y="2084832"/>
            <a:ext cx="3721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조건이 없으면 날씨 API 도 Agent 가 되고, Agent 수는 곧 파일 수가 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3182112"/>
            <a:ext cx="1112824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44752" y="33467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독립된 입력 · 출력 계약이 있다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44752" y="37124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것을 받아 정해진 산출물을 공유 상태에 남깁니다. 다른 Agent 를 직접 호출하지 않습니다.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62672" y="3383280"/>
            <a:ext cx="3721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조건이 없으면 두 Agent 가 같은 자리를 서로 덮어써 병렬 실행이 불가능해집니다.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4480560"/>
            <a:ext cx="11128248" cy="1115568"/>
          </a:xfrm>
          <a:prstGeom prst="roundRect">
            <a:avLst>
              <a:gd name="adj" fmla="val 3279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00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44752" y="46451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혼자 실패해도 나머지가 성립한다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44752" y="501091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Agent 가 통째로 멈춰도 축소된 결과가 나옵니다.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62672" y="4681728"/>
            <a:ext cx="3721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조건이 없으면 외부 API 하나가 흔들릴 때 서비스 전체가 멈춥니다.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6291072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먼저 고정하지 않으면 Agent 수는 세는 사람에 따라 달라집니다. 이 문서의 9종은 위 세 조건의 결과입니다.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Derivation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기획안 Agent 4종을 설계 9종으로 나눈다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기준은 «기능이 다르다»가 아니라 «따로 실패할 수 있는가» 입니다.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847088"/>
          <a:ext cx="111282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54096"/>
                <a:gridCol w="822960"/>
                <a:gridCol w="578815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 3.1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— 소스에서 확인한 것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64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Router(A1)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책임이 하나입니다 — 요청을 이해하고 어떤 Agent 를 깨울지 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Search 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Preference(A2) · Culture(A3)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06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 ×2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찾는 곳이 다릅니다(개인 기록 ↔ 외부 정보). 둘은 같은 단계에서 동시에 돌아, 한 덩어리로는 실행 자체가 불가능합니다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Validation 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06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Verifier(A4) · Guardian(A8)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06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 ×2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«장소가 실재하는가»와 «이 일정이 성립하는가»는 다른 판정입니다. 전자는 탐색 단계에서, 후자는 편성이 끝난 뒤에 일어납니다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Planning 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437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Planner(A5) · Route(A6) · Gap(A7)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06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 ×3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«동선 알고리즘» 한마디에 순서·시각 편성 / 구간 이동 실측 / 빈 시간 채우기가 섞여 있습니다. 셋은 자료 출처도 실패 방식도 다릅니다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(없음)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Memory(A9)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 Agent 목록에는 없지만 본문이 핵심이라 말한 «경험 기억형 개인화»의 주체입니다. 사용자의 수정 행동을 남기고 취향을 다시 만듭니다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5541264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56144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" y="5605272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3.1 «멀티 에이전트 구조(LangGraph)» 4역할 · docs/PLANNING.md §7 «Agent 이름 대응»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33856" y="5815584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«동시에 돈다» = 병렬 슈퍼스텝 · «탐색 단계» = discovery · «편성이 끝난 뒤» = validation · docs/ARCHITECTURE.md §3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Responsibility Matrix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9종 — 책임 · 입력 · 출력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Agent 는 «입력을 받아 정해진 산출물을 남긴다»는 계약만 지킵니다.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65392" y="1371600"/>
            <a:ext cx="109728" cy="109728"/>
          </a:xfrm>
          <a:prstGeom prst="ellipse">
            <a:avLst/>
          </a:prstGeom>
          <a:solidFill>
            <a:srgbClr val="5A6472"/>
          </a:solidFill>
          <a:ln/>
        </p:spPr>
      </p:sp>
      <p:sp>
        <p:nvSpPr>
          <p:cNvPr id="7" name="Text 5"/>
          <p:cNvSpPr/>
          <p:nvPr/>
        </p:nvSpPr>
        <p:spPr>
          <a:xfrm>
            <a:off x="6729984" y="13167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71232" y="1371600"/>
            <a:ext cx="109728" cy="10972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9" name="Text 7"/>
          <p:cNvSpPr/>
          <p:nvPr/>
        </p:nvSpPr>
        <p:spPr>
          <a:xfrm>
            <a:off x="7735824" y="13167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77072" y="1371600"/>
            <a:ext cx="109728" cy="109728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8741664" y="13167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82912" y="1371600"/>
            <a:ext cx="109728" cy="109728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13" name="Text 11"/>
          <p:cNvSpPr/>
          <p:nvPr/>
        </p:nvSpPr>
        <p:spPr>
          <a:xfrm>
            <a:off x="9747504" y="13167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88752" y="1371600"/>
            <a:ext cx="109728" cy="109728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53344" y="13167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18470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05456" y="18470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— 한 문장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08192" y="18470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59952" y="18470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(공유 상태에 남기는 것)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2157984"/>
            <a:ext cx="11128248" cy="342900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1945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F1F3F5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1945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(A1)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05456" y="21579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발화를 실행 계획으로 바꾼다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08192" y="21579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발화 · 화면 입력값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59952" y="21579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 · 실행 계획 · 여행 조건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" y="25374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5374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</a:t>
            </a:r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(A2)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05456" y="25008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기록에서 취향과 불편 신호를 뽑는다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08192" y="25008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여행 조건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59952" y="25008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조각 · 취향 프로필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" y="2843784"/>
            <a:ext cx="11128248" cy="342900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28803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28803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</a:t>
            </a:r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(A3)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05456" y="28437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장소 후보군을 만든다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08192" y="28437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 (지역 · 날짜 · 좌표)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59952" y="28437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" y="32232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2232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(A4)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505456" y="31866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실재하는지 공식 정보로 가른다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08192" y="31866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59952" y="31866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등급 · 확인 근거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" y="3529584"/>
            <a:ext cx="11128248" cy="342900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" y="35661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35661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pPr algn="ctr"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(A5)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505456" y="35295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시각 · 체류시간을 확정한다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08192" y="35295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취향 · 이동시간 · 운영시간 · 날씨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759952" y="35295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0352" y="39090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9090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pPr algn="ctr"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(A6)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505456" y="38724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구간별 실제 이동시간과 수단을 확정한다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08192" y="38724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일정 항목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759952" y="38724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소요시간 · 거리 · 경로 선형 · 요금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0352" y="4215384"/>
            <a:ext cx="11128248" cy="342900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0352" y="42519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42519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pPr algn="ctr"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(A7)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505456" y="42153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 자리를 잡고 빈 시간을 채운다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108192" y="42153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중 일정 · 빈틈 · 기준 좌표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759952" y="42153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후보 · 삽입된 일정 항목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30352" y="45948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45948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</a:t>
            </a:r>
            <a:pPr algn="ctr" indent="0" marL="0">
              <a:buNone/>
            </a:pPr>
            <a:r>
              <a:rPr lang="en-US" sz="90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(A8)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505456" y="45582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결함을 찾아 «물을 것»을 고른다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108192" y="45582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과거 경험 조각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759952" y="45582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목록 · 확인 카드 · 정지 신호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30352" y="4901184"/>
            <a:ext cx="11128248" cy="342900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" y="4937760"/>
            <a:ext cx="1847088" cy="292608"/>
          </a:xfrm>
          <a:prstGeom prst="roundRect">
            <a:avLst>
              <a:gd name="adj" fmla="val 9375"/>
            </a:avLst>
          </a:prstGeom>
          <a:solidFill>
            <a:srgbClr val="E7F1EB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49377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pPr algn="ctr" indent="0" marL="0">
              <a:buNone/>
            </a:pPr>
            <a:r>
              <a:rPr lang="en-US" sz="900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(A9)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2505456" y="4901184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행동에서 배울 것을 남긴다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108192" y="4901184"/>
            <a:ext cx="2596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 · 일정 변경분 · 방문 기록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759952" y="4901184"/>
            <a:ext cx="2898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 · 갱신된 취향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30352" y="5468112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55412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133856" y="5532120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«여행 조건» = TripConditions · «장소 후보 목록» = candidates · «확정 일정» = itinerary · «과거 경험 조각» = archive_hits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133856" y="5742432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«구간 소요시간·거리·경로 선형·요금» = ItineraryItem 의 travel_min_from_prev · travel_km_from_prev · travel_path · travel_fare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133856" y="5952744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«확인 카드 · 정지 신호» = advisories 와 interrupt() 정지 · «취향 프로필» = taste_profile — 전체 목록은 docs/ARCHITECTURE.md §4.1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9종 — 어디에 구현돼 있는가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이름과 실제 모듈을 나란히 둡니다. 왼쪽은 설계 용어, 오른쪽은 저장소에서 찾을 이름입니다.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847088"/>
          <a:ext cx="11128248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3200400"/>
                <a:gridCol w="4526280"/>
                <a:gridCol w="841248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영역 — 도메인 이름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경로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64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Router(A1)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이해계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해석 · 실행 계획 수립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app/graph/router/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6모듈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Preference(A2)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아카이브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app/graph/subgraphs/archive.py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Culture(A3)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 콘텐츠 통합 탐색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app/graph/subgraphs/discovery.py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534줄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Verifier(A4)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정보 대조 · 신뢰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app/tools/verify.py · discovery 검증부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235줄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437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Planner(A5)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437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편성계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편성 (순서 · 시각)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app/graph/subgraphs/itinerary/schedule.py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258줄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437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Route(A6)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437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편성계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이동 측정 ·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itinerary/legs.py · app/tools/routing.py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437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Gap(A7)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437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편성계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공백 탐지 · 주변 추천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app/graph/subgraphs/itinerary/gaps.py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215줄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06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Guardian(A8)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6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검증 · 확인 카드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app/graph/subgraphs/validation.py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360줄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Memory(A9)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· 취향 재집계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app/graph/nodes.py · app/memory/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376줄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5230368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" y="5294376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수는 2026-08-17 기준입니다. router 와 itinerary 는 한 파일이 1,000줄을 넘어 같은 날 각각 6모듈 · 9모듈로 나눴습니다(동작 변경 없음).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33856" y="5504688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어느 파일에 있는지의 전체 대응표는 docs/FUNCTIONAL_MAP.md, 요청 하나가 흐르는 순서는 docs/STRUCTURE.md 에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로 세지 않은 것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 셋 중 하나 이상을 만족하지 못합니다. 이 넷까지 세면 13종이 되고, 그때 «Agent» 는 «기능 목록»의 다른 말이 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" y="1920240"/>
            <a:ext cx="548640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캘린더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51376" y="2139696"/>
            <a:ext cx="1609344" cy="2743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51376" y="213969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+ 화면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523744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일정을 저장하고 날짜로 다시 꺼내 보여줍니다. 판단이 없습니다 — 무엇을 보여줄지는 이미 Planner(A5)가 정한 결과입니다.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920240"/>
            <a:ext cx="548640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날씨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74936" y="2139696"/>
            <a:ext cx="1609344" cy="2743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74936" y="213969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(Tool)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2523744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예보와 실황을 줍니다. 비가 오니 실내로 바꿀지 정하는 것은 Planner(A5)와 Guardian(A8)입니다. 정보 제공과 결정은 다릅니다.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621024"/>
            <a:ext cx="548640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803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· 경로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51376" y="3840480"/>
            <a:ext cx="1609344" cy="2743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51376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(Tool)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4224528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«얼마나 걸리나»에 답합니다. 어느 수단으로 갈지 고르는 판단은 Route(A6)가 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53912" y="3621024"/>
            <a:ext cx="548640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803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큐레이션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74936" y="3840480"/>
            <a:ext cx="1609344" cy="2743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4936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작업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28232" y="4224528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기록에서 주제별 묶음을 만듭니다. 대화 흐름 밖에서 돌고 일정 생성에 참여하지 않아 협업 순서에 자리가 없습니다.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" y="5468112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5412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33856" y="5532120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«캘린더» = UR-28 일정 보관·조회 · «큐레이션» = app/memory/curation.py 의 컬렉션 생성 (대화 그래프 밖에서 실행)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33856" y="5742432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제외했다고 중요하지 않다는 뜻이 아닙니다 — 캘린더는 기획안 선순환의 «다시 열기»이고 이미 구현돼 있습니다. 다만 Agent 축이 아니라 저장·화면 축입니다.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48132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DESIGN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84708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0352" y="2596896"/>
            <a:ext cx="11128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0352" y="3054096"/>
            <a:ext cx="1112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분기가 «필요한 Agent 만 실행»을, 역방향 간선이 «사용자 선택 반영 후 재편성»을 만듭니다.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흐름 전체도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하나가 지나가는 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9768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9768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협업 장치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39768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· 팬아웃 · 정지와 재개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49184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9184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매트릭스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49184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유형별로 깨어나는 Agent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흐름 전체도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진한 테두리 상자가 Agent, 회색 상자는 조율만 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1353312"/>
            <a:ext cx="109728" cy="109728"/>
          </a:xfrm>
          <a:prstGeom prst="ellipse">
            <a:avLst/>
          </a:prstGeom>
          <a:solidFill>
            <a:srgbClr val="5A6472"/>
          </a:solidFill>
          <a:ln/>
        </p:spPr>
      </p:sp>
      <p:sp>
        <p:nvSpPr>
          <p:cNvPr id="7" name="Text 5"/>
          <p:cNvSpPr/>
          <p:nvPr/>
        </p:nvSpPr>
        <p:spPr>
          <a:xfrm>
            <a:off x="6931152" y="129844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827264" y="1353312"/>
            <a:ext cx="109728" cy="10972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9" name="Text 7"/>
          <p:cNvSpPr/>
          <p:nvPr/>
        </p:nvSpPr>
        <p:spPr>
          <a:xfrm>
            <a:off x="7991856" y="129844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887968" y="1353312"/>
            <a:ext cx="109728" cy="109728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0" y="129844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948672" y="1353312"/>
            <a:ext cx="109728" cy="109728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13264" y="129844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009376" y="1353312"/>
            <a:ext cx="109728" cy="109728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3968" y="129844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60036" y="1755648"/>
            <a:ext cx="2468880" cy="566928"/>
          </a:xfrm>
          <a:prstGeom prst="roundRect">
            <a:avLst>
              <a:gd name="adj" fmla="val 6452"/>
            </a:avLst>
          </a:prstGeom>
          <a:solidFill>
            <a:srgbClr val="F1F3F5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0036" y="1819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0036" y="20756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→ 조건 · 실행 계획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94476" y="2322576"/>
            <a:ext cx="0" cy="237744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01952" y="2560320"/>
            <a:ext cx="8385048" cy="0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96312" y="2560320"/>
            <a:ext cx="0" cy="219456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78992" y="2779776"/>
            <a:ext cx="283464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2843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78992" y="3099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· 과거 기록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94476" y="2560320"/>
            <a:ext cx="0" cy="219456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77156" y="2779776"/>
            <a:ext cx="283464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7156" y="2843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→ Verifier(A4)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77156" y="3099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탐색 · 공식정보 대조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92640" y="2560320"/>
            <a:ext cx="0" cy="219456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75320" y="2779776"/>
            <a:ext cx="2834640" cy="566928"/>
          </a:xfrm>
          <a:prstGeom prst="roundRect">
            <a:avLst>
              <a:gd name="adj" fmla="val 6452"/>
            </a:avLst>
          </a:prstGeom>
          <a:solidFill>
            <a:srgbClr val="F7F9FA"/>
          </a:solidFill>
          <a:ln w="12700">
            <a:solidFill>
              <a:srgbClr val="8A92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843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일정 로드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75320" y="3099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요청일 때만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96312" y="3566160"/>
            <a:ext cx="0" cy="0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4476" y="3566160"/>
            <a:ext cx="0" cy="0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3566160"/>
            <a:ext cx="0" cy="0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96312" y="3566160"/>
            <a:ext cx="7196328" cy="0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96312" y="3346704"/>
            <a:ext cx="0" cy="219456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4476" y="3346704"/>
            <a:ext cx="0" cy="219456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92640" y="3346704"/>
            <a:ext cx="0" cy="219456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4476" y="3566160"/>
            <a:ext cx="0" cy="201168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860036" y="3767328"/>
            <a:ext cx="2468880" cy="402336"/>
          </a:xfrm>
          <a:prstGeom prst="roundRect">
            <a:avLst>
              <a:gd name="adj" fmla="val 9091"/>
            </a:avLst>
          </a:prstGeom>
          <a:solidFill>
            <a:srgbClr val="F7F9FA"/>
          </a:solidFill>
          <a:ln w="12700">
            <a:solidFill>
              <a:srgbClr val="8A92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0036" y="3831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합류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60036" y="40873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94476" y="4169664"/>
            <a:ext cx="0" cy="201168"/>
          </a:xfrm>
          <a:prstGeom prst="line">
            <a:avLst/>
          </a:prstGeom>
          <a:noFill/>
          <a:ln w="15875">
            <a:solidFill>
              <a:srgbClr val="2E437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717036" y="4370832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17036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717036" y="46908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만든다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94476" y="4937760"/>
            <a:ext cx="0" cy="18288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494276" y="5120640"/>
            <a:ext cx="3200400" cy="566928"/>
          </a:xfrm>
          <a:prstGeom prst="roundRect">
            <a:avLst>
              <a:gd name="adj" fmla="val 6452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4276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494276" y="54406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탐지 → 분류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42032" y="5404104"/>
            <a:ext cx="1952244" cy="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94676" y="5404104"/>
            <a:ext cx="1220724" cy="0"/>
          </a:xfrm>
          <a:prstGeom prst="line">
            <a:avLst/>
          </a:prstGeom>
          <a:noFill/>
          <a:ln w="15875">
            <a:solidFill>
              <a:srgbClr val="2F6B4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53312" y="5961888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53312" y="6025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· 사용자 확인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353312" y="6281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458200" y="5961888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58200" y="6025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→ Memory(A9) → 응답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458200" y="6281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42032" y="5404104"/>
            <a:ext cx="0" cy="557784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058400" y="5404104"/>
            <a:ext cx="0" cy="557784"/>
          </a:xfrm>
          <a:prstGeom prst="line">
            <a:avLst/>
          </a:prstGeom>
          <a:noFill/>
          <a:ln w="15875">
            <a:solidFill>
              <a:srgbClr val="2F6B4F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2633472" y="55046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006840" y="55046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없음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86384" y="6190488"/>
            <a:ext cx="566928" cy="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" y="4654296"/>
            <a:ext cx="0" cy="1536192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6384" y="4654296"/>
            <a:ext cx="2930652" cy="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914400" y="4389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반영 → 재편성 (횟수 제한)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366760" y="23408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Agent 만 실행 — 동시 실행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Collaboration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를 엮는 세 가지 장치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프레임워크 없이 조건부 분기 · 동적 갈래 · 정지와 재개만으로 만들어집니다.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" y="1847088"/>
            <a:ext cx="11128248" cy="1243584"/>
          </a:xfrm>
          <a:prstGeom prst="roundRect">
            <a:avLst>
              <a:gd name="adj" fmla="val 294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84832"/>
            <a:ext cx="365760" cy="0"/>
          </a:xfrm>
          <a:prstGeom prst="line">
            <a:avLst/>
          </a:prstGeom>
          <a:noFill/>
          <a:ln w="25400">
            <a:solidFill>
              <a:srgbClr val="0F6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76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동시 실행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 ∥ Culture(A3)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22192" y="2029968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기록 회수와 외부 탐색은 서로를 기다릴 이유가 없습니다. 같은 단계에 두고 «재료 합류»에서 합칩니다.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36992" y="2029968"/>
            <a:ext cx="3447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합류가 중복되지 않도록 산출물마다 식별자 기준 병합 규칙을 걸었습니다. 단순히 이어 붙이면 합칠 때마다 목록이 불어납니다.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3273552"/>
            <a:ext cx="11128248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511296"/>
            <a:ext cx="365760" cy="0"/>
          </a:xfrm>
          <a:prstGeom prst="line">
            <a:avLst/>
          </a:prstGeom>
          <a:noFill/>
          <a:ln w="25400">
            <a:solidFill>
              <a:srgbClr val="2E43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027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동적 갈래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3986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 ×N · Gap(A7) ×N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22192" y="3456432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시점에야 개수가 정해지는 일입니다. 검증은 후보 수만큼, 주변 추천은 (빈틈 × 종류)만큼 갈래를 엽니다.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36992" y="3456432"/>
            <a:ext cx="3447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시간이 모자라면 갈래 수를 줄입니다 — 줄여도 결과는 나오고, 줄였다는 사실은 «확인 필요»로 남겨 화면이 밝힙니다.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4700016"/>
            <a:ext cx="11128248" cy="1243584"/>
          </a:xfrm>
          <a:prstGeom prst="roundRect">
            <a:avLst>
              <a:gd name="adj" fmla="val 294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37760"/>
            <a:ext cx="365760" cy="0"/>
          </a:xfrm>
          <a:prstGeom prst="line">
            <a:avLst/>
          </a:prstGeom>
          <a:noFill/>
          <a:ln w="25400">
            <a:solidFill>
              <a:srgbClr val="A064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29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정지와 재개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" y="5413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 → 사용자 → Planner(A5)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22192" y="4882896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검증이 «물어봐야 한다»고 판정하면 그 자리에서 멈추고, 사용자의 선택을 받아 편성으로 되돌아갑니다.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36992" y="4882896"/>
            <a:ext cx="3447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순환을 막으려 재편성 횟수를 제한합니다. 자동으로 고칠 수 있는 것은 묻지 않습니다 — 물음이 잦으면 사용자가 읽지 않습니다.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" y="6144768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62179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3856" y="6208776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«동시 실행» = 병렬 슈퍼스텝 · «동적 갈래» = Send 팬아웃 · «정지와 재개» = interrupt() 와 체크포인터 · docs/ARCHITECTURE.md §3 · §4.2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Matrix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유형별로 깨어나는 Agent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Router(A1)는 언제나 돕니다. 나머지는 Router 가 만든 실행 계획이 정합니다 — 기획안 «Search · Validation 생략»의 구현입니다.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883664"/>
          <a:ext cx="111282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90088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유형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이런 말입니다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방문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「작년에 갔던 전시 뭐였지?」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새로운 장소 추천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「이번 주말에 갈 만한 곳」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일정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「내일 서초구에서 하루 코스」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일정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「두 번째 장소만 바꿔줘」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「거기 다시 가려는데」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날씨에 따른 변경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「비 온다는데 어떡하지」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조기 종료 · 공백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「일찍 끝났어, 근처 뭐 있어?」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4956048"/>
            <a:ext cx="11128248" cy="786384"/>
          </a:xfrm>
          <a:prstGeom prst="roundRect">
            <a:avLst>
              <a:gd name="adj" fmla="val 465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4956048"/>
            <a:ext cx="10469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「작년에 갔던 전시 뭐였지?」 한 줄이면 Preference(A2) 하나만 깨우고 답합니다. 일정을 만들지 않으므로 편성·검증·학습은 아예 실행되지 않습니다. 이것이 «필요한 Agent 만 실행»의 실제 모습입니다.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" y="5888736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59618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33856" y="5952744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 7종 = RequestType · 실행 계획 = PlanFlags (app/graph/router 의 라우팅 표) · 도표 근거는 docs/ARCHITECTURE.md §5 «주요 요청별 실행 경로»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48132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DESIGN · PART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84708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0352" y="2596896"/>
            <a:ext cx="11128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0352" y="3054096"/>
            <a:ext cx="1112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· FastAPI · LangGraph · PostgreSQL · 외부 API 가 어떤 관계로 놓이는가.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시스템도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5계층과 그 사이의 계약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9768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9768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상태와 지속성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39768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정지·재개가 성립하는 조건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49184" y="3913632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9184" y="4023360"/>
            <a:ext cx="3343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49184" y="4352544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· API 설계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시스템 아키텍처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· FastAPI · LangGraph · PostgreSQL · 외부 API 가 어디서 실행되고 무엇으로 연결되는가.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28248" cy="658368"/>
          </a:xfrm>
          <a:prstGeom prst="roundRect">
            <a:avLst>
              <a:gd name="adj" fmla="val 5556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클라이언트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724912" y="18653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(Expo)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지도 · 확인 카드 · 캘린더 · 아카이브 — 사용자 기기에서 실행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01000" y="2084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렌더링은 클라이언트 책임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01952" y="2432304"/>
            <a:ext cx="0" cy="256032"/>
          </a:xfrm>
          <a:prstGeom prst="line">
            <a:avLst/>
          </a:prstGeom>
          <a:noFill/>
          <a:ln w="15875">
            <a:solidFill>
              <a:srgbClr val="0F6E7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084832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스트리밍 응답 + 확인 이벤트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743200"/>
            <a:ext cx="11128248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8A92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런타임 — 컨테이너 하나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" y="3054096"/>
            <a:ext cx="10689336" cy="475488"/>
          </a:xfrm>
          <a:prstGeom prst="roundRect">
            <a:avLst>
              <a:gd name="adj" fmla="val 5769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0540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2032" y="30540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접수 · 스트리밍 · 2단계 보강 호출 · 일정 보관 조회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30540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계층 — 그래프를 호출만 한다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93392" y="3529584"/>
            <a:ext cx="0" cy="201168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" y="3730752"/>
            <a:ext cx="10689336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767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33472" y="37856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 — 실행 순서 · 분기 · 정지/재개 · 상태 관리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88352" y="3822192"/>
            <a:ext cx="109728" cy="10972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24" name="Text 22"/>
          <p:cNvSpPr/>
          <p:nvPr/>
        </p:nvSpPr>
        <p:spPr>
          <a:xfrm>
            <a:off x="7552944" y="376732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0" y="3822192"/>
            <a:ext cx="109728" cy="109728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26" name="Text 24"/>
          <p:cNvSpPr/>
          <p:nvPr/>
        </p:nvSpPr>
        <p:spPr>
          <a:xfrm>
            <a:off x="8577072" y="376732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36608" y="3822192"/>
            <a:ext cx="109728" cy="109728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376732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460736" y="3822192"/>
            <a:ext cx="109728" cy="109728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30" name="Text 28"/>
          <p:cNvSpPr/>
          <p:nvPr/>
        </p:nvSpPr>
        <p:spPr>
          <a:xfrm>
            <a:off x="10625328" y="376732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0976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07692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7692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</a:t>
            </a:r>
            <a:pPr algn="ctr" indent="0" marL="0">
              <a:buNone/>
            </a:pPr>
            <a:r>
              <a:rPr lang="en-US" sz="8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(A2)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64408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</a:t>
            </a:r>
            <a:pPr algn="ctr" indent="0" marL="0">
              <a:buNone/>
            </a:pPr>
            <a:r>
              <a:rPr lang="en-US" sz="8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(A3)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21124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1124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pPr algn="ctr" indent="0" marL="0">
              <a:buNone/>
            </a:pPr>
            <a:r>
              <a:rPr lang="en-US" sz="8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(A4)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77840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pPr algn="ctr" indent="0" marL="0">
              <a:buNone/>
            </a:pPr>
            <a:r>
              <a:rPr lang="en-US" sz="8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(A5)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34556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34556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pPr algn="ctr" indent="0" marL="0">
              <a:buNone/>
            </a:pPr>
            <a:r>
              <a:rPr lang="en-US" sz="8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(A6)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91272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91272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pPr algn="ctr" indent="0" marL="0">
              <a:buNone/>
            </a:pPr>
            <a:r>
              <a:rPr lang="en-US" sz="8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(A7)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7988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47988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</a:t>
            </a:r>
            <a:pPr algn="ctr" indent="0" marL="0">
              <a:buNone/>
            </a:pPr>
            <a:r>
              <a:rPr lang="en-US" sz="80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(A8)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204704" y="4114800"/>
            <a:ext cx="1088136" cy="310896"/>
          </a:xfrm>
          <a:prstGeom prst="roundRect">
            <a:avLst>
              <a:gd name="adj" fmla="val 8824"/>
            </a:avLst>
          </a:prstGeom>
          <a:solidFill>
            <a:srgbClr val="E7F1EB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04704" y="411480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pPr algn="ctr" indent="0" marL="0">
              <a:buNone/>
            </a:pPr>
            <a:r>
              <a:rPr lang="en-US" sz="800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(A9)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50976" y="44622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— 모든 산출물이 여기 누적되고, 정지 시 통째로 저장된다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0352" y="5138928"/>
            <a:ext cx="5486400" cy="896112"/>
          </a:xfrm>
          <a:prstGeom prst="roundRect">
            <a:avLst>
              <a:gd name="adj" fmla="val 4082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86384" y="54864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아카이브(방문 · 수정 행동) · 확정 일정 · 장소 · 벡터 인덱스 · 정지 지점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6384" y="57058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DB 에 두는 이유 — 개인화가 조인 한 번으로 성립한다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53912" y="5138928"/>
            <a:ext cx="5486400" cy="896112"/>
          </a:xfrm>
          <a:prstGeom prst="roundRect">
            <a:avLst>
              <a:gd name="adj" fmla="val 4082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9944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외부 API 10종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6409944" y="54864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콘텐츠 · 지도/경로 · 날씨 · 웹검색 · AI 모델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9944" y="57058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«없어도 서비스가 성립»해야 한다 — 어느 하나도 필수 경로에 두지 않는다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907792" y="4846320"/>
            <a:ext cx="0" cy="292608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577072" y="4846320"/>
            <a:ext cx="0" cy="292608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30352" y="6144768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" y="62179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133856" y="6208776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«정지 지점» = 체크포인트 테이블 · «2단계 보강 호출» = 첫 응답 뒤 경로 실측을 채우는 별도 호출 · docs/STRUCTURE.md §1 · §12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22192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&amp; Durability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구조가 성립하는 조건 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를 나눠 놓고도 결과가 하나로 모이는 이유입니다.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" y="1847088"/>
            <a:ext cx="3538728" cy="2578608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322576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산출물을 한곳에 쌓는다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688336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296265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단계의 결과를 하나의 상태에 누적합니다. Agent 끼리 값을 주고받지 않습니다.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3675888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그래야 «어떤 근거로 이렇게 됐는지»에 답할 수 있습니다. 중간 산출물이 없으면 근거를 재구성할 수 없습니다.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0248" y="1847088"/>
            <a:ext cx="3538728" cy="2578608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322576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몇 번을 합쳐도 같다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688336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기준 병합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296265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갈래가 같은 자리에 쓰므로, 단순히 이어 붙이면 합류마다 목록이 불어납니다.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675888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식별자로 묶어 덮어쓰기 때문에 같은 결과를 두 번 합쳐도 결과가 변하지 않습니다.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0144" y="1847088"/>
            <a:ext cx="3538728" cy="2578608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6176" y="2322576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멈춘 자리를 기억한다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66176" y="2688336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지점 저장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66176" y="296265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물어보려면 그 시점의 상태를 통째로 저장하고 나중에 되살릴 수 있어야 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66176" y="3675888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붙지 못하면 메모리에만 남습니다 — 앱은 뜨지만 프로세스가 죽으면 진행 중인 확인 카드가 사라집니다.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" y="4572000"/>
            <a:ext cx="11128248" cy="1133856"/>
          </a:xfrm>
          <a:prstGeom prst="roundRect">
            <a:avLst>
              <a:gd name="adj" fmla="val 3226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4700016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남은 시간을 보고 스스로 줄인다 — 정확도보다 «시간 안에 답하되 무엇이 추정인지 밝힌다»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" y="502920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Verifier(A4)는 검증 건수를 줄이고, Route(A6)는 실측 대신 거리 추정으로 떨어지며, Culture(A3)는 응답이 늦는 소스를 버립니다. 축소했다는 사실은 감추지 않고 «추정값» · «확인 필요» 표시로 남겨 화면이 밝힐 수 있게 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5870448"/>
            <a:ext cx="1112824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9436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33856" y="5934456"/>
            <a:ext cx="10524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«공유 상태» = CultureMateState · «식별자 기준 병합» = 리듀서 merge_by_id · «정지 지점 저장» = 체크포인터 · docs/ARCHITECTURE.md §4.1 · §4.2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33856"/>
            <a:ext cx="11128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문서가 확정한 것과 다음에 정할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2084832"/>
            <a:ext cx="5394960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1945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확정 — 이 문서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0352" y="27980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883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판정 기준 — 자기 결정 · 독립 계약 · 독립 실패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0352" y="32552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31455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Agent 9종의 책임과 입력 · 출력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37124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6027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이름과 구현 위치의 대응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41696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0599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순서 — 동시 실행 · 동적 갈래 · 정지와 재개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46268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5171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 7종별 Agent 실행 조합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50840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9743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5계층과 외부 API 10종의 연결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2084832"/>
            <a:ext cx="5394960" cy="0"/>
          </a:xfrm>
          <a:prstGeom prst="line">
            <a:avLst/>
          </a:prstGeom>
          <a:noFill/>
          <a:ln w="19050">
            <a:solidFill>
              <a:srgbClr val="A064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1945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— 아직 열려 있다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45352" y="2798064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26883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— 테이블 관계 · 인덱스 · 벡터 차원 고정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3255264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31455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설계 — 엔드포인트 스키마와 오류 계약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712464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096" y="36027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제약 자동 산출 — 도보 · 환승 상한이 아직 공통 상수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45352" y="4169664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7" name="Text 25"/>
          <p:cNvSpPr/>
          <p:nvPr/>
        </p:nvSpPr>
        <p:spPr>
          <a:xfrm>
            <a:off x="6483096" y="40599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데이터 보강 — 지방 커버리지가 얇다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45352" y="4626864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45171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자동 유도 — 선순환의 «기록» 진입점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0352" y="5870448"/>
            <a:ext cx="11128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우선순위는 docs/PROGRESS.md 와 docs/HANDOFF.md 에 있습니다. 이 문서를 고칠 때는 소스를 다시 읽고 판정합니다 — 문서가 코드보다 앞서 나가면 근거를 잃습니다.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MOBIDIC Architecture 설계서</dc:title>
  <dc:subject>PptxGenJS Presentation</dc:subject>
  <dc:creator>CulturePilot</dc:creator>
  <cp:lastModifiedBy>CulturePilot</cp:lastModifiedBy>
  <cp:revision>1</cp:revision>
  <dcterms:created xsi:type="dcterms:W3CDTF">2026-08-17T12:43:02Z</dcterms:created>
  <dcterms:modified xsi:type="dcterms:W3CDTF">2026-08-17T12:43:02Z</dcterms:modified>
</cp:coreProperties>
</file>