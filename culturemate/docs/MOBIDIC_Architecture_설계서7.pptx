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덱은 세 문서(역할 정의 · 워크플로 · C4 아키텍처)를 슬라이드로 옮긴 것이다. 모든 수치는 소스 대조 결과다.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기획안 4.3 의 선순환. Memory(A9) 추가의 근거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371600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1719072"/>
            <a:ext cx="11128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MOBIDIC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30352" y="2395728"/>
            <a:ext cx="11128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CFD6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설계서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312724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아카이브 기반 AI 문화생활 일정 · 동선 서비스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3895344"/>
            <a:ext cx="3255264" cy="1060704"/>
          </a:xfrm>
          <a:prstGeom prst="roundRect">
            <a:avLst>
              <a:gd name="adj" fmla="val 4310"/>
            </a:avLst>
          </a:prstGeom>
          <a:solidFill>
            <a:srgbClr val="1E2A3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0416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42793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Responsibility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46085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무엇을 하는가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87952" y="3895344"/>
            <a:ext cx="3255264" cy="1060704"/>
          </a:xfrm>
          <a:prstGeom prst="roundRect">
            <a:avLst>
              <a:gd name="adj" fmla="val 4310"/>
            </a:avLst>
          </a:prstGeom>
          <a:solidFill>
            <a:srgbClr val="1E2A36"/>
          </a:solidFill>
          <a:ln/>
        </p:spPr>
      </p:sp>
      <p:sp>
        <p:nvSpPr>
          <p:cNvPr id="11" name="Text 9"/>
          <p:cNvSpPr/>
          <p:nvPr/>
        </p:nvSpPr>
        <p:spPr>
          <a:xfrm>
            <a:off x="4407408" y="40416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07408" y="42793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Workflow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07408" y="46085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협업하는가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45552" y="3895344"/>
            <a:ext cx="3255264" cy="1060704"/>
          </a:xfrm>
          <a:prstGeom prst="roundRect">
            <a:avLst>
              <a:gd name="adj" fmla="val 4310"/>
            </a:avLst>
          </a:prstGeom>
          <a:solidFill>
            <a:srgbClr val="1E2A36"/>
          </a:solidFill>
          <a:ln/>
        </p:spPr>
      </p:sp>
      <p:sp>
        <p:nvSpPr>
          <p:cNvPr id="15" name="Text 13"/>
          <p:cNvSpPr/>
          <p:nvPr/>
        </p:nvSpPr>
        <p:spPr>
          <a:xfrm>
            <a:off x="8065008" y="40416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65008" y="42793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(C4)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65008" y="46085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실행되고 연결되는가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5303520"/>
            <a:ext cx="11128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5522976"/>
            <a:ext cx="11128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PLANNING.md 를 기준으로 · AGENT_ROLES.md · AGENT_WORKFLOW.md · SYSTEM_C4.md  —  모든 판정은 app/ 소스를 읽고 확인했다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PURPOSE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선순환이 아키텍처를 결정한다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단계가 이어져야 서비스가 성립합니다. 어느 한 칸이 비면 다음 바퀴가 첫 사용자와 같아집니다.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1755648"/>
            <a:ext cx="1920240" cy="1005840"/>
          </a:xfrm>
          <a:prstGeom prst="roundRect">
            <a:avLst>
              <a:gd name="adj" fmla="val 4545"/>
            </a:avLst>
          </a:prstGeom>
          <a:solidFill>
            <a:srgbClr val="E2F0F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4708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탐색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15798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목록 · 3지 반응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8163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Culture(A3) · Verifier(A4)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05456" y="2249424"/>
            <a:ext cx="274320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34640" y="1755648"/>
            <a:ext cx="1920240" cy="1005840"/>
          </a:xfrm>
          <a:prstGeom prst="roundRect">
            <a:avLst>
              <a:gd name="adj" fmla="val 4545"/>
            </a:avLst>
          </a:prstGeom>
          <a:solidFill>
            <a:srgbClr val="E2F0F6"/>
          </a:solidFill>
          <a:ln/>
        </p:spPr>
      </p:sp>
      <p:sp>
        <p:nvSpPr>
          <p:cNvPr id="12" name="Text 10"/>
          <p:cNvSpPr/>
          <p:nvPr/>
        </p:nvSpPr>
        <p:spPr>
          <a:xfrm>
            <a:off x="2962656" y="184708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일정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62656" y="215798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3곳 · 시간 배분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52928" y="28163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 · Gap(A7)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09744" y="2249424"/>
            <a:ext cx="274320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38928" y="1755648"/>
            <a:ext cx="1920240" cy="1005840"/>
          </a:xfrm>
          <a:prstGeom prst="roundRect">
            <a:avLst>
              <a:gd name="adj" fmla="val 4545"/>
            </a:avLst>
          </a:prstGeom>
          <a:solidFill>
            <a:srgbClr val="E2F0F6"/>
          </a:solidFill>
          <a:ln/>
        </p:spPr>
      </p:sp>
      <p:sp>
        <p:nvSpPr>
          <p:cNvPr id="17" name="Text 15"/>
          <p:cNvSpPr/>
          <p:nvPr/>
        </p:nvSpPr>
        <p:spPr>
          <a:xfrm>
            <a:off x="5266944" y="184708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동선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66944" y="215798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체류 · 변경 이력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157216" y="28163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Route(A6)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14032" y="2249424"/>
            <a:ext cx="274320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43216" y="1755648"/>
            <a:ext cx="1920240" cy="1005840"/>
          </a:xfrm>
          <a:prstGeom prst="roundRect">
            <a:avLst>
              <a:gd name="adj" fmla="val 4545"/>
            </a:avLst>
          </a:prstGeom>
          <a:solidFill>
            <a:srgbClr val="E2F0F6"/>
          </a:solidFill>
          <a:ln/>
        </p:spPr>
      </p:sp>
      <p:sp>
        <p:nvSpPr>
          <p:cNvPr id="22" name="Text 20"/>
          <p:cNvSpPr/>
          <p:nvPr/>
        </p:nvSpPr>
        <p:spPr>
          <a:xfrm>
            <a:off x="7571232" y="184708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기록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71232" y="215798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· 이유 · 사진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61504" y="28163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기록 화면 · 캘린더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418320" y="2249424"/>
            <a:ext cx="274320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747504" y="1755648"/>
            <a:ext cx="1920240" cy="1005840"/>
          </a:xfrm>
          <a:prstGeom prst="roundRect">
            <a:avLst>
              <a:gd name="adj" fmla="val 4545"/>
            </a:avLst>
          </a:prstGeom>
          <a:solidFill>
            <a:srgbClr val="E2F0F6"/>
          </a:solidFill>
          <a:ln/>
        </p:spPr>
      </p:sp>
      <p:sp>
        <p:nvSpPr>
          <p:cNvPr id="27" name="Text 25"/>
          <p:cNvSpPr/>
          <p:nvPr/>
        </p:nvSpPr>
        <p:spPr>
          <a:xfrm>
            <a:off x="9875520" y="184708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분석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75520" y="215798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갱신된 취향 · 맞춤 제안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765792" y="28163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Memory(A9) · Preference(A2)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698480" y="3273552"/>
            <a:ext cx="0" cy="27432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90472" y="3547872"/>
            <a:ext cx="9208008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90472" y="3273552"/>
            <a:ext cx="0" cy="27432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691640" y="35661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갱신된 취향이 다음 바퀴의 탐색을 바꾼다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30352" y="3986784"/>
            <a:ext cx="3520440" cy="1078992"/>
          </a:xfrm>
          <a:prstGeom prst="roundRect">
            <a:avLst>
              <a:gd name="adj" fmla="val 4237"/>
            </a:avLst>
          </a:prstGeom>
          <a:solidFill>
            <a:srgbClr val="F7F9FA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" y="4105656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끊기면 생기는 일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" y="4379976"/>
            <a:ext cx="308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기록이 비면 05 분석이 빈 화면이 되고, 다음 바퀴의 01 · 02 는 첫 사용자와 같아집니다.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70248" y="3986784"/>
            <a:ext cx="3520440" cy="1078992"/>
          </a:xfrm>
          <a:prstGeom prst="roundRect">
            <a:avLst>
              <a:gd name="adj" fmla="val 4237"/>
            </a:avLst>
          </a:prstGeom>
          <a:solidFill>
            <a:srgbClr val="F7F9FA"/>
          </a:solidFill>
          <a:ln/>
        </p:spPr>
      </p:sp>
      <p:sp>
        <p:nvSpPr>
          <p:cNvPr id="38" name="Text 36"/>
          <p:cNvSpPr/>
          <p:nvPr/>
        </p:nvSpPr>
        <p:spPr>
          <a:xfrm>
            <a:off x="4489704" y="4105656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설계에 반영한 것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89704" y="4379976"/>
            <a:ext cx="308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기록은 일정 종료 시 자동으로 뜨고 별점 하나로도 남길 수 있어야 합니다. 캘린더가 그 진입점입니다.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10144" y="3986784"/>
            <a:ext cx="3520440" cy="1078992"/>
          </a:xfrm>
          <a:prstGeom prst="roundRect">
            <a:avLst>
              <a:gd name="adj" fmla="val 4237"/>
            </a:avLst>
          </a:prstGeom>
          <a:solidFill>
            <a:srgbClr val="F7F9FA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0" y="4105656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앱이어야 하는 이유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29600" y="4379976"/>
            <a:ext cx="308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탐색을 SNS 에서, 일정을 메모장에서 하면 «실제로 얼마나 머물렀는지»가 어디에도 남지 않습니다.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30352" y="5358384"/>
            <a:ext cx="11128248" cy="658368"/>
          </a:xfrm>
          <a:prstGeom prst="roundRect">
            <a:avLst>
              <a:gd name="adj" fmla="val 6944"/>
            </a:avLst>
          </a:prstGeom>
          <a:solidFill>
            <a:srgbClr val="F7F9FA"/>
          </a:solidFill>
          <a:ln/>
        </p:spPr>
      </p:sp>
      <p:sp>
        <p:nvSpPr>
          <p:cNvPr id="44" name="Text 42"/>
          <p:cNvSpPr/>
          <p:nvPr/>
        </p:nvSpPr>
        <p:spPr>
          <a:xfrm>
            <a:off x="804672" y="5449824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그림이 정한 것 —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Memory(A9) 가 Agent 목록에 들어간 이유가 여기 있습니다. 기획안 3.1 의 역할 넷에는 «배우는 주체»가 없어, 04 → 05 의 화살표를 실행할 Agent 를 따로 두었습니다.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READING GUIDE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Concern Layers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문서를 읽는 축 — 관심사 4계층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도 화면도 어댑터도 이 네 칸 중 하나에 놓입니다. 이후 모든 장이 같은 색을 씁니다.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1773936"/>
            <a:ext cx="11128248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773936"/>
            <a:ext cx="1920240" cy="932688"/>
          </a:xfrm>
          <a:prstGeom prst="roundRect">
            <a:avLst>
              <a:gd name="adj" fmla="val 4902"/>
            </a:avLst>
          </a:prstGeom>
          <a:solidFill>
            <a:srgbClr val="FAEAF4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" y="22128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Native (Expo) 앱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670048" y="1920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사용자에게 보이고, 입력을 받는 것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33872" y="1920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· 지도 렌더링(선 그리기) · 확인 카드 · 오프라인 캐시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893808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" y="2816352"/>
            <a:ext cx="11128248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2816352"/>
            <a:ext cx="1920240" cy="932688"/>
          </a:xfrm>
          <a:prstGeom prst="roundRect">
            <a:avLst>
              <a:gd name="adj" fmla="val 4902"/>
            </a:avLst>
          </a:prstGeom>
          <a:solidFill>
            <a:srgbClr val="E2F0F6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" y="2944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" y="32552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그래프 · 조율 노드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70048" y="296265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언제 실행할지 조율하는 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33872" y="29626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순서 · 조건 분기 · 병렬 · 정지와 재개 · 상태 병합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893808" y="296265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 · A2 · A3 · A4 · A8 · A9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" y="3858768"/>
            <a:ext cx="11128248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858768"/>
            <a:ext cx="1920240" cy="932688"/>
          </a:xfrm>
          <a:prstGeom prst="roundRect">
            <a:avLst>
              <a:gd name="adj" fmla="val 4902"/>
            </a:avLst>
          </a:prstGeom>
          <a:solidFill>
            <a:srgbClr val="E8F4E9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39867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" y="42976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계산 (외부 호출 없음)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70048" y="400507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서비스의 규칙 자체 — 외부를 모른다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33872" y="40050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편성 규칙 · 개인화 점수 · 지역 판정 · 검증 기준 · 도메인 모델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893808" y="40050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 · A7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0352" y="4901184"/>
            <a:ext cx="11128248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4901184"/>
            <a:ext cx="1920240" cy="932688"/>
          </a:xfrm>
          <a:prstGeom prst="roundRect">
            <a:avLst>
              <a:gd name="adj" fmla="val 4902"/>
            </a:avLst>
          </a:prstGeom>
          <a:solidFill>
            <a:srgbClr val="FCEDE0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" y="5029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944" y="53400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도구 계층 · PostgreSQL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70048" y="50474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 세계와 닿는 모든 것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33872" y="50474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접수 · 외부 API 어댑터 · 저장소 · 모델 호출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893808" y="50474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 이 여기를 통과한다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0352" y="6071616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의존은 바깥에서 안으로만 흐른다 — 도메인은 응용을 모르고, 응용은 인프라의 구체 구현을 모른다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627632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1938528"/>
            <a:ext cx="11128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Responsibility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30352" y="2706624"/>
            <a:ext cx="11128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EB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무엇을 하는가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0352" y="3803904"/>
            <a:ext cx="3346704" cy="1042416"/>
          </a:xfrm>
          <a:prstGeom prst="roundRect">
            <a:avLst>
              <a:gd name="adj" fmla="val 4386"/>
            </a:avLst>
          </a:prstGeom>
          <a:solidFill>
            <a:srgbClr val="1E2A36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3968496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4279392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 4역할을 9종으로 나눈 기준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42816" y="3803904"/>
            <a:ext cx="3346704" cy="1042416"/>
          </a:xfrm>
          <a:prstGeom prst="roundRect">
            <a:avLst>
              <a:gd name="adj" fmla="val 4386"/>
            </a:avLst>
          </a:prstGeom>
          <a:solidFill>
            <a:srgbClr val="1E2A36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3968496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· 입출력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4279392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9종의 계약을 한 표로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55280" y="3803904"/>
            <a:ext cx="3346704" cy="1042416"/>
          </a:xfrm>
          <a:prstGeom prst="roundRect">
            <a:avLst>
              <a:gd name="adj" fmla="val 4386"/>
            </a:avLst>
          </a:prstGeom>
          <a:solidFill>
            <a:srgbClr val="1E2A36"/>
          </a:solidFill>
          <a:ln/>
        </p:spPr>
      </p:sp>
      <p:sp>
        <p:nvSpPr>
          <p:cNvPr id="12" name="Text 10"/>
          <p:cNvSpPr/>
          <p:nvPr/>
        </p:nvSpPr>
        <p:spPr>
          <a:xfrm>
            <a:off x="8193024" y="3968496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관심사 배치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93024" y="4279392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계층에 속하고, 무엇에 실패하는가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기획안의 Agent 4종을 설계 9종으로 나눈다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 3.1 은 역할 이름을 정합니다. 설계는 «한 Agent 가 두 가지 책임을 지고 있지 않은가»를 먼저 따집니다.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" y="17007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 3.1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084832" y="1700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일 (기획안 원문 요약)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919472" y="17007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59752" y="17007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936992" y="1700784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나눈 근거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30352" y="1975104"/>
            <a:ext cx="11128248" cy="566928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02082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84832" y="2020824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유형을 판별해 필요한 Agent 만 호출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19472" y="2020824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Router(A1)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59752" y="2020824"/>
            <a:ext cx="667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36992" y="202082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책임이 하나다 — 나눌 이유가 없다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1792" y="258775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Search Agent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84832" y="2587752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문화 API 와 개인 아카이브를 «동시에» 조회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19472" y="2587752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 · Culture(A3)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159752" y="2587752"/>
            <a:ext cx="667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×2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36992" y="258775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«동시에»가 곧 두 갈래다. 하나가 비어도 다른 하나로 답한다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" y="3108960"/>
            <a:ext cx="11128248" cy="566928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315468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Validation Agent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84832" y="315468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홈페이지 교차 확인 · «확인 실패»는 추정치를 쓰지 않는다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19472" y="3154680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Verifier(A4) · Guardian(A8)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59752" y="3154680"/>
            <a:ext cx="667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×2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936992" y="315468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«장소가 실재하는가»(탐색)와 «이 일정이 성립하는가»(편성 뒤)는 시점도 입력도 다르다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" y="3721608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Planning Agent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084832" y="3721608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· 날씨 · 거리로 순서 계산 · 제약 위반은 사유와 함께 반려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19472" y="3721608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 · Route(A6) · Gap(A7)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159752" y="3721608"/>
            <a:ext cx="667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×3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936992" y="372160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결정(순수 계산) · 이동 측정(외부 호출) · 빈틈 채우기(팬아웃)는 실패 양상이 전부 다르다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0352" y="4242816"/>
            <a:ext cx="11128248" cy="566928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" y="428853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 Agent</a:t>
            </a:r>
            <a:pPr algn="l" indent="0" marL="0">
              <a:lnSpc>
                <a:spcPts val="1300"/>
              </a:lnSpc>
              <a:buNone/>
            </a:pPr>
            <a:endParaRPr lang="en-US" sz="9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설계가 세운 역할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084832" y="4288536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«되돌림» · 3.2 «피드백 회귀»로 기능만 서술됨 — 역할 이름은 없었다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19472" y="4288536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Memory(A9)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159752" y="4288536"/>
            <a:ext cx="667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신설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936992" y="428853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선순환의 «04 기록 → 05 분석»을 실행할 주체가 필요하다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1792" y="4864608"/>
            <a:ext cx="10945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Memory Agent 는 기획안 3.1 의 역할 4종 표에 이름이 없습니다. 기능만 서술된 것을 설계가 역할로 세운 것이라 «신설»로 표기합니다 — 4종을 8종으로 나누고 1종을 더해 9종이 됩니다.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0352" y="5358384"/>
            <a:ext cx="5504688" cy="969264"/>
          </a:xfrm>
          <a:prstGeom prst="roundRect">
            <a:avLst>
              <a:gd name="adj" fmla="val 4717"/>
            </a:avLst>
          </a:prstGeom>
          <a:solidFill>
            <a:srgbClr val="F7F9FA"/>
          </a:solidFill>
          <a:ln/>
        </p:spPr>
      </p:sp>
      <p:sp>
        <p:nvSpPr>
          <p:cNvPr id="41" name="Text 39"/>
          <p:cNvSpPr/>
          <p:nvPr/>
        </p:nvSpPr>
        <p:spPr>
          <a:xfrm>
            <a:off x="768096" y="54681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나누는 기준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68096" y="5742432"/>
            <a:ext cx="5047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«기능이 다른가»가 아니라 «따로 실패할 수 있는가»입니다. Culture(A3)가 외부 쿼터로 비어도 Preference(A2)의 기록으로 일정이 나오고, Route(A6)의 실측이 막혀도 추정으로 시각은 채워집니다.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53912" y="5358384"/>
            <a:ext cx="5504688" cy="969264"/>
          </a:xfrm>
          <a:prstGeom prst="roundRect">
            <a:avLst>
              <a:gd name="adj" fmla="val 4717"/>
            </a:avLst>
          </a:prstGeom>
          <a:solidFill>
            <a:srgbClr val="F7F9FA"/>
          </a:solidFill>
          <a:ln/>
        </p:spPr>
      </p:sp>
      <p:sp>
        <p:nvSpPr>
          <p:cNvPr id="44" name="Text 42"/>
          <p:cNvSpPr/>
          <p:nvPr/>
        </p:nvSpPr>
        <p:spPr>
          <a:xfrm>
            <a:off x="6391656" y="54681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로 세지 않은 것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91656" y="5742432"/>
            <a:ext cx="5047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캘린더(저장 · 조회와 화면) · 날씨와 지도 API(도구 계층) · 큐레이션(대화 흐름 밖 배치 작업). 결정을 하지 않으면 Agent 가 아닙니다.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Criteria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나누는 기준 셋 — 하나라도 갈리면 나눈다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나누지 않으면 «탐색이 실패했는데 일정도 안 나온다» 같은 결합이 생기고, 그 결합은 코드가 아니라 응답 품질로 사용자에게 나타납니다.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1773936"/>
            <a:ext cx="3520440" cy="1883664"/>
          </a:xfrm>
          <a:prstGeom prst="roundRect">
            <a:avLst>
              <a:gd name="adj" fmla="val 2427"/>
            </a:avLst>
          </a:prstGeom>
          <a:solidFill>
            <a:srgbClr val="E2F0F6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9568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독립성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30428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이것만 죽어도 나머지가 성립하는가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2852928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Culture(A3)가 외부 쿼터로 비어도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Preference(A2)의 기록으로 일정이 나온다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70248" y="1773936"/>
            <a:ext cx="3520440" cy="1883664"/>
          </a:xfrm>
          <a:prstGeom prst="roundRect">
            <a:avLst>
              <a:gd name="adj" fmla="val 2427"/>
            </a:avLst>
          </a:prstGeom>
          <a:solidFill>
            <a:srgbClr val="E8F4E9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568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관심사 계층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30428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외부를 알아야 하는가, 순수 계산인가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26280" y="2852928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Planner(A5)는 외부를 모른다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Route(A6)는 경로 API 를 쓴다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10144" y="1773936"/>
            <a:ext cx="3520440" cy="1883664"/>
          </a:xfrm>
          <a:prstGeom prst="roundRect">
            <a:avLst>
              <a:gd name="adj" fmla="val 2427"/>
            </a:avLst>
          </a:prstGeom>
          <a:solidFill>
            <a:srgbClr val="FCEDE0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19568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66176" y="230428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바뀌면 이것만 고치면 되는가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66176" y="2852928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제공자가 바뀌면 A6 만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기준이 바뀌면 A4 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0352" y="3913632"/>
            <a:ext cx="11128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→ 9 · 늘어난 다섯은 새 기능이 아니라 기존 책임의 분리다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" y="4279392"/>
            <a:ext cx="11128248" cy="402336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2793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71216" y="4480560"/>
            <a:ext cx="384048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401568" y="4361688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688B"/>
          </a:solidFill>
          <a:ln/>
        </p:spPr>
      </p:sp>
      <p:sp>
        <p:nvSpPr>
          <p:cNvPr id="23" name="Text 21"/>
          <p:cNvSpPr/>
          <p:nvPr/>
        </p:nvSpPr>
        <p:spPr>
          <a:xfrm>
            <a:off x="3401568" y="436168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0" y="427939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97680" y="42793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Router(A1)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26880" y="427939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49808" y="46817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Search Agent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71216" y="4882896"/>
            <a:ext cx="384048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401568" y="4764024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688B"/>
          </a:solidFill>
          <a:ln/>
        </p:spPr>
      </p:sp>
      <p:sp>
        <p:nvSpPr>
          <p:cNvPr id="30" name="Text 28"/>
          <p:cNvSpPr/>
          <p:nvPr/>
        </p:nvSpPr>
        <p:spPr>
          <a:xfrm>
            <a:off x="3401568" y="47640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0" y="468172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97680" y="468172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 · Culture(A3)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326880" y="468172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5084064"/>
            <a:ext cx="11128248" cy="402336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" y="508406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Validation Agent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71216" y="5285232"/>
            <a:ext cx="384048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401568" y="5166360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688B"/>
          </a:solidFill>
          <a:ln/>
        </p:spPr>
      </p:sp>
      <p:sp>
        <p:nvSpPr>
          <p:cNvPr id="38" name="Text 36"/>
          <p:cNvSpPr/>
          <p:nvPr/>
        </p:nvSpPr>
        <p:spPr>
          <a:xfrm>
            <a:off x="3401568" y="51663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40480" y="508406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97680" y="508406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Verifier(A4) · Guardian(A8)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326880" y="508406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49808" y="54864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Planning Agent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71216" y="5687568"/>
            <a:ext cx="384048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3401568" y="5568696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2E7D32"/>
          </a:solidFill>
          <a:ln/>
        </p:spPr>
      </p:sp>
      <p:sp>
        <p:nvSpPr>
          <p:cNvPr id="45" name="Text 43"/>
          <p:cNvSpPr/>
          <p:nvPr/>
        </p:nvSpPr>
        <p:spPr>
          <a:xfrm>
            <a:off x="3401568" y="556869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840480" y="54864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97680" y="548640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 · Route(A6) · Gap(A7)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326880" y="54864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30352" y="5888736"/>
            <a:ext cx="11128248" cy="402336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50" name="Text 48"/>
          <p:cNvSpPr/>
          <p:nvPr/>
        </p:nvSpPr>
        <p:spPr>
          <a:xfrm>
            <a:off x="749808" y="588873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 Agent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871216" y="6089904"/>
            <a:ext cx="384048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3401568" y="5971032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688B"/>
          </a:solidFill>
          <a:ln/>
        </p:spPr>
      </p:sp>
      <p:sp>
        <p:nvSpPr>
          <p:cNvPr id="53" name="Text 51"/>
          <p:cNvSpPr/>
          <p:nvPr/>
        </p:nvSpPr>
        <p:spPr>
          <a:xfrm>
            <a:off x="3401568" y="597103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840480" y="588873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297680" y="588873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Memory(A9)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326880" y="588873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신설 — 기획안 역할 4종 밖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30352" y="6345936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기획안이 약속한 범위는 그대로이고, 실패 지점만 잘게 나뉘었다 — 넷을 여덟으로 나누고, 선순환을 닫는 Memory Agent 하나를 세웠다.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Responsibility Matrix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9종 — 책임 · 입력 · 출력 · 관심사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Agent 는 «입력을 받아 정해진 산출물을 남긴다»는 계약만 지킵니다. 서로를 직접 호출하지 않습니다.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101584" y="1257300"/>
            <a:ext cx="100584" cy="100584"/>
          </a:xfrm>
          <a:prstGeom prst="ellipse">
            <a:avLst/>
          </a:prstGeom>
          <a:solidFill>
            <a:srgbClr val="A01A7D"/>
          </a:solidFill>
          <a:ln/>
        </p:spPr>
      </p:sp>
      <p:sp>
        <p:nvSpPr>
          <p:cNvPr id="7" name="Text 5"/>
          <p:cNvSpPr/>
          <p:nvPr/>
        </p:nvSpPr>
        <p:spPr>
          <a:xfrm>
            <a:off x="8257032" y="11887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089136" y="1257300"/>
            <a:ext cx="100584" cy="100584"/>
          </a:xfrm>
          <a:prstGeom prst="ellipse">
            <a:avLst/>
          </a:prstGeom>
          <a:solidFill>
            <a:srgbClr val="00688B"/>
          </a:solidFill>
          <a:ln/>
        </p:spPr>
      </p:sp>
      <p:sp>
        <p:nvSpPr>
          <p:cNvPr id="9" name="Text 7"/>
          <p:cNvSpPr/>
          <p:nvPr/>
        </p:nvSpPr>
        <p:spPr>
          <a:xfrm>
            <a:off x="9244584" y="11887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076688" y="1257300"/>
            <a:ext cx="100584" cy="10058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10232136" y="11887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064240" y="1257300"/>
            <a:ext cx="100584" cy="100584"/>
          </a:xfrm>
          <a:prstGeom prst="ellipse">
            <a:avLst/>
          </a:prstGeom>
          <a:solidFill>
            <a:srgbClr val="B3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1219688" y="11887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173736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95728" y="17373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— 한 문장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0" y="173736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863840" y="1737360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(State 채널)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607040" y="17373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8912" y="2011680"/>
            <a:ext cx="11311128" cy="45720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" y="2093976"/>
            <a:ext cx="1773936" cy="292608"/>
          </a:xfrm>
          <a:prstGeom prst="roundRect">
            <a:avLst>
              <a:gd name="adj" fmla="val 15625"/>
            </a:avLst>
          </a:prstGeom>
          <a:solidFill>
            <a:srgbClr val="00688B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209397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Router(A1)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395728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발화를 실행 계획으로 바꾼다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20116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발화 · 화면 입력값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201168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request_type · flags · conditions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07040" y="2011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30352" y="2551176"/>
            <a:ext cx="1773936" cy="292608"/>
          </a:xfrm>
          <a:prstGeom prst="roundRect">
            <a:avLst>
              <a:gd name="adj" fmla="val 15625"/>
            </a:avLst>
          </a:prstGeom>
          <a:solidFill>
            <a:srgbClr val="00688B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" y="255117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395728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기록에서 취향과 불편을 뽑는다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0" y="24688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user_id · 여행 조건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63840" y="246888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taste_profile · archive_hits[]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07040" y="24688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archive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38912" y="2926080"/>
            <a:ext cx="11311128" cy="45720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33" name="Shape 31"/>
          <p:cNvSpPr/>
          <p:nvPr/>
        </p:nvSpPr>
        <p:spPr>
          <a:xfrm>
            <a:off x="530352" y="3008376"/>
            <a:ext cx="1773936" cy="292608"/>
          </a:xfrm>
          <a:prstGeom prst="roundRect">
            <a:avLst>
              <a:gd name="adj" fmla="val 15625"/>
            </a:avLst>
          </a:prstGeom>
          <a:solidFill>
            <a:srgbClr val="00688B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300837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Culture(A3)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395728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조건에 맞는 장소 후보군을 만든다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0" y="29260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조건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863840" y="292608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candidates[] · evidence[]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607040" y="29260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discovery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30352" y="3465576"/>
            <a:ext cx="1773936" cy="292608"/>
          </a:xfrm>
          <a:prstGeom prst="roundRect">
            <a:avLst>
              <a:gd name="adj" fmla="val 15625"/>
            </a:avLst>
          </a:prstGeom>
          <a:solidFill>
            <a:srgbClr val="00688B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" y="346557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Verifier(A4)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395728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후보가 실재하는지 공식정보로 가른다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0" y="33832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상위 12개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863840" y="338328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verifications[] · place_diffs[]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607040" y="33832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discovery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38912" y="3840480"/>
            <a:ext cx="11311128" cy="45720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46" name="Shape 44"/>
          <p:cNvSpPr/>
          <p:nvPr/>
        </p:nvSpPr>
        <p:spPr>
          <a:xfrm>
            <a:off x="530352" y="3922776"/>
            <a:ext cx="1773936" cy="292608"/>
          </a:xfrm>
          <a:prstGeom prst="roundRect">
            <a:avLst>
              <a:gd name="adj" fmla="val 15625"/>
            </a:avLst>
          </a:prstGeom>
          <a:solidFill>
            <a:srgbClr val="2E7D32"/>
          </a:solidFill>
          <a:ln/>
        </p:spPr>
      </p:sp>
      <p:sp>
        <p:nvSpPr>
          <p:cNvPr id="47" name="Text 45"/>
          <p:cNvSpPr/>
          <p:nvPr/>
        </p:nvSpPr>
        <p:spPr>
          <a:xfrm>
            <a:off x="530352" y="392277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395728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· 시각 · 체류시간을 확정한다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0" y="38404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· 취향 · 이동 · 날씨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863840" y="384048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itinerary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607040" y="38404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itinerary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30352" y="4379976"/>
            <a:ext cx="1773936" cy="292608"/>
          </a:xfrm>
          <a:prstGeom prst="roundRect">
            <a:avLst>
              <a:gd name="adj" fmla="val 15625"/>
            </a:avLst>
          </a:prstGeom>
          <a:solidFill>
            <a:srgbClr val="B35309"/>
          </a:solidFill>
          <a:ln/>
        </p:spPr>
      </p:sp>
      <p:sp>
        <p:nvSpPr>
          <p:cNvPr id="53" name="Text 51"/>
          <p:cNvSpPr/>
          <p:nvPr/>
        </p:nvSpPr>
        <p:spPr>
          <a:xfrm>
            <a:off x="530352" y="437997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Route(A6)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395728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이동시간과 수단을 확정한다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0" y="42976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좌표쌍 · 선호 수단 · 주차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863840" y="429768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travel_min · mode · travel_path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607040" y="4297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itinerary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38912" y="4754880"/>
            <a:ext cx="11311128" cy="45720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59" name="Shape 57"/>
          <p:cNvSpPr/>
          <p:nvPr/>
        </p:nvSpPr>
        <p:spPr>
          <a:xfrm>
            <a:off x="530352" y="4837176"/>
            <a:ext cx="1773936" cy="292608"/>
          </a:xfrm>
          <a:prstGeom prst="roundRect">
            <a:avLst>
              <a:gd name="adj" fmla="val 15625"/>
            </a:avLst>
          </a:prstGeom>
          <a:solidFill>
            <a:srgbClr val="2E7D32"/>
          </a:solidFill>
          <a:ln/>
        </p:spPr>
      </p:sp>
      <p:sp>
        <p:nvSpPr>
          <p:cNvPr id="60" name="Text 58"/>
          <p:cNvSpPr/>
          <p:nvPr/>
        </p:nvSpPr>
        <p:spPr>
          <a:xfrm>
            <a:off x="530352" y="483717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Gap(A7)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2395728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식사 자리를 잡고 빈 시간을 채운다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486400" y="47548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편성 중 일정 · 빈틈 · 좌표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863840" y="475488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nearby[] · 삽입된 항목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607040" y="47548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itinerary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30352" y="5294376"/>
            <a:ext cx="1773936" cy="292608"/>
          </a:xfrm>
          <a:prstGeom prst="roundRect">
            <a:avLst>
              <a:gd name="adj" fmla="val 15625"/>
            </a:avLst>
          </a:prstGeom>
          <a:solidFill>
            <a:srgbClr val="00688B"/>
          </a:solidFill>
          <a:ln/>
        </p:spPr>
      </p:sp>
      <p:sp>
        <p:nvSpPr>
          <p:cNvPr id="66" name="Text 64"/>
          <p:cNvSpPr/>
          <p:nvPr/>
        </p:nvSpPr>
        <p:spPr>
          <a:xfrm>
            <a:off x="530352" y="529437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2395728" y="5212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일정의 문제를 찾아 사용자에게 확인받을 것만 고른다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486400" y="52120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일정 · 과거 경험 조각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863840" y="521208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issues[] · advisories[] · 정지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607040" y="52120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validation · hitl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38912" y="5669280"/>
            <a:ext cx="11311128" cy="45720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72" name="Shape 70"/>
          <p:cNvSpPr/>
          <p:nvPr/>
        </p:nvSpPr>
        <p:spPr>
          <a:xfrm>
            <a:off x="530352" y="5751576"/>
            <a:ext cx="1773936" cy="292608"/>
          </a:xfrm>
          <a:prstGeom prst="roundRect">
            <a:avLst>
              <a:gd name="adj" fmla="val 15625"/>
            </a:avLst>
          </a:prstGeom>
          <a:solidFill>
            <a:srgbClr val="00688B"/>
          </a:solidFill>
          <a:ln/>
        </p:spPr>
      </p:sp>
      <p:sp>
        <p:nvSpPr>
          <p:cNvPr id="73" name="Text 71"/>
          <p:cNvSpPr/>
          <p:nvPr/>
        </p:nvSpPr>
        <p:spPr>
          <a:xfrm>
            <a:off x="530352" y="575157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Memory(A9)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2395728" y="5669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행동에서 배울 것을 남긴다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5486400" y="56692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선택 · 일정 diff · 방문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863840" y="566928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plan_edits · taste_profiles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607040" y="56692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persist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30352" y="6236208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 · A7 은 외부 호출이 없다 — 그래서 도메인이고, 그래서 재현 가능하다. A6 은 도메인 규칙을 갖지만 실측을 위해 도구 계층에 닿는다.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상세 — A1 · A2 · A3 · A4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요청을 이해하고 재료를 모은다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· A3 는 병렬로 실행되며 서로를 기다리지 않습니다. 넷 다 응용 계층입니다.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1700784"/>
            <a:ext cx="1112824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700784"/>
            <a:ext cx="2194560" cy="1051560"/>
          </a:xfrm>
          <a:prstGeom prst="roundRect">
            <a:avLst>
              <a:gd name="adj" fmla="val 4348"/>
            </a:avLst>
          </a:prstGeom>
          <a:solidFill>
            <a:srgbClr val="E2F0F6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82880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00688B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Router(A1)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579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해석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89504" y="179222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42816" y="179222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추출 → (부족할 때만) LLM 보강 → 빈칸 메우기 → 화면값 덮기 → 좌표 확정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89504" y="208178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42816" y="208178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한 말이 화면에 남은 이전 값을 이긴다 · 좌표 확정은 여기서 한다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89504" y="237134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42816" y="237134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이 실패해도 규칙 결과로 진행한다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" y="2871216"/>
            <a:ext cx="1112824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871216"/>
            <a:ext cx="2194560" cy="1051560"/>
          </a:xfrm>
          <a:prstGeom prst="roundRect">
            <a:avLst>
              <a:gd name="adj" fmla="val 4348"/>
            </a:avLst>
          </a:prstGeom>
          <a:solidFill>
            <a:srgbClr val="E2F0F6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" y="2999232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00688B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3284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경험 조회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89504" y="296265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42816" y="296265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검색어 갈래 3종 생성 → 갈래별 병렬 검색 → 순위 융합(RRF) → 재순위 → 조각 추출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89504" y="325221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42816" y="325221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 카드는 만들지 않는다 — 카드는 A8 한 곳에서만 · 등록 취향이 다녀온 곳을 이기지 않는다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89504" y="354177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42816" y="354177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개인화만 꺼지고 일정은 성립한다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0352" y="4041648"/>
            <a:ext cx="1112824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4041648"/>
            <a:ext cx="2194560" cy="1051560"/>
          </a:xfrm>
          <a:prstGeom prst="roundRect">
            <a:avLst>
              <a:gd name="adj" fmla="val 4348"/>
            </a:avLst>
          </a:prstGeom>
          <a:solidFill>
            <a:srgbClr val="E2F0F6"/>
          </a:solidFill>
          <a:ln/>
        </p:spPr>
      </p:sp>
      <p:sp>
        <p:nvSpPr>
          <p:cNvPr id="30" name="Shape 28"/>
          <p:cNvSpPr/>
          <p:nvPr/>
        </p:nvSpPr>
        <p:spPr>
          <a:xfrm>
            <a:off x="713232" y="4169664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00688B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169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Culture(A3)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" y="4498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탐색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89504" y="413308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42816" y="413308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4소스 병렬 수집 → 중복 병합 → 좌표 관문 → 시·도 판정 → 거리 상한 60km → 점수화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889504" y="442264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42816" y="442264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좌표가 없으면 후보가 아니다 — 이름이 아니라 좌표가 자격이다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889504" y="47122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42816" y="471220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 카탈로그가 받쳐 결과가 0건이 되지 않는다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0352" y="5212080"/>
            <a:ext cx="1112824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5212080"/>
            <a:ext cx="2194560" cy="1051560"/>
          </a:xfrm>
          <a:prstGeom prst="roundRect">
            <a:avLst>
              <a:gd name="adj" fmla="val 4348"/>
            </a:avLst>
          </a:prstGeom>
          <a:solidFill>
            <a:srgbClr val="E2F0F6"/>
          </a:solidFill>
          <a:ln/>
        </p:spPr>
      </p:sp>
      <p:sp>
        <p:nvSpPr>
          <p:cNvPr id="41" name="Shape 39"/>
          <p:cNvSpPr/>
          <p:nvPr/>
        </p:nvSpPr>
        <p:spPr>
          <a:xfrm>
            <a:off x="713232" y="5340096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00688B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" y="5340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Verifier(A4)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3232" y="5669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공식정보 대조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89504" y="53035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42816" y="530352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12개 선별 → 병렬 대조 → 확인 · 확인 필요 · 제외 3분류 → 재방문 변경점 비교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889504" y="55930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42816" y="559308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모르면 버리지 않고 «확인 필요»로 남긴다 — 추정치를 쓰지 않는다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889504" y="588264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242816" y="588264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«확인 필요»로 표시되고 일정은 성립한다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상세 — A5 · A6 · A7 · A8 · A9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하루를 만들고, 검증하고, 배운다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 · A7 은 외부 호출 없이 계산만 합니다 — 그래서 도메인입니다.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1700784"/>
            <a:ext cx="1112824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700784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E8F4E9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82880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579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시간표 계산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89504" y="179222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42816" y="179222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식사 자리 선점 → 체류시간 → 구간 수단 → 실측 → 시각 재계산 → 도착지 시간 확보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89504" y="200558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42816" y="200558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을 쓰지 않는다 · 사용자가 «유지»를 고른 장소는 점수 +10 으로 잠근다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89504" y="221894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42816" y="221894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일정을 준다 — 갈 수 없는 일정을 남기지 않는다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" y="2642616"/>
            <a:ext cx="1112824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642616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FCEDE0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" y="2770632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B3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2770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Route(A6)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099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계산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89504" y="273405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42816" y="273405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수단별 측정 요청 → 주차 · 환승 · 도보선호를 시간으로 환산 → 최선 선택 → 경로 축약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89504" y="294741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42816" y="294741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수단을 명시하면 바꾸지 않는다 · 방문 순서는 건드리지 않는다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89504" y="316077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42816" y="316077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기반 추정 + «(추정)» 표시 · 지도에는 옅은 점선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0352" y="3584448"/>
            <a:ext cx="1112824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584448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E8F4E9"/>
          </a:solidFill>
          <a:ln/>
        </p:spPr>
      </p:sp>
      <p:sp>
        <p:nvSpPr>
          <p:cNvPr id="30" name="Shape 28"/>
          <p:cNvSpPr/>
          <p:nvPr/>
        </p:nvSpPr>
        <p:spPr>
          <a:xfrm>
            <a:off x="713232" y="3712464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37124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Gap(A7)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" y="4041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빈틈 채우기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89504" y="367588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42816" y="367588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빈틈 판정 → 빈틈 × 종류로 팬아웃 → 재순위 → 삽입 → 시각 재계산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889504" y="388924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42816" y="388924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식사는 자리를 먼저 잡는다 · 반경은 남은 시간에 비례 · 종류별 몫을 지킨다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889504" y="41026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42816" y="410260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빈틈이 빈 채로 남을 뿐 일정은 성립한다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0352" y="4526280"/>
            <a:ext cx="1112824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4526280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E2F0F6"/>
          </a:solidFill>
          <a:ln/>
        </p:spPr>
      </p:sp>
      <p:sp>
        <p:nvSpPr>
          <p:cNvPr id="41" name="Shape 39"/>
          <p:cNvSpPr/>
          <p:nvPr/>
        </p:nvSpPr>
        <p:spPr>
          <a:xfrm>
            <a:off x="713232" y="4654296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00688B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" y="4654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3232" y="4983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물어볼 것 고르기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89504" y="46177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6종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42816" y="461772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운영시간 / 이동 가능 / 시각 중복 / 악천후 야외 / 재방문 변경점 / 과거 불편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889504" y="48310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42816" y="483108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시스템이 고칠 수 있으면 묻지 않는다(자동 수정 불가 + 심각도 2 이상만) · 첫 선택지는 항상 «그대로 진행»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889504" y="504444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242816" y="504444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카드 없이 확정 — «확인 필요» 표시만 남는다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30352" y="5468112"/>
            <a:ext cx="1112824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0352" y="5468112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E2F0F6"/>
          </a:solidFill>
          <a:ln/>
        </p:spPr>
      </p:sp>
      <p:sp>
        <p:nvSpPr>
          <p:cNvPr id="52" name="Shape 50"/>
          <p:cNvSpPr/>
          <p:nvPr/>
        </p:nvSpPr>
        <p:spPr>
          <a:xfrm>
            <a:off x="713232" y="5596128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00688B"/>
          </a:solidFill>
          <a:ln/>
        </p:spPr>
      </p:sp>
      <p:sp>
        <p:nvSpPr>
          <p:cNvPr id="53" name="Text 51"/>
          <p:cNvSpPr/>
          <p:nvPr/>
        </p:nvSpPr>
        <p:spPr>
          <a:xfrm>
            <a:off x="713232" y="5596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Memory(A9)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13232" y="59253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· 학습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889504" y="555955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242816" y="5559552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선택과 일정 diff 를 신호로 추출 → 중복 제거 → 수정 행동 저장 → 취향 재집계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889504" y="577291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242816" y="5772912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확정된 뒤에만 배운다 · «그대로 진행»은 신호로 세지 않는다 · 저장하고 끝나면 안 된다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889504" y="598627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242816" y="5986272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학습만 건너뛰고 응답은 정상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Agent 가 어느 요구사항을 지는가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를 나눈 결과가 요구사항 번호에 그대로 대응합니다. 빈 칸이 없다는 것이 «범위를 줄이지 않았다»는 근거입니다.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" y="1755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633472" y="17556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68112" y="17556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FR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714232" y="175564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 대응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0352" y="2029968"/>
            <a:ext cx="11128248" cy="402336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07568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Router(A1)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33472" y="207568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UR-02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68112" y="2075688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FR-01 · FR-02 · FR-03 · FR-33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714232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Router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1792" y="247802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33472" y="247802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UR-01 · UR-10 · UR-15 · UR-31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68112" y="2478024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FR-04 · FR-21 · FR-22 · FR-24 · FR-25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714232" y="24780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Search (개인 아카이브)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0352" y="2834640"/>
            <a:ext cx="11128248" cy="402336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288036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Culture(A3)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33472" y="288036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UR-03 · UR-18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68112" y="2880360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714232" y="28803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Search (공공 문화 API)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1792" y="3282696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Verifier(A4)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33472" y="3282696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UR-04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68112" y="3282696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FR-07 · FR-08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14232" y="32826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Validation (탐색 단계)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0352" y="3639312"/>
            <a:ext cx="11128248" cy="402336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" y="368503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633472" y="3685032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UR-05 · UR-07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68112" y="3685032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FR-13 · FR-14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714232" y="3685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Planning (순서 결정)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" y="408736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Route(A6)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633472" y="408736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UR-06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68112" y="4087368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FR-11 · FR-12 · FR-15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714232" y="4087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Planning (이동 측정)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0352" y="4443984"/>
            <a:ext cx="11128248" cy="402336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" y="448970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Gap(A7)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633472" y="448970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UR-08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68112" y="4489704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FR-09 · FR-10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714232" y="44897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Planning (빈틈 채우기)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1792" y="489204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633472" y="489204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UR-13 · UR-14 · UR-40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68112" y="4892040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FR-16~FR-20 · FR-29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714232" y="4892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Validation (편성 뒤) · 2.1-②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30352" y="5248656"/>
            <a:ext cx="11128248" cy="402336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47" name="Text 45"/>
          <p:cNvSpPr/>
          <p:nvPr/>
        </p:nvSpPr>
        <p:spPr>
          <a:xfrm>
            <a:off x="621792" y="5294376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Memory(A9)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633472" y="5294376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UR-09 · UR-28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468112" y="5294376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FR-05 · FR-30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714232" y="5294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«되돌림» · 3.2 피드백 회귀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0352" y="5888736"/>
            <a:ext cx="11128248" cy="658368"/>
          </a:xfrm>
          <a:prstGeom prst="roundRect">
            <a:avLst>
              <a:gd name="adj" fmla="val 6944"/>
            </a:avLst>
          </a:prstGeom>
          <a:solidFill>
            <a:srgbClr val="F7F9FA"/>
          </a:solidFill>
          <a:ln/>
        </p:spPr>
      </p:sp>
      <p:sp>
        <p:nvSpPr>
          <p:cNvPr id="52" name="Text 50"/>
          <p:cNvSpPr/>
          <p:nvPr/>
        </p:nvSpPr>
        <p:spPr>
          <a:xfrm>
            <a:off x="804672" y="5980176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표를 고칠 때 —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바뀌면 상태를 다시 판정합니다. 근거 없이 채워 넣으면 문서 전체가 신뢰를 잃습니다. 번호의 정의는 REQUIREMENTS.md §3, 기획안 대조는 PLANNING.md §7 에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627632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1938528"/>
            <a:ext cx="11128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Workflow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30352" y="2706624"/>
            <a:ext cx="11128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EB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협업하는가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0352" y="3803904"/>
            <a:ext cx="3346704" cy="1042416"/>
          </a:xfrm>
          <a:prstGeom prst="roundRect">
            <a:avLst>
              <a:gd name="adj" fmla="val 4386"/>
            </a:avLst>
          </a:prstGeom>
          <a:solidFill>
            <a:srgbClr val="1E2A36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3968496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순서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4279392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1건이 지나가는 전체 경로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42816" y="3803904"/>
            <a:ext cx="3346704" cy="1042416"/>
          </a:xfrm>
          <a:prstGeom prst="roundRect">
            <a:avLst>
              <a:gd name="adj" fmla="val 4386"/>
            </a:avLst>
          </a:prstGeom>
          <a:solidFill>
            <a:srgbClr val="1E2A36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3968496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4279392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출력이 다음 입력이 되는가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55280" y="3803904"/>
            <a:ext cx="3346704" cy="1042416"/>
          </a:xfrm>
          <a:prstGeom prst="roundRect">
            <a:avLst>
              <a:gd name="adj" fmla="val 4386"/>
            </a:avLst>
          </a:prstGeom>
          <a:solidFill>
            <a:srgbClr val="1E2A36"/>
          </a:solidFill>
          <a:ln/>
        </p:spPr>
      </p:sp>
      <p:sp>
        <p:nvSpPr>
          <p:cNvPr id="12" name="Text 10"/>
          <p:cNvSpPr/>
          <p:nvPr/>
        </p:nvSpPr>
        <p:spPr>
          <a:xfrm>
            <a:off x="8193024" y="3968496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· 병렬 · 정지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93024" y="4279392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분기와 사람 개입 지점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Agent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Classify → Archive → Itinerary → HITL → Mobile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칸이 이 서비스의 뼈대입니다. 각 칸이 어느 계층에서 돌고 무엇을 넘기는지만 보면 전체가 읽힙니다.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1755648"/>
            <a:ext cx="1975104" cy="1060704"/>
          </a:xfrm>
          <a:prstGeom prst="roundRect">
            <a:avLst>
              <a:gd name="adj" fmla="val 4310"/>
            </a:avLst>
          </a:prstGeom>
          <a:solidFill>
            <a:srgbClr val="E2F0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4708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이해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3504" y="2432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Router(A1)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0352" y="2871216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31821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" y="336499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발화 · 화면 입력값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3767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395020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조건 · 실행 계획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32888" y="2267712"/>
            <a:ext cx="256032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16352" y="1755648"/>
            <a:ext cx="1975104" cy="1060704"/>
          </a:xfrm>
          <a:prstGeom prst="roundRect">
            <a:avLst>
              <a:gd name="adj" fmla="val 4310"/>
            </a:avLst>
          </a:prstGeom>
          <a:solidFill>
            <a:srgbClr val="E2F0F6"/>
          </a:solidFill>
          <a:ln/>
        </p:spPr>
      </p:sp>
      <p:sp>
        <p:nvSpPr>
          <p:cNvPr id="17" name="Text 15"/>
          <p:cNvSpPr/>
          <p:nvPr/>
        </p:nvSpPr>
        <p:spPr>
          <a:xfrm>
            <a:off x="2834640" y="184708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34640" y="217627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경험 조회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889504" y="2432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816352" y="2871216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852928" y="31821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852928" y="336499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· 여행 조건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52928" y="3767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52928" y="395020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 프로필 · 경험 조각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18888" y="2267712"/>
            <a:ext cx="256032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102352" y="1755648"/>
            <a:ext cx="1975104" cy="1060704"/>
          </a:xfrm>
          <a:prstGeom prst="roundRect">
            <a:avLst>
              <a:gd name="adj" fmla="val 4310"/>
            </a:avLst>
          </a:prstGeom>
          <a:solidFill>
            <a:srgbClr val="E8F4E9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184708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Itinerary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20640" y="217627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시간표 계산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75504" y="2432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 · Route(A6) · Gap(A7)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02352" y="2871216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138928" y="31821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38928" y="336499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· 취향 · 이동 · 날씨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38928" y="3767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38928" y="395020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일정 · 구간 정보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04888" y="2267712"/>
            <a:ext cx="256032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88352" y="1755648"/>
            <a:ext cx="1975104" cy="1060704"/>
          </a:xfrm>
          <a:prstGeom prst="roundRect">
            <a:avLst>
              <a:gd name="adj" fmla="val 4310"/>
            </a:avLst>
          </a:prstGeom>
          <a:solidFill>
            <a:srgbClr val="E2F0F6"/>
          </a:solidFill>
          <a:ln/>
        </p:spPr>
      </p:sp>
      <p:sp>
        <p:nvSpPr>
          <p:cNvPr id="37" name="Text 35"/>
          <p:cNvSpPr/>
          <p:nvPr/>
        </p:nvSpPr>
        <p:spPr>
          <a:xfrm>
            <a:off x="7406640" y="184708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406640" y="217627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확인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461504" y="2432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 → 그래프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388352" y="2871216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424928" y="31821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24928" y="336499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일정 · 경험 조각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24928" y="3767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424928" y="395020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카드 · 사용자 선택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390888" y="2267712"/>
            <a:ext cx="256032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674352" y="1755648"/>
            <a:ext cx="1975104" cy="1060704"/>
          </a:xfrm>
          <a:prstGeom prst="roundRect">
            <a:avLst>
              <a:gd name="adj" fmla="val 4310"/>
            </a:avLst>
          </a:prstGeom>
          <a:solidFill>
            <a:srgbClr val="FAEAF4"/>
          </a:solidFill>
          <a:ln/>
        </p:spPr>
      </p:sp>
      <p:sp>
        <p:nvSpPr>
          <p:cNvPr id="47" name="Text 45"/>
          <p:cNvSpPr/>
          <p:nvPr/>
        </p:nvSpPr>
        <p:spPr>
          <a:xfrm>
            <a:off x="9692640" y="184708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01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692640" y="217627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· 지도 렌더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747504" y="2432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Native 앱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9674352" y="2871216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710928" y="31821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710928" y="336499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· 좌표 · 근거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710928" y="3767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710928" y="395020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사용자에게 보이는 결과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275320" y="4443984"/>
            <a:ext cx="0" cy="237744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89320" y="4681728"/>
            <a:ext cx="2286000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89320" y="4443984"/>
            <a:ext cx="0" cy="237744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6144768" y="470001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변경을 고르면 Itinerary 로 되돌아간다 (최대 2회)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30352" y="5084064"/>
            <a:ext cx="3520440" cy="1060704"/>
          </a:xfrm>
          <a:prstGeom prst="roundRect">
            <a:avLst>
              <a:gd name="adj" fmla="val 4310"/>
            </a:avLst>
          </a:prstGeom>
          <a:solidFill>
            <a:srgbClr val="F7F9FA"/>
          </a:solidFill>
          <a:ln/>
        </p:spPr>
      </p:sp>
      <p:sp>
        <p:nvSpPr>
          <p:cNvPr id="60" name="Text 58"/>
          <p:cNvSpPr/>
          <p:nvPr/>
        </p:nvSpPr>
        <p:spPr>
          <a:xfrm>
            <a:off x="749808" y="5202936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Classify 와 Archive 사이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49808" y="547725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 이 확정한 조건을 A2 와 A3 가 «각자» 읽습니다. 둘은 서로를 기다리지 않습니다.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270248" y="5084064"/>
            <a:ext cx="3520440" cy="1060704"/>
          </a:xfrm>
          <a:prstGeom prst="roundRect">
            <a:avLst>
              <a:gd name="adj" fmla="val 4310"/>
            </a:avLst>
          </a:prstGeom>
          <a:solidFill>
            <a:srgbClr val="F7F9FA"/>
          </a:solidFill>
          <a:ln/>
        </p:spPr>
      </p:sp>
      <p:sp>
        <p:nvSpPr>
          <p:cNvPr id="63" name="Text 61"/>
          <p:cNvSpPr/>
          <p:nvPr/>
        </p:nvSpPr>
        <p:spPr>
          <a:xfrm>
            <a:off x="4489704" y="5202936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Itinerary 와 HITL 사이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489704" y="547725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일정이 완성된 뒤에 검사합니다. 검사가 편성 중에 끼면 아직 없는 항목을 검사하게 됩니다.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010144" y="5084064"/>
            <a:ext cx="3520440" cy="1060704"/>
          </a:xfrm>
          <a:prstGeom prst="roundRect">
            <a:avLst>
              <a:gd name="adj" fmla="val 4310"/>
            </a:avLst>
          </a:prstGeom>
          <a:solidFill>
            <a:srgbClr val="F7F9FA"/>
          </a:solidFill>
          <a:ln/>
        </p:spPr>
      </p:sp>
      <p:sp>
        <p:nvSpPr>
          <p:cNvPr id="66" name="Text 64"/>
          <p:cNvSpPr/>
          <p:nvPr/>
        </p:nvSpPr>
        <p:spPr>
          <a:xfrm>
            <a:off x="8229600" y="5202936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HITL 과 Mobile 사이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229600" y="547725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시점의 상태가 저장돼 있어야 앱을 껐다 켜도 확인 카드가 살아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Agent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Order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1건이 지나가는 순서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번호가 실행 순서입니다. 같은 번호는 동시에 실행됩니다.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101584" y="1257300"/>
            <a:ext cx="100584" cy="100584"/>
          </a:xfrm>
          <a:prstGeom prst="ellipse">
            <a:avLst/>
          </a:prstGeom>
          <a:solidFill>
            <a:srgbClr val="A01A7D"/>
          </a:solidFill>
          <a:ln/>
        </p:spPr>
      </p:sp>
      <p:sp>
        <p:nvSpPr>
          <p:cNvPr id="7" name="Text 5"/>
          <p:cNvSpPr/>
          <p:nvPr/>
        </p:nvSpPr>
        <p:spPr>
          <a:xfrm>
            <a:off x="8257032" y="11887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089136" y="1257300"/>
            <a:ext cx="100584" cy="100584"/>
          </a:xfrm>
          <a:prstGeom prst="ellipse">
            <a:avLst/>
          </a:prstGeom>
          <a:solidFill>
            <a:srgbClr val="00688B"/>
          </a:solidFill>
          <a:ln/>
        </p:spPr>
      </p:sp>
      <p:sp>
        <p:nvSpPr>
          <p:cNvPr id="9" name="Text 7"/>
          <p:cNvSpPr/>
          <p:nvPr/>
        </p:nvSpPr>
        <p:spPr>
          <a:xfrm>
            <a:off x="9244584" y="11887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076688" y="1257300"/>
            <a:ext cx="100584" cy="10058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10232136" y="11887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064240" y="1257300"/>
            <a:ext cx="100584" cy="100584"/>
          </a:xfrm>
          <a:prstGeom prst="ellipse">
            <a:avLst/>
          </a:prstGeom>
          <a:solidFill>
            <a:srgbClr val="B3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1219688" y="11887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3232" y="1792224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F7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18379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→ API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" y="20756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전송 (SSE)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1673352"/>
            <a:ext cx="292608" cy="292608"/>
          </a:xfrm>
          <a:prstGeom prst="ellipse">
            <a:avLst/>
          </a:prstGeom>
          <a:solidFill>
            <a:srgbClr val="A01A7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07792" y="2075688"/>
            <a:ext cx="310896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19272" y="1792224"/>
            <a:ext cx="2377440" cy="566928"/>
          </a:xfrm>
          <a:prstGeom prst="roundRect">
            <a:avLst>
              <a:gd name="adj" fmla="val 8065"/>
            </a:avLst>
          </a:prstGeom>
          <a:solidFill>
            <a:srgbClr val="F7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3410712" y="18379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Router(A1)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10712" y="20756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· 실행 계획 확정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1673352"/>
            <a:ext cx="292608" cy="292608"/>
          </a:xfrm>
          <a:prstGeom prst="ellipse">
            <a:avLst/>
          </a:prstGeom>
          <a:solidFill>
            <a:srgbClr val="00688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88152" y="2075688"/>
            <a:ext cx="310896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99632" y="1463040"/>
            <a:ext cx="2651760" cy="566928"/>
          </a:xfrm>
          <a:prstGeom prst="roundRect">
            <a:avLst>
              <a:gd name="adj" fmla="val 8065"/>
            </a:avLst>
          </a:prstGeom>
          <a:solidFill>
            <a:srgbClr val="F7F9FA"/>
          </a:solidFill>
          <a:ln/>
        </p:spPr>
      </p:sp>
      <p:sp>
        <p:nvSpPr>
          <p:cNvPr id="27" name="Text 25"/>
          <p:cNvSpPr/>
          <p:nvPr/>
        </p:nvSpPr>
        <p:spPr>
          <a:xfrm>
            <a:off x="6291072" y="1508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91072" y="17465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경험 조회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1344168"/>
            <a:ext cx="292608" cy="292608"/>
          </a:xfrm>
          <a:prstGeom prst="ellipse">
            <a:avLst/>
          </a:prstGeom>
          <a:solidFill>
            <a:srgbClr val="00688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99632" y="2157984"/>
            <a:ext cx="2651760" cy="566928"/>
          </a:xfrm>
          <a:prstGeom prst="roundRect">
            <a:avLst>
              <a:gd name="adj" fmla="val 8065"/>
            </a:avLst>
          </a:prstGeom>
          <a:solidFill>
            <a:srgbClr val="F7F9FA"/>
          </a:solidFill>
          <a:ln/>
        </p:spPr>
      </p:sp>
      <p:sp>
        <p:nvSpPr>
          <p:cNvPr id="32" name="Text 30"/>
          <p:cNvSpPr/>
          <p:nvPr/>
        </p:nvSpPr>
        <p:spPr>
          <a:xfrm>
            <a:off x="6291072" y="22037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Culture(A3) → Verifier(A4)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91072" y="24414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탐색 · 공식정보 대조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0760" y="2039112"/>
            <a:ext cx="292608" cy="292608"/>
          </a:xfrm>
          <a:prstGeom prst="ellipse">
            <a:avLst/>
          </a:prstGeom>
          <a:solidFill>
            <a:srgbClr val="00688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869680" y="17373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942832" y="2075688"/>
            <a:ext cx="292608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354312" y="1792224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F7F9FA"/>
          </a:solidFill>
          <a:ln/>
        </p:spPr>
      </p:sp>
      <p:sp>
        <p:nvSpPr>
          <p:cNvPr id="39" name="Text 37"/>
          <p:cNvSpPr/>
          <p:nvPr/>
        </p:nvSpPr>
        <p:spPr>
          <a:xfrm>
            <a:off x="9445752" y="18379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합류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445752" y="20756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상태 통합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235440" y="1673352"/>
            <a:ext cx="292608" cy="292608"/>
          </a:xfrm>
          <a:prstGeom prst="ellipse">
            <a:avLst/>
          </a:prstGeom>
          <a:solidFill>
            <a:srgbClr val="00688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35440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936224" y="2359152"/>
            <a:ext cx="0" cy="45720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53312" y="2816352"/>
            <a:ext cx="9582912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53312" y="2816352"/>
            <a:ext cx="0" cy="256032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13232" y="3072384"/>
            <a:ext cx="3108960" cy="566928"/>
          </a:xfrm>
          <a:prstGeom prst="roundRect">
            <a:avLst>
              <a:gd name="adj" fmla="val 8065"/>
            </a:avLst>
          </a:prstGeom>
          <a:solidFill>
            <a:srgbClr val="F7F9FA"/>
          </a:solidFill>
          <a:ln/>
        </p:spPr>
      </p:sp>
      <p:sp>
        <p:nvSpPr>
          <p:cNvPr id="47" name="Text 45"/>
          <p:cNvSpPr/>
          <p:nvPr/>
        </p:nvSpPr>
        <p:spPr>
          <a:xfrm>
            <a:off x="804672" y="31181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 · Route(A6) · Gap(A7)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04672" y="33558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· 시각 · 이동 · 빈틈 — 하루를 만든다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94360" y="2953512"/>
            <a:ext cx="292608" cy="292608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13632" y="3355848"/>
            <a:ext cx="310896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325112" y="3072384"/>
            <a:ext cx="2286000" cy="566928"/>
          </a:xfrm>
          <a:prstGeom prst="roundRect">
            <a:avLst>
              <a:gd name="adj" fmla="val 8065"/>
            </a:avLst>
          </a:prstGeom>
          <a:solidFill>
            <a:srgbClr val="F7F9FA"/>
          </a:solidFill>
          <a:ln/>
        </p:spPr>
      </p:sp>
      <p:sp>
        <p:nvSpPr>
          <p:cNvPr id="53" name="Text 51"/>
          <p:cNvSpPr/>
          <p:nvPr/>
        </p:nvSpPr>
        <p:spPr>
          <a:xfrm>
            <a:off x="4416552" y="31181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416552" y="33558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6종 검사 → 분류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206240" y="2953512"/>
            <a:ext cx="292608" cy="292608"/>
          </a:xfrm>
          <a:prstGeom prst="ellipse">
            <a:avLst/>
          </a:prstGeom>
          <a:solidFill>
            <a:srgbClr val="00688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0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702552" y="3355848"/>
            <a:ext cx="310896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114032" y="3072384"/>
            <a:ext cx="1371600" cy="566928"/>
          </a:xfrm>
          <a:prstGeom prst="roundRect">
            <a:avLst>
              <a:gd name="adj" fmla="val 8065"/>
            </a:avLst>
          </a:prstGeom>
          <a:solidFill>
            <a:srgbClr val="E2F0F6"/>
          </a:solidFill>
          <a:ln/>
        </p:spPr>
      </p:sp>
      <p:sp>
        <p:nvSpPr>
          <p:cNvPr id="59" name="Text 57"/>
          <p:cNvSpPr/>
          <p:nvPr/>
        </p:nvSpPr>
        <p:spPr>
          <a:xfrm>
            <a:off x="7114032" y="307238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필요?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577072" y="3355848"/>
            <a:ext cx="292608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942832" y="3072384"/>
            <a:ext cx="2606040" cy="566928"/>
          </a:xfrm>
          <a:prstGeom prst="roundRect">
            <a:avLst>
              <a:gd name="adj" fmla="val 8065"/>
            </a:avLst>
          </a:prstGeom>
          <a:solidFill>
            <a:srgbClr val="F7F9FA"/>
          </a:solidFill>
          <a:ln/>
        </p:spPr>
      </p:sp>
      <p:sp>
        <p:nvSpPr>
          <p:cNvPr id="62" name="Text 60"/>
          <p:cNvSpPr/>
          <p:nvPr/>
        </p:nvSpPr>
        <p:spPr>
          <a:xfrm>
            <a:off x="9034272" y="31181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· 사용자 확인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9034272" y="335584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선택을 받는다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823960" y="2953512"/>
            <a:ext cx="292608" cy="292608"/>
          </a:xfrm>
          <a:prstGeom prst="ellipse">
            <a:avLst/>
          </a:prstGeom>
          <a:solidFill>
            <a:srgbClr val="00688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823960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799832" y="3639312"/>
            <a:ext cx="0" cy="493776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856232" y="4133088"/>
            <a:ext cx="5943600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856232" y="4133088"/>
            <a:ext cx="0" cy="146304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7891272" y="41513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없음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0222992" y="3639312"/>
            <a:ext cx="0" cy="201168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62072" y="3840480"/>
            <a:ext cx="7360920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62072" y="3639312"/>
            <a:ext cx="0" cy="201168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73" name="Text 71"/>
          <p:cNvSpPr/>
          <p:nvPr/>
        </p:nvSpPr>
        <p:spPr>
          <a:xfrm>
            <a:off x="3044952" y="38587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변경을 골랐으면 → 5 로 되돌아가 재편성 (최대 2회)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13232" y="4279392"/>
            <a:ext cx="3108960" cy="566928"/>
          </a:xfrm>
          <a:prstGeom prst="roundRect">
            <a:avLst>
              <a:gd name="adj" fmla="val 8065"/>
            </a:avLst>
          </a:prstGeom>
          <a:solidFill>
            <a:srgbClr val="F7F9FA"/>
          </a:solidFill>
          <a:ln/>
        </p:spPr>
      </p:sp>
      <p:sp>
        <p:nvSpPr>
          <p:cNvPr id="75" name="Text 73"/>
          <p:cNvSpPr/>
          <p:nvPr/>
        </p:nvSpPr>
        <p:spPr>
          <a:xfrm>
            <a:off x="804672" y="43251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→ Memory(A9)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804672" y="45628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행동 기록 · 취향 재집계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94360" y="4160520"/>
            <a:ext cx="292608" cy="292608"/>
          </a:xfrm>
          <a:prstGeom prst="ellipse">
            <a:avLst/>
          </a:prstGeom>
          <a:solidFill>
            <a:srgbClr val="00688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9436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913632" y="4562856"/>
            <a:ext cx="310896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4325112" y="4279392"/>
            <a:ext cx="2286000" cy="566928"/>
          </a:xfrm>
          <a:prstGeom prst="roundRect">
            <a:avLst>
              <a:gd name="adj" fmla="val 8065"/>
            </a:avLst>
          </a:prstGeom>
          <a:solidFill>
            <a:srgbClr val="F7F9FA"/>
          </a:solidFill>
          <a:ln/>
        </p:spPr>
      </p:sp>
      <p:sp>
        <p:nvSpPr>
          <p:cNvPr id="81" name="Text 79"/>
          <p:cNvSpPr/>
          <p:nvPr/>
        </p:nvSpPr>
        <p:spPr>
          <a:xfrm>
            <a:off x="4416552" y="43251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구성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4416552" y="45628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함께 담는다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206240" y="4160520"/>
            <a:ext cx="292608" cy="292608"/>
          </a:xfrm>
          <a:prstGeom prst="ellipse">
            <a:avLst/>
          </a:prstGeom>
          <a:solidFill>
            <a:srgbClr val="00688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20624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702552" y="4562856"/>
            <a:ext cx="310896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7114032" y="4279392"/>
            <a:ext cx="2286000" cy="566928"/>
          </a:xfrm>
          <a:prstGeom prst="roundRect">
            <a:avLst>
              <a:gd name="adj" fmla="val 8065"/>
            </a:avLst>
          </a:prstGeom>
          <a:solidFill>
            <a:srgbClr val="F7F9FA"/>
          </a:solidFill>
          <a:ln/>
        </p:spPr>
      </p:sp>
      <p:sp>
        <p:nvSpPr>
          <p:cNvPr id="87" name="Text 85"/>
          <p:cNvSpPr/>
          <p:nvPr/>
        </p:nvSpPr>
        <p:spPr>
          <a:xfrm>
            <a:off x="7205472" y="43251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표시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7205472" y="45628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· 지도 · 카드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995160" y="4160520"/>
            <a:ext cx="292608" cy="292608"/>
          </a:xfrm>
          <a:prstGeom prst="ellipse">
            <a:avLst/>
          </a:prstGeom>
          <a:solidFill>
            <a:srgbClr val="A01A7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99516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9564624" y="4334256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보강 — 화면이 그려진 뒤 실제 경로 좌표(A6)와 공식정보 검증(A4)을 채운다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530352" y="5138928"/>
            <a:ext cx="11128248" cy="676656"/>
          </a:xfrm>
          <a:prstGeom prst="roundRect">
            <a:avLst>
              <a:gd name="adj" fmla="val 6757"/>
            </a:avLst>
          </a:prstGeom>
          <a:solidFill>
            <a:srgbClr val="F7F9FA"/>
          </a:solidFill>
          <a:ln/>
        </p:spPr>
      </p:sp>
      <p:sp>
        <p:nvSpPr>
          <p:cNvPr id="93" name="Text 91"/>
          <p:cNvSpPr/>
          <p:nvPr/>
        </p:nvSpPr>
        <p:spPr>
          <a:xfrm>
            <a:off x="804672" y="5230368"/>
            <a:ext cx="10579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여기까지가 1단계 —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15초. 탐색 · 편성 · 검증 판정 · 응답이 모두 이 안에 들어갑니다. 구간 실측과 공식정보 대조는 자기 예산 60초를 갖고 화면이 그려진 뒤에 돕니다 — 사용자는 기다리지 않습니다.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530352" y="5943600"/>
            <a:ext cx="11128248" cy="603504"/>
          </a:xfrm>
          <a:prstGeom prst="roundRect">
            <a:avLst>
              <a:gd name="adj" fmla="val 7576"/>
            </a:avLst>
          </a:prstGeom>
          <a:solidFill>
            <a:srgbClr val="F7F9FA"/>
          </a:solidFill>
          <a:ln/>
        </p:spPr>
      </p:sp>
      <p:sp>
        <p:nvSpPr>
          <p:cNvPr id="95" name="Text 93"/>
          <p:cNvSpPr/>
          <p:nvPr/>
        </p:nvSpPr>
        <p:spPr>
          <a:xfrm>
            <a:off x="804672" y="6035040"/>
            <a:ext cx="10579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정지의 의미 —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번에서 그래프는 실제로 멈춥니다. 멈춘 시점의 상태를 체크포인터가 통째로 저장하므로, 앱을 껐다 켜도 확인 카드가 그대로 살아 있고 정확히 그 지점부터 재개됩니다.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Agent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Mapping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9종이 그래프 위에 놓이는 방식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11개 = 서브그래프 4 + 조율 7. build.py 의 add_node 호출 수와 같습니다.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0352" y="1755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그래프 — 노드 11개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2084832"/>
            <a:ext cx="5577840" cy="36576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20848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04288" y="20848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Router(A1)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138928" y="2084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76656" y="24505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04288" y="2450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138928" y="2450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서브그래프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0352" y="2816352"/>
            <a:ext cx="5577840" cy="36576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28163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04288" y="28163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Culture(A3) + Verifier(A4)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38928" y="2816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서브그래프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6656" y="31821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current_plan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04288" y="3182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일정 로드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38928" y="3182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0352" y="3547872"/>
            <a:ext cx="5577840" cy="36576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5478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merge_context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04288" y="3547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합류 — 상태 통합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38928" y="35478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76656" y="39136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itinerary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304288" y="3913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Planner(A5)+Route(A6)+Gap(A7)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38928" y="39136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서브그래프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0352" y="4279392"/>
            <a:ext cx="5577840" cy="36576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" y="42793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304288" y="42793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38928" y="42793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서브그래프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6656" y="46451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304288" y="46451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 → 그래프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38928" y="46451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30352" y="5010912"/>
            <a:ext cx="5577840" cy="36576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" y="50109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finalize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304288" y="50109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반영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138928" y="50109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76656" y="53766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304288" y="53766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Memory(A9)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138928" y="5376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30352" y="5742432"/>
            <a:ext cx="5577840" cy="36576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" y="57424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304288" y="5742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붙인 응답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138928" y="5742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473952" y="17556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서브그래프 4개 — 안쪽 흐름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473952" y="2084832"/>
            <a:ext cx="5184648" cy="694944"/>
          </a:xfrm>
          <a:prstGeom prst="roundRect">
            <a:avLst>
              <a:gd name="adj" fmla="val 6579"/>
            </a:avLst>
          </a:prstGeom>
          <a:solidFill>
            <a:srgbClr val="F7F9FA"/>
          </a:solidFill>
          <a:ln/>
        </p:spPr>
      </p:sp>
      <p:sp>
        <p:nvSpPr>
          <p:cNvPr id="48" name="Text 46"/>
          <p:cNvSpPr/>
          <p:nvPr/>
        </p:nvSpPr>
        <p:spPr>
          <a:xfrm>
            <a:off x="6656832" y="216712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656832" y="239572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plan_facets → ⟨Send⟩ facet_search ×3 → fuse_rerank → extract_relevant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473952" y="2871216"/>
            <a:ext cx="5184648" cy="694944"/>
          </a:xfrm>
          <a:prstGeom prst="roundRect">
            <a:avLst>
              <a:gd name="adj" fmla="val 6579"/>
            </a:avLst>
          </a:prstGeom>
          <a:solidFill>
            <a:srgbClr val="F7F9FA"/>
          </a:solidFill>
          <a:ln/>
        </p:spPr>
      </p:sp>
      <p:sp>
        <p:nvSpPr>
          <p:cNvPr id="51" name="Text 49"/>
          <p:cNvSpPr/>
          <p:nvPr/>
        </p:nvSpPr>
        <p:spPr>
          <a:xfrm>
            <a:off x="6656832" y="295351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656832" y="318211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search_catalog ∥ events ∥ always_on ∥ web → normalize → ⟨조건부⟩ verify → classify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473952" y="3657600"/>
            <a:ext cx="5184648" cy="694944"/>
          </a:xfrm>
          <a:prstGeom prst="roundRect">
            <a:avLst>
              <a:gd name="adj" fmla="val 6579"/>
            </a:avLst>
          </a:prstGeom>
          <a:solidFill>
            <a:srgbClr val="F7F9FA"/>
          </a:solidFill>
          <a:ln/>
        </p:spPr>
      </p:sp>
      <p:sp>
        <p:nvSpPr>
          <p:cNvPr id="54" name="Text 52"/>
          <p:cNvSpPr/>
          <p:nvPr/>
        </p:nvSpPr>
        <p:spPr>
          <a:xfrm>
            <a:off x="6656832" y="37398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itinerary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56832" y="396849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ctx 4종 ∥ → assemble_constraints → schedule → detect_gaps → ⟨Send⟩ nearby → fill_gaps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473952" y="4443984"/>
            <a:ext cx="5184648" cy="694944"/>
          </a:xfrm>
          <a:prstGeom prst="roundRect">
            <a:avLst>
              <a:gd name="adj" fmla="val 6579"/>
            </a:avLst>
          </a:prstGeom>
          <a:solidFill>
            <a:srgbClr val="F7F9FA"/>
          </a:solidFill>
          <a:ln/>
        </p:spPr>
      </p:sp>
      <p:sp>
        <p:nvSpPr>
          <p:cNvPr id="57" name="Text 55"/>
          <p:cNvSpPr/>
          <p:nvPr/>
        </p:nvSpPr>
        <p:spPr>
          <a:xfrm>
            <a:off x="6656832" y="452628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656832" y="47548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⟨병렬 6종⟩ hours · travel · overlap · weather · revisit · friction → triage → cards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473952" y="535838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지점 3곳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473952" y="56509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팬아웃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229600" y="56509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fan_out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464040" y="56509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archive · discovery · current_plan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73952" y="5925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일정을 만들 것인가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229600" y="59253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need_itinerary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464040" y="5925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itinerary · compose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473952" y="6199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확인이 필요한가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229600" y="6199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needs_confirm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464040" y="61996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hitl · finalize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30352" y="6181344"/>
            <a:ext cx="5577840" cy="475488"/>
          </a:xfrm>
          <a:prstGeom prst="roundRect">
            <a:avLst>
              <a:gd name="adj" fmla="val 9615"/>
            </a:avLst>
          </a:prstGeom>
          <a:solidFill>
            <a:srgbClr val="F7F9FA"/>
          </a:solidFill>
          <a:ln/>
        </p:spPr>
      </p:sp>
      <p:sp>
        <p:nvSpPr>
          <p:cNvPr id="70" name="Text 68"/>
          <p:cNvSpPr/>
          <p:nvPr/>
        </p:nvSpPr>
        <p:spPr>
          <a:xfrm>
            <a:off x="731520" y="6181344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서브그래프의 출력은 출력 스키마에 있는 키만 부모로 올라간다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Agent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출력이 다음 Agent 의 입력이 되는가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는 서로를 호출하지 않습니다. 공유 상태에 남긴 산출물을 다음 Agent 가 읽어 갑니다.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생산자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953512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채널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71032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리듀서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68512" y="1737360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0352" y="2011680"/>
            <a:ext cx="11128248" cy="310896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057400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Router(A1)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53512" y="205740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request_type · flags · conditions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71032" y="2057400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덮어쓰기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68512" y="205740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fan_out · need_itinerary · A2 · A3 · A5 · A7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1792" y="2368296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53512" y="2368296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taste_profile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71032" y="2368296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덮어쓰기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668512" y="236829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(후보 점수) · A5 (체류시간)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0352" y="2633472"/>
            <a:ext cx="11128248" cy="310896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2679192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53512" y="2679192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archive_hits[] · edit_signals[]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71032" y="2679192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MERGE_BY_ID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668512" y="267919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A8 (과거 불편 검사) · A9 · compose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1792" y="2990088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Culture(A3)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53512" y="299008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candidates[]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71032" y="2990088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merge_candidates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668512" y="299008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 · A5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0352" y="3255264"/>
            <a:ext cx="11128248" cy="310896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" y="3300984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Verifier(A4)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53512" y="3300984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verifications[] · place_diffs[]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71032" y="330098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MERGE_BY_ID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668512" y="330098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 · A8 (재방문 검사) · UI 배지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" y="3611880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 · Route(A6)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953512" y="361188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itinerary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71032" y="3611880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덮어쓰기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668512" y="361188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A8 · A9 · UI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0352" y="3877056"/>
            <a:ext cx="11128248" cy="310896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" y="3922776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Gap(A7)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953512" y="3922776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gaps[] · nearby[]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71032" y="3922776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MERGE_BY_ID · merge_candidates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668512" y="392277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fill_gaps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1792" y="4233672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953512" y="4233672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issues[] · advisories[]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971032" y="4233672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replace_list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668512" y="423367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needs_confirm · UI 확인 카드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30352" y="4498848"/>
            <a:ext cx="11128248" cy="310896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47" name="Text 45"/>
          <p:cNvSpPr/>
          <p:nvPr/>
        </p:nvSpPr>
        <p:spPr>
          <a:xfrm>
            <a:off x="621792" y="4544568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953512" y="454456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decisions[]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971032" y="4544568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MERGE_BY_ADVISORY_ID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668512" y="454456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finalize · A9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1792" y="4855464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노드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953512" y="4855464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evidence[] · trace[]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971032" y="485546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MERGE_BY_ID · append_unique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668512" y="485546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compose · 근거 조회 API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30352" y="5248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리듀서가 있는 키 — 동시에 써도 안전하다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30352" y="55412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MERGE_BY_ID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121408" y="554126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id 는 나중 것으로 갱신 — 이어 붙이면 합류마다 목록이 불어난다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30352" y="58704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replace_list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121408" y="58704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값이 오면 통째로 교체 — 누적하면 해결된 이슈의 카드가 영원히 남는다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30352" y="61996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merge_candidates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121408" y="61996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 더 풍부한 쪽 · 점수는 max — 4소스가 같은 장소를 다른 완성도로 준다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153912" y="5193792"/>
            <a:ext cx="5504688" cy="1481328"/>
          </a:xfrm>
          <a:prstGeom prst="roundRect">
            <a:avLst>
              <a:gd name="adj" fmla="val 3086"/>
            </a:avLst>
          </a:prstGeom>
          <a:solidFill>
            <a:srgbClr val="F7F9FA"/>
          </a:solidFill>
          <a:ln/>
        </p:spPr>
      </p:sp>
      <p:sp>
        <p:nvSpPr>
          <p:cNvPr id="63" name="Text 61"/>
          <p:cNvSpPr/>
          <p:nvPr/>
        </p:nvSpPr>
        <p:spPr>
          <a:xfrm>
            <a:off x="6373368" y="530352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리듀서가 없는 키 — 한 갈래만 내보낸다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373368" y="5577840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user_id · conditions · taste_profile · itinerary 는 리듀서가 없어 «마지막 값 하나»만 담는 채널입니다. 두 갈래가 같은 단계에 쓰면 InvalidUpdateError 로 실행이 멈춥니다. 그래서 서브그래프마다 출력 스키마를 두어 부모로 내보낼 키를 좁힙니다 — Archive 는 taste_profile 을, Discovery 는 conditions 를 내보내고 user_id 는 아무도 내보내지 않습니다.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Agent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Isolation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실행이 상태를 오염시키지 않는 이유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와 A3 는 같은 단계에서 끝납니다. 둘이 같은 키를 부모로 돌려보내면 그래프가 멈춥니다 — 그 자리를 출력 스키마가 막습니다.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0352" y="16824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⟨병렬 실행⟩ 둘은 서로를 기다리지 않는다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" y="1920240"/>
            <a:ext cx="2560320" cy="694944"/>
          </a:xfrm>
          <a:prstGeom prst="roundRect">
            <a:avLst>
              <a:gd name="adj" fmla="val 6579"/>
            </a:avLst>
          </a:prstGeom>
          <a:solidFill>
            <a:srgbClr val="E2F0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299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Archive 서브그래프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27248" y="2267712"/>
            <a:ext cx="1078992" cy="0"/>
          </a:xfrm>
          <a:prstGeom prst="line">
            <a:avLst/>
          </a:prstGeom>
          <a:noFill/>
          <a:ln w="20320">
            <a:solidFill>
              <a:srgbClr val="B3530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30352" y="3054096"/>
            <a:ext cx="2560320" cy="694944"/>
          </a:xfrm>
          <a:prstGeom prst="roundRect">
            <a:avLst>
              <a:gd name="adj" fmla="val 6579"/>
            </a:avLst>
          </a:prstGeom>
          <a:solidFill>
            <a:srgbClr val="E2F0F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6382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Discovery 서브그래프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43814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Culture(A3) · Verifier(A4)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27248" y="3401568"/>
            <a:ext cx="1078992" cy="0"/>
          </a:xfrm>
          <a:prstGeom prst="line">
            <a:avLst/>
          </a:prstGeom>
          <a:noFill/>
          <a:ln w="20320">
            <a:solidFill>
              <a:srgbClr val="B3530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206240" y="2267712"/>
            <a:ext cx="0" cy="1133856"/>
          </a:xfrm>
          <a:prstGeom prst="line">
            <a:avLst/>
          </a:prstGeom>
          <a:noFill/>
          <a:ln w="20320">
            <a:solidFill>
              <a:srgbClr val="B35309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206240" y="2834640"/>
            <a:ext cx="859536" cy="0"/>
          </a:xfrm>
          <a:prstGeom prst="line">
            <a:avLst/>
          </a:prstGeom>
          <a:noFill/>
          <a:ln w="20320">
            <a:solidFill>
              <a:srgbClr val="B35309"/>
            </a:solidFill>
            <a:prstDash val="dash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20640" y="2487168"/>
            <a:ext cx="2651760" cy="694944"/>
          </a:xfrm>
          <a:prstGeom prst="roundRect">
            <a:avLst>
              <a:gd name="adj" fmla="val 6579"/>
            </a:avLst>
          </a:prstGeom>
          <a:solidFill>
            <a:srgbClr val="F7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5138928" y="259689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CultureMateState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38928" y="2871216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공통 상태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808976" y="2834640"/>
            <a:ext cx="457200" cy="0"/>
          </a:xfrm>
          <a:prstGeom prst="line">
            <a:avLst/>
          </a:prstGeom>
          <a:noFill/>
          <a:ln w="20320">
            <a:solidFill>
              <a:srgbClr val="B35309"/>
            </a:solidFill>
            <a:prstDash val="dash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321040" y="2267712"/>
            <a:ext cx="3337560" cy="1133856"/>
          </a:xfrm>
          <a:prstGeom prst="roundRect">
            <a:avLst>
              <a:gd name="adj" fmla="val 4032"/>
            </a:avLst>
          </a:prstGeom>
          <a:solidFill>
            <a:srgbClr val="FCEDE0"/>
          </a:solidFill>
          <a:ln/>
        </p:spPr>
      </p:sp>
      <p:sp>
        <p:nvSpPr>
          <p:cNvPr id="22" name="Text 20"/>
          <p:cNvSpPr/>
          <p:nvPr/>
        </p:nvSpPr>
        <p:spPr>
          <a:xfrm>
            <a:off x="8339328" y="237744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39328" y="2670048"/>
            <a:ext cx="3300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InvalidUpdateError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39328" y="2926080"/>
            <a:ext cx="3300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리듀서 없는 키에 한 스텝, 두 값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어느 값을 쓸지 정할 수 없다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0352" y="3913632"/>
            <a:ext cx="11128248" cy="566928"/>
          </a:xfrm>
          <a:prstGeom prst="roundRect">
            <a:avLst>
              <a:gd name="adj" fmla="val 8065"/>
            </a:avLst>
          </a:prstGeom>
          <a:solidFill>
            <a:srgbClr val="F7F9FA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005072"/>
            <a:ext cx="10579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오해하기 쉬운 곳 —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서브그래프는 user_id 를 «바꾸려» 한 적이 없습니다. 노드로 붙인 서브그래프는 입력으로 받은 키까지 통째로 되돌려주기 때문에, 의도와 무관하게 양쪽이 같은 키를 반환하게 됩니다.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" y="4626864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막는 방법 — 서브그래프마다 «부모로 내보낼 키 목록»을 정한다 (output_schema)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4919472"/>
            <a:ext cx="5504688" cy="676656"/>
          </a:xfrm>
          <a:prstGeom prst="roundRect">
            <a:avLst>
              <a:gd name="adj" fmla="val 6757"/>
            </a:avLst>
          </a:prstGeom>
          <a:solidFill>
            <a:srgbClr val="E2F0F6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9926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ArchiveOutput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816352" y="497433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archive_hits · edit_signals · taste_profile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 · trace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53912" y="4919472"/>
            <a:ext cx="5504688" cy="676656"/>
          </a:xfrm>
          <a:prstGeom prst="roundRect">
            <a:avLst>
              <a:gd name="adj" fmla="val 6757"/>
            </a:avLst>
          </a:prstGeom>
          <a:solidFill>
            <a:srgbClr val="E2F0F6"/>
          </a:solidFill>
          <a:ln/>
        </p:spPr>
      </p:sp>
      <p:sp>
        <p:nvSpPr>
          <p:cNvPr id="32" name="Text 30"/>
          <p:cNvSpPr/>
          <p:nvPr/>
        </p:nvSpPr>
        <p:spPr>
          <a:xfrm>
            <a:off x="6373368" y="49926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DiscoveryOutput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439912" y="497433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conditions · candidates · verifications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place_diffs · evidence · trace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5724144"/>
            <a:ext cx="3520440" cy="859536"/>
          </a:xfrm>
          <a:prstGeom prst="roundRect">
            <a:avLst>
              <a:gd name="adj" fmla="val 5319"/>
            </a:avLst>
          </a:prstGeom>
          <a:solidFill>
            <a:srgbClr val="F7F9FA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" y="5843016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user_id 는 양쪽 다 안 내보낸다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" y="611733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입력으로만 받고 출력 스키마에는 없다 — 충돌 자체가 생기지 않는다.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70248" y="5724144"/>
            <a:ext cx="3520440" cy="859536"/>
          </a:xfrm>
          <a:prstGeom prst="roundRect">
            <a:avLst>
              <a:gd name="adj" fmla="val 5319"/>
            </a:avLst>
          </a:prstGeom>
          <a:solidFill>
            <a:srgbClr val="F7F9FA"/>
          </a:solidFill>
          <a:ln/>
        </p:spPr>
      </p:sp>
      <p:sp>
        <p:nvSpPr>
          <p:cNvPr id="38" name="Text 36"/>
          <p:cNvSpPr/>
          <p:nvPr/>
        </p:nvSpPr>
        <p:spPr>
          <a:xfrm>
            <a:off x="4489704" y="5843016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 · trace 는 겹쳐도 된다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89704" y="611733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같지만 리듀서가 있어 병합된다. «전부 다르게 나눈다»가 아니다.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10144" y="5724144"/>
            <a:ext cx="3520440" cy="859536"/>
          </a:xfrm>
          <a:prstGeom prst="roundRect">
            <a:avLst>
              <a:gd name="adj" fmla="val 5319"/>
            </a:avLst>
          </a:prstGeom>
          <a:solidFill>
            <a:srgbClr val="F7F9FA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0" y="5843016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리듀서 없는 키는 한쪽만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29600" y="611733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taste_profile 은 Archive 만, conditions 는 Discovery 만 내보낸다.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Agent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 · Parallel · HITL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분기 · 병렬 실행 · 사람 개입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가지가 이 워크플로를 «필요한 만큼만 돌고, 필요할 때 멈추는» 것으로 만듭니다.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1773936"/>
            <a:ext cx="11128248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773936"/>
            <a:ext cx="1920240" cy="1316736"/>
          </a:xfrm>
          <a:prstGeom prst="roundRect">
            <a:avLst>
              <a:gd name="adj" fmla="val 3472"/>
            </a:avLst>
          </a:prstGeom>
          <a:solidFill>
            <a:srgbClr val="E2F0F6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20482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분기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" y="24140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70048" y="1920240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유형이 실행 계획을 만들고, 계획에 켜진 Agent 만 깨운다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70048" y="2231136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「작년에 갔던 곳」 한 줄이면 Preference(A2) 하나만 돌고 끝난다 — 편성 · 검증 · 학습은 아예 실행되지 않는다.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70048" y="2706624"/>
            <a:ext cx="8732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라우팅 표는 7행짜리 정적 테이블이다. LLM 을 넣으면 비용 · 지연 · 비결정성이 함께 늘고 원인 추적이 어려워진다.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3200400"/>
            <a:ext cx="11128248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3200400"/>
            <a:ext cx="1920240" cy="1316736"/>
          </a:xfrm>
          <a:prstGeom prst="roundRect">
            <a:avLst>
              <a:gd name="adj" fmla="val 3472"/>
            </a:avLst>
          </a:prstGeom>
          <a:solidFill>
            <a:srgbClr val="E2F0F6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" y="34747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실행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" y="38404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70048" y="3346704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서로를 기다릴 이유가 없는 것은 같은 단계에 둔다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048" y="3657600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∥ A3 가 동시에 돌고, facet 검색 · 후보 검증 · 주변 검색은 실행 시점에 개수가 정해지는 동적 갈래로 펼친다.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70048" y="4133088"/>
            <a:ext cx="8732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남은 시간이 모자라면 갈래 수를 줄인다 — 줄여도 결과는 나온다.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" y="4626864"/>
            <a:ext cx="11128248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4626864"/>
            <a:ext cx="1920240" cy="1316736"/>
          </a:xfrm>
          <a:prstGeom prst="roundRect">
            <a:avLst>
              <a:gd name="adj" fmla="val 3472"/>
            </a:avLst>
          </a:prstGeom>
          <a:solidFill>
            <a:srgbClr val="FCEDE0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90118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개입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" y="52669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70048" y="4773168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가 임의로 바꾸지 않는다 — 바꾸기 전에 사용자가 고른다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670048" y="5084064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Guardian(A8)이 «시스템이 알아서 고칠 수 있는 문제»와 «사용자만 결정할 수 있는 문제»를 가르고, 뒤쪽만 확인 카드로 올린 뒤 그래프가 멈춘다.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70048" y="5559552"/>
            <a:ext cx="8732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멈춘 시점의 상태를 통째로 저장한다 — 앱을 껐다 켜도 카드가 살아 있다.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0352" y="6053328"/>
            <a:ext cx="11128248" cy="566928"/>
          </a:xfrm>
          <a:prstGeom prst="roundRect">
            <a:avLst>
              <a:gd name="adj" fmla="val 8065"/>
            </a:avLst>
          </a:prstGeom>
          <a:solidFill>
            <a:srgbClr val="F7F9FA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6144768"/>
            <a:ext cx="10579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가지가 함께 만드는 것 —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유형마다 도는 Agent 수가 다르므로 지연과 비용이 요청에 비례합니다. 전체 그래프를 매번 돌리면 「작년에 갔던 곳」 한 줄에도 15초가 듭니다.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Agent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Cases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«수정»이라도 거치는 Agent 가 다르다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 3.1 이 정의한 네 가지 상황입니다. 무엇을 건너뛰는지가 응답 시간을 가릅니다.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" y="1737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947672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발화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53712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Culture(A3)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16752" y="1737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Verifier(A4)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42632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 · A6 · A7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14232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902952" y="17373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30352" y="2011680"/>
            <a:ext cx="11128248" cy="45720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057400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신규 생성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47672" y="205740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«오늘 오후에 성수에서 놀고 싶어요»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53712" y="205740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전체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16752" y="2057400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상위 12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42632" y="20574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전체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714232" y="205740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PLAN_CREATE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902952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전체 생성 · 근거 누적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1792" y="2514600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시간 조정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47672" y="251460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«전시를 30분 더 보고 싶어요»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53712" y="251460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생략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16752" y="2514600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생략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42632" y="25146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재편성만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714232" y="251460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PLAN_MODIFY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902952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시간만 조정 · 여유 부족 알림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0352" y="2926080"/>
            <a:ext cx="11128248" cy="45720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" y="2971800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장소 교체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947672" y="297180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«마지막 카페를 다른 곳으로»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53712" y="297180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◐ 교체 구간만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16752" y="2971800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◐ 새 후보만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342632" y="29718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해당 구간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714232" y="297180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PLAN_MODIFY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902952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교체 · 전/후 비교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1792" y="3429000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현장 이벤트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947672" y="342900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전시가 1시간 일찍 끝남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53712" y="342900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현재 위치 반경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016752" y="3429000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캐시 무시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342632" y="34290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삽입만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714232" y="342900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GAP_FILL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902952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 추천 · 거절도 동등 선택지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1792" y="37124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전체   ◐ 부분   ○ 생략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30352" y="4059936"/>
            <a:ext cx="3520440" cy="1060704"/>
          </a:xfrm>
          <a:prstGeom prst="roundRect">
            <a:avLst>
              <a:gd name="adj" fmla="val 4310"/>
            </a:avLst>
          </a:prstGeom>
          <a:solidFill>
            <a:srgbClr val="F7F9FA"/>
          </a:solidFill>
          <a:ln/>
        </p:spPr>
      </p:sp>
      <p:sp>
        <p:nvSpPr>
          <p:cNvPr id="45" name="Text 43"/>
          <p:cNvSpPr/>
          <p:nvPr/>
        </p:nvSpPr>
        <p:spPr>
          <a:xfrm>
            <a:off x="749808" y="417880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2 가 가장 빠른 이유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9808" y="4453128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후보가 필요 없어 탐색을 건너뛰고, 확인 시각을 재사용해 검증도 건너뜁니다. 편성만 다시 돌면 됩니다.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270248" y="4059936"/>
            <a:ext cx="3520440" cy="1060704"/>
          </a:xfrm>
          <a:prstGeom prst="roundRect">
            <a:avLst>
              <a:gd name="adj" fmla="val 4310"/>
            </a:avLst>
          </a:prstGeom>
          <a:solidFill>
            <a:srgbClr val="F7F9FA"/>
          </a:solidFill>
          <a:ln/>
        </p:spPr>
      </p:sp>
      <p:sp>
        <p:nvSpPr>
          <p:cNvPr id="48" name="Text 46"/>
          <p:cNvSpPr/>
          <p:nvPr/>
        </p:nvSpPr>
        <p:spPr>
          <a:xfrm>
            <a:off x="4489704" y="417880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3 의 ◐ 는 «부분»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489704" y="4453128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교체 구간만 다시 탐색하고, 새 후보만 검증합니다. 기존 장소 2곳은 건드리지 않습니다.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010144" y="4059936"/>
            <a:ext cx="3520440" cy="1060704"/>
          </a:xfrm>
          <a:prstGeom prst="roundRect">
            <a:avLst>
              <a:gd name="adj" fmla="val 4310"/>
            </a:avLst>
          </a:prstGeom>
          <a:solidFill>
            <a:srgbClr val="F7F9FA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0" y="417880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4 는 캐시를 무시한다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229600" y="4453128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«지금 영업 중인가»는 캐시된 값으로 답할 수 없습니다. 현장에서는 실시간으로 다시 확인합니다.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30352" y="5376672"/>
            <a:ext cx="11128248" cy="621792"/>
          </a:xfrm>
          <a:prstGeom prst="roundRect">
            <a:avLst>
              <a:gd name="adj" fmla="val 7353"/>
            </a:avLst>
          </a:prstGeom>
          <a:solidFill>
            <a:srgbClr val="F7F9FA"/>
          </a:solidFill>
          <a:ln/>
        </p:spPr>
      </p:sp>
      <p:sp>
        <p:nvSpPr>
          <p:cNvPr id="54" name="Text 52"/>
          <p:cNvSpPr/>
          <p:nvPr/>
        </p:nvSpPr>
        <p:spPr>
          <a:xfrm>
            <a:off x="804672" y="5468112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경우 모두 공통 —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전에 사유를 먼저 보여주고 사용자가 고릅니다. CASE 2~4 는 «변경 전 / 변경 후»를 나란히 제시하며, 반영하지 않으면 일정은 그대로입니다.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30352" y="6108192"/>
            <a:ext cx="11128248" cy="512064"/>
          </a:xfrm>
          <a:prstGeom prst="roundRect">
            <a:avLst>
              <a:gd name="adj" fmla="val 8929"/>
            </a:avLst>
          </a:prstGeom>
          <a:solidFill>
            <a:srgbClr val="F7F9FA"/>
          </a:solidFill>
          <a:ln/>
        </p:spPr>
      </p:sp>
      <p:sp>
        <p:nvSpPr>
          <p:cNvPr id="56" name="Text 54"/>
          <p:cNvSpPr/>
          <p:nvPr/>
        </p:nvSpPr>
        <p:spPr>
          <a:xfrm>
            <a:off x="804672" y="6199632"/>
            <a:ext cx="10579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 표 —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유형 7종(ARCHIVE_QUERY · PLACE_RECOMMEND · PLAN_CREATE · PLAN_MODIFY · REVISIT_PLAN · WEATHER_ADJUST · GAP_FILL)이 각각 실행 계획을 갖습니다.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Agent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· Time Budget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어디에 있고, 시간은 어떻게 쪼개는가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가 실행 순서와 상태를, LangChain 이 모델 호출을 맡습니다. 모델 호출은 전부 한 곳(provider)을 지납니다.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0352" y="175564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 모델 배분 — 기준은 모델 크기가 아니라 «무슨 일을 시키는가»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" y="2084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700784" y="20848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Agent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072384" y="2084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무엇에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63440" y="2084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실패하면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30352" y="2322576"/>
            <a:ext cx="5760720" cy="384048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23225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00784" y="232257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Router(A1)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72384" y="232257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발화 구조화 추출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232257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파서 결과로 진행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" y="270662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700784" y="270662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Culture(A3)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72384" y="27066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관련성 판정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270662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점수로 진행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" y="3090672"/>
            <a:ext cx="5760720" cy="384048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30906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00784" y="30906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compose · A8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72384" y="30906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서술 · 카드 문구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309067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 문장으로 폴백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" y="34747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700784" y="34747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· A4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72384" y="3474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facet 생성 · 사실 추출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347472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폴백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0352" y="3858768"/>
            <a:ext cx="5760720" cy="384048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" y="3858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임베딩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00784" y="38587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72384" y="38587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벡터 (1024차원)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38587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아카이브 검색만 꺼짐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6656" y="42428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리랭크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700784" y="42428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· A7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72384" y="42428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cross-encoder 재순위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63440" y="424281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융합 결과를 그대로 사용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0352" y="47183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은 «있으면 좋은 것»이지 필수가 아니다 — 전 지점에 규칙 폴백이 있어 모델이 전부 죽어도 일정은 나온다.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83680" y="17556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예산 — 타임아웃이 아니라 비용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3680" y="204825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타임아웃은 «느려서 잘렸다»는 결과만 남기고 무엇을 포기했는지 모릅니다. 그래서 단계마다 비용을 매기고 미리 판단합니다.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83680" y="2578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예산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321040" y="2578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15.0초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464040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NFR-01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583680" y="28895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1묶음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321040" y="28895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2.5초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464040" y="28895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58368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이동행렬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321040" y="3200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3.0초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46404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583680" y="35112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실측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321040" y="35112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0.4초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464040" y="35112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583680" y="3822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생성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321040" y="38221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2.5초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946404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— 포기 불가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583680" y="418795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건너뛰든 답변 생성 몫은 항상 남는다 (NFR-02)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583680" y="453542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무거운 두 가지를 첫 응답에서 떼어냈다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583680" y="48280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360920" y="4828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/chat — 탐색 · 편성 · 검증 판정 · 응답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9270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15초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583680" y="51389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360920" y="5138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/threads/{id}/routes — 구간 실측 (A6)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927080" y="51389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60초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583680" y="54498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360920" y="5449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/threads/{id}/verify — 공식정보 대조 (A4)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927080" y="54498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60초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30352" y="5870448"/>
            <a:ext cx="11128248" cy="548640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/>
        </p:spPr>
      </p:sp>
      <p:sp>
        <p:nvSpPr>
          <p:cNvPr id="68" name="Text 66"/>
          <p:cNvSpPr/>
          <p:nvPr/>
        </p:nvSpPr>
        <p:spPr>
          <a:xfrm>
            <a:off x="804672" y="5961888"/>
            <a:ext cx="1057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사용자를 기다리게 하지 않는다 —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2단계는 화면이 이미 그려진 뒤에 돕니다. 실패하면 조용히 넘어갑니다 — 선이 직선으로 남을 뿐 일정은 이미 손에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Agent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Isolation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죽으면 무엇이 꺼지는가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Agent 의 실패가 워크플로를 멈추지 않습니다 — 9종으로 나눈 이유를 여기서 회수합니다.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" y="17556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죽는 것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27832" y="1755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꺼지는 것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330952" y="17556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나오는 것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0352" y="2029968"/>
            <a:ext cx="6675120" cy="402336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075688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27832" y="207568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 점수 · 과거 불편 경고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30952" y="20756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· 지도 · 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2478024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Culture(A3) — 외부 API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27832" y="247802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후보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30952" y="2478024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 카탈로그로 편성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" y="2834640"/>
            <a:ext cx="6675120" cy="402336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2880360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Verifier(A4)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27832" y="288036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공식정보 배지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30952" y="2880360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«확인 필요»로 표시된 일정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1792" y="3282696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Route(A6) — 경로 API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27832" y="328269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이동시간 · 경로 선형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30952" y="3282696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«(추정)» 표시된 일정 · 직선 지도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0352" y="3639312"/>
            <a:ext cx="6675120" cy="402336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368503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Gap(A7)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27832" y="368503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식사 · 카페 채우기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30952" y="3685032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빈틈이 빈 일정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" y="4087368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27832" y="408736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카드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30952" y="408736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확정된 일정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0352" y="4443984"/>
            <a:ext cx="6675120" cy="402336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4489704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Memory(A9) — DB 쓰기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27832" y="44897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30952" y="4489704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응답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1792" y="4892040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전부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27832" y="489204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자연스러운 서술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30952" y="4892040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폴백 + 시간순 텍스트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315200" y="175564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 장치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15200" y="2084832"/>
            <a:ext cx="4343400" cy="475488"/>
          </a:xfrm>
          <a:prstGeom prst="roundRect">
            <a:avLst>
              <a:gd name="adj" fmla="val 9615"/>
            </a:avLst>
          </a:prstGeom>
          <a:solidFill>
            <a:srgbClr val="F7F9FA"/>
          </a:solidFill>
          <a:ln/>
        </p:spPr>
      </p:sp>
      <p:sp>
        <p:nvSpPr>
          <p:cNvPr id="39" name="Text 37"/>
          <p:cNvSpPr/>
          <p:nvPr/>
        </p:nvSpPr>
        <p:spPr>
          <a:xfrm>
            <a:off x="7516368" y="21396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516368" y="23408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safe_call(deadline=) → 기본값, 그래프 계속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15200" y="2633472"/>
            <a:ext cx="4343400" cy="475488"/>
          </a:xfrm>
          <a:prstGeom prst="roundRect">
            <a:avLst>
              <a:gd name="adj" fmla="val 9615"/>
            </a:avLst>
          </a:prstGeom>
          <a:solidFill>
            <a:srgbClr val="F7F9FA"/>
          </a:solidFill>
          <a:ln/>
        </p:spPr>
      </p:sp>
      <p:sp>
        <p:nvSpPr>
          <p:cNvPr id="42" name="Text 40"/>
          <p:cNvSpPr/>
          <p:nvPr/>
        </p:nvSpPr>
        <p:spPr>
          <a:xfrm>
            <a:off x="7516368" y="26883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구조화 출력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516368" y="28895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지점 규칙 폴백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0" y="3182112"/>
            <a:ext cx="4343400" cy="475488"/>
          </a:xfrm>
          <a:prstGeom prst="roundRect">
            <a:avLst>
              <a:gd name="adj" fmla="val 9615"/>
            </a:avLst>
          </a:prstGeom>
          <a:solidFill>
            <a:srgbClr val="F7F9FA"/>
          </a:solidFill>
          <a:ln/>
        </p:spPr>
      </p:sp>
      <p:sp>
        <p:nvSpPr>
          <p:cNvPr id="45" name="Text 43"/>
          <p:cNvSpPr/>
          <p:nvPr/>
        </p:nvSpPr>
        <p:spPr>
          <a:xfrm>
            <a:off x="7516368" y="32369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· 리랭커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516368" y="34381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조용히 비우되 로그는 남긴다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15200" y="3730752"/>
            <a:ext cx="4343400" cy="475488"/>
          </a:xfrm>
          <a:prstGeom prst="roundRect">
            <a:avLst>
              <a:gd name="adj" fmla="val 9615"/>
            </a:avLst>
          </a:prstGeom>
          <a:solidFill>
            <a:srgbClr val="F7F9FA"/>
          </a:solidFill>
          <a:ln/>
        </p:spPr>
      </p:sp>
      <p:sp>
        <p:nvSpPr>
          <p:cNvPr id="48" name="Text 46"/>
          <p:cNvSpPr/>
          <p:nvPr/>
        </p:nvSpPr>
        <p:spPr>
          <a:xfrm>
            <a:off x="7516368" y="3785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연결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516368" y="39867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커넥션 풀 + 체크아웃 검사 → 자가 복구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15200" y="4279392"/>
            <a:ext cx="4343400" cy="475488"/>
          </a:xfrm>
          <a:prstGeom prst="roundRect">
            <a:avLst>
              <a:gd name="adj" fmla="val 9615"/>
            </a:avLst>
          </a:prstGeom>
          <a:solidFill>
            <a:srgbClr val="F7F9FA"/>
          </a:solidFill>
          <a:ln/>
        </p:spPr>
      </p:sp>
      <p:sp>
        <p:nvSpPr>
          <p:cNvPr id="51" name="Text 49"/>
          <p:cNvSpPr/>
          <p:nvPr/>
        </p:nvSpPr>
        <p:spPr>
          <a:xfrm>
            <a:off x="7516368" y="43342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체크포인터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516368" y="45354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 실패 시 메모리 폴백(경고 로그)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30352" y="5138928"/>
            <a:ext cx="11128248" cy="658368"/>
          </a:xfrm>
          <a:prstGeom prst="roundRect">
            <a:avLst>
              <a:gd name="adj" fmla="val 6944"/>
            </a:avLst>
          </a:prstGeom>
          <a:solidFill>
            <a:srgbClr val="F7F9FA"/>
          </a:solidFill>
          <a:ln/>
        </p:spPr>
      </p:sp>
      <p:sp>
        <p:nvSpPr>
          <p:cNvPr id="54" name="Text 52"/>
          <p:cNvSpPr/>
          <p:nvPr/>
        </p:nvSpPr>
        <p:spPr>
          <a:xfrm>
            <a:off x="804672" y="5230368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판단 —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«외부 API 1개가 죽어도 그래프는 안 멈춘다»(NFR-03)는 예외 처리 정책이 아니라 Agent 를 나눈 기준 그 자체입니다. 나누지 않았다면 탐색 실패가 곧 일정 실패가 됩니다.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30352" y="5961888"/>
            <a:ext cx="11128248" cy="566928"/>
          </a:xfrm>
          <a:prstGeom prst="roundRect">
            <a:avLst>
              <a:gd name="adj" fmla="val 8065"/>
            </a:avLst>
          </a:prstGeom>
          <a:solidFill>
            <a:srgbClr val="F7F9FA"/>
          </a:solidFill>
          <a:ln/>
        </p:spPr>
      </p:sp>
      <p:sp>
        <p:nvSpPr>
          <p:cNvPr id="56" name="Text 54"/>
          <p:cNvSpPr/>
          <p:nvPr/>
        </p:nvSpPr>
        <p:spPr>
          <a:xfrm>
            <a:off x="804672" y="6053328"/>
            <a:ext cx="10579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두 가지는 없으면 안 된다 —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좌표(NCP Maps)가 없으면 후보 자격 자체가 없고, 임베딩(NVIDIA NIM)이 없으면 개인화가 성립하지 않습니다. 나머지 여덟은 폴백이 받습니다.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627632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1938528"/>
            <a:ext cx="11128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· C4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30352" y="2706624"/>
            <a:ext cx="11128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EB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실행되고 연결되는가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0352" y="3803904"/>
            <a:ext cx="3346704" cy="1042416"/>
          </a:xfrm>
          <a:prstGeom prst="roundRect">
            <a:avLst>
              <a:gd name="adj" fmla="val 4386"/>
            </a:avLst>
          </a:prstGeom>
          <a:solidFill>
            <a:srgbClr val="1E2A36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3968496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 Context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4279392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시스템과 바깥의 관계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42816" y="3803904"/>
            <a:ext cx="3346704" cy="1042416"/>
          </a:xfrm>
          <a:prstGeom prst="roundRect">
            <a:avLst>
              <a:gd name="adj" fmla="val 4386"/>
            </a:avLst>
          </a:prstGeom>
          <a:solidFill>
            <a:srgbClr val="1E2A36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3968496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 Container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4279392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단위와 연결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55280" y="3803904"/>
            <a:ext cx="3346704" cy="1042416"/>
          </a:xfrm>
          <a:prstGeom prst="roundRect">
            <a:avLst>
              <a:gd name="adj" fmla="val 4386"/>
            </a:avLst>
          </a:prstGeom>
          <a:solidFill>
            <a:srgbClr val="1E2A36"/>
          </a:solidFill>
          <a:ln/>
        </p:spPr>
      </p:sp>
      <p:sp>
        <p:nvSpPr>
          <p:cNvPr id="12" name="Text 10"/>
          <p:cNvSpPr/>
          <p:nvPr/>
        </p:nvSpPr>
        <p:spPr>
          <a:xfrm>
            <a:off x="8193024" y="3968496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 Component · 포트/어댑터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93024" y="4279392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내부와 외부 연결 방식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· 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 — Level 1 ·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시스템과 바깥의 관계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MOBIDIC 을 하나의 상자로 두고, 누가 쓰고 무엇에 기대는지만 봅니다.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62272" y="1719072"/>
            <a:ext cx="4297680" cy="1225296"/>
          </a:xfrm>
          <a:prstGeom prst="roundRect">
            <a:avLst>
              <a:gd name="adj" fmla="val 3731"/>
            </a:avLst>
          </a:prstGeom>
          <a:solidFill>
            <a:srgbClr val="00688B"/>
          </a:solidFill>
          <a:ln/>
        </p:spPr>
      </p:sp>
      <p:sp>
        <p:nvSpPr>
          <p:cNvPr id="7" name="Text 5"/>
          <p:cNvSpPr/>
          <p:nvPr/>
        </p:nvSpPr>
        <p:spPr>
          <a:xfrm>
            <a:off x="4462272" y="18105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MOBIDIC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35424" y="2157984"/>
            <a:ext cx="41513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DE6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아카이브 기반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DE6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문화생활 일정 · 동선 서비스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4672" y="1920240"/>
            <a:ext cx="2651760" cy="822960"/>
          </a:xfrm>
          <a:prstGeom prst="roundRect">
            <a:avLst>
              <a:gd name="adj" fmla="val 5556"/>
            </a:avLst>
          </a:prstGeom>
          <a:solidFill>
            <a:srgbClr val="F7F9FA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011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문화생활 사용자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일정을 요청하고 · 고르고 · 다녀와 기록한다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47872" y="2331720"/>
            <a:ext cx="822960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346704" y="20665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· 선택 · 기록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765792" y="1920240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F7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9765792" y="2011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기기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857232" y="2286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GPS · 알림 · 지도 렌더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51392" y="2331720"/>
            <a:ext cx="822960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30352" y="3218688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기대는 외부 시스템 — 전부 «없어도 서비스가 성립»해야 한다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11112" y="2944368"/>
            <a:ext cx="0" cy="256032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63624" y="3547872"/>
            <a:ext cx="9601200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63624" y="3547872"/>
            <a:ext cx="0" cy="27432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0352" y="3877056"/>
            <a:ext cx="2066544" cy="914400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96849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문화 데이터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422452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· 문화시설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1792" y="457200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 웹검색 + 내장 카탈로그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13048" y="3547872"/>
            <a:ext cx="0" cy="27432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779776" y="3877056"/>
            <a:ext cx="2066544" cy="914400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/>
        </p:spPr>
      </p:sp>
      <p:sp>
        <p:nvSpPr>
          <p:cNvPr id="28" name="Text 26"/>
          <p:cNvSpPr/>
          <p:nvPr/>
        </p:nvSpPr>
        <p:spPr>
          <a:xfrm>
            <a:off x="2798064" y="396849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· 경로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71216" y="422452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 · 자동차 · 도보 · 대중교통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871216" y="457200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 좌표는 필수 · 경로는 추정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62472" y="3547872"/>
            <a:ext cx="0" cy="27432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29200" y="3877056"/>
            <a:ext cx="2066544" cy="914400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/>
        </p:spPr>
      </p:sp>
      <p:sp>
        <p:nvSpPr>
          <p:cNvPr id="33" name="Text 31"/>
          <p:cNvSpPr/>
          <p:nvPr/>
        </p:nvSpPr>
        <p:spPr>
          <a:xfrm>
            <a:off x="5047488" y="396849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 예보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0" y="422452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예보 · 실황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120640" y="457200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 악천후 경고 없음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311896" y="3547872"/>
            <a:ext cx="0" cy="27432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278624" y="3877056"/>
            <a:ext cx="2066544" cy="914400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/>
        </p:spPr>
      </p:sp>
      <p:sp>
        <p:nvSpPr>
          <p:cNvPr id="38" name="Text 36"/>
          <p:cNvSpPr/>
          <p:nvPr/>
        </p:nvSpPr>
        <p:spPr>
          <a:xfrm>
            <a:off x="7296912" y="396849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검색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70064" y="422452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공식정보 대조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370064" y="457200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 전부 «확인 필요»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0561320" y="3547872"/>
            <a:ext cx="0" cy="27432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528048" y="3877056"/>
            <a:ext cx="2066544" cy="914400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/>
        </p:spPr>
      </p:sp>
      <p:sp>
        <p:nvSpPr>
          <p:cNvPr id="43" name="Text 41"/>
          <p:cNvSpPr/>
          <p:nvPr/>
        </p:nvSpPr>
        <p:spPr>
          <a:xfrm>
            <a:off x="9546336" y="396849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19488" y="422452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발화 이해 · 임베딩 · 재순위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9619488" y="457200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 규칙 폴백 · 임베딩은 필수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0352" y="5084064"/>
            <a:ext cx="11128248" cy="731520"/>
          </a:xfrm>
          <a:prstGeom prst="roundRect">
            <a:avLst>
              <a:gd name="adj" fmla="val 6250"/>
            </a:avLst>
          </a:prstGeom>
          <a:solidFill>
            <a:srgbClr val="F7F9FA"/>
          </a:solidFill>
          <a:ln/>
        </p:spPr>
      </p:sp>
      <p:sp>
        <p:nvSpPr>
          <p:cNvPr id="47" name="Text 45"/>
          <p:cNvSpPr/>
          <p:nvPr/>
        </p:nvSpPr>
        <p:spPr>
          <a:xfrm>
            <a:off x="804672" y="5175504"/>
            <a:ext cx="10579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그림이 말하는 것 —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하나이고, 시스템이 기대는 외부는 다섯 묶음입니다. 다섯 전부에 폴백이 있어 어느 하나가 죽어도 서비스는 축소된 형태로 답합니다 — 이 원칙이 L2 의 «도구 계층»을 만든 이유입니다.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30352" y="5961888"/>
            <a:ext cx="11128248" cy="566928"/>
          </a:xfrm>
          <a:prstGeom prst="roundRect">
            <a:avLst>
              <a:gd name="adj" fmla="val 8065"/>
            </a:avLst>
          </a:prstGeom>
          <a:solidFill>
            <a:srgbClr val="F7F9FA"/>
          </a:solidFill>
          <a:ln/>
        </p:spPr>
      </p:sp>
      <p:sp>
        <p:nvSpPr>
          <p:cNvPr id="49" name="Text 47"/>
          <p:cNvSpPr/>
          <p:nvPr/>
        </p:nvSpPr>
        <p:spPr>
          <a:xfrm>
            <a:off x="804672" y="6053328"/>
            <a:ext cx="10579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티어 전제 —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경로 API 는 전부 무료입니다. 유료를 섞으면 키가 없는 심사 · 데모 환경에서 그 구간이 통째로 비어 일정이 성립하지 않습니다. 예외는 채팅 LLM 하나입니다.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· 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 — Level 2 · Container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단위와 연결 관계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네모 하나가 «따로 실행되거나 따로 배포되는 것»입니다.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101584" y="1257300"/>
            <a:ext cx="100584" cy="100584"/>
          </a:xfrm>
          <a:prstGeom prst="ellipse">
            <a:avLst/>
          </a:prstGeom>
          <a:solidFill>
            <a:srgbClr val="A01A7D"/>
          </a:solidFill>
          <a:ln/>
        </p:spPr>
      </p:sp>
      <p:sp>
        <p:nvSpPr>
          <p:cNvPr id="7" name="Text 5"/>
          <p:cNvSpPr/>
          <p:nvPr/>
        </p:nvSpPr>
        <p:spPr>
          <a:xfrm>
            <a:off x="8257032" y="11887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089136" y="1257300"/>
            <a:ext cx="100584" cy="100584"/>
          </a:xfrm>
          <a:prstGeom prst="ellipse">
            <a:avLst/>
          </a:prstGeom>
          <a:solidFill>
            <a:srgbClr val="00688B"/>
          </a:solidFill>
          <a:ln/>
        </p:spPr>
      </p:sp>
      <p:sp>
        <p:nvSpPr>
          <p:cNvPr id="9" name="Text 7"/>
          <p:cNvSpPr/>
          <p:nvPr/>
        </p:nvSpPr>
        <p:spPr>
          <a:xfrm>
            <a:off x="9244584" y="11887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076688" y="1257300"/>
            <a:ext cx="100584" cy="10058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10232136" y="11887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064240" y="1257300"/>
            <a:ext cx="100584" cy="100584"/>
          </a:xfrm>
          <a:prstGeom prst="ellipse">
            <a:avLst/>
          </a:prstGeom>
          <a:solidFill>
            <a:srgbClr val="B3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1219688" y="11887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3232" y="1737360"/>
            <a:ext cx="3108960" cy="786384"/>
          </a:xfrm>
          <a:prstGeom prst="roundRect">
            <a:avLst>
              <a:gd name="adj" fmla="val 5814"/>
            </a:avLst>
          </a:prstGeom>
          <a:solidFill>
            <a:srgbClr val="FAEAF4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18105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084832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Native (Expo) · 화면 · 지도 · 오프라인 캐시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13632" y="2121408"/>
            <a:ext cx="566928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675888" y="186537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· SSE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53712" y="1591056"/>
            <a:ext cx="4937760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A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700016" y="16459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컨테이너 1개 (MVP)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36592" y="1901952"/>
            <a:ext cx="4572000" cy="530352"/>
          </a:xfrm>
          <a:prstGeom prst="roundRect">
            <a:avLst>
              <a:gd name="adj" fmla="val 8621"/>
            </a:avLst>
          </a:prstGeom>
          <a:solidFill>
            <a:srgbClr val="FCEDE0"/>
          </a:solidFill>
          <a:ln/>
        </p:spPr>
      </p:sp>
      <p:sp>
        <p:nvSpPr>
          <p:cNvPr id="22" name="Text 20"/>
          <p:cNvSpPr/>
          <p:nvPr/>
        </p:nvSpPr>
        <p:spPr>
          <a:xfrm>
            <a:off x="4736592" y="1956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91456" y="2212848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접수 · SSE 스트리밍 — 판단은 하지 않는다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22592" y="2432304"/>
            <a:ext cx="0" cy="219456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36592" y="2670048"/>
            <a:ext cx="4572000" cy="969264"/>
          </a:xfrm>
          <a:prstGeom prst="roundRect">
            <a:avLst>
              <a:gd name="adj" fmla="val 4717"/>
            </a:avLst>
          </a:prstGeom>
          <a:solidFill>
            <a:srgbClr val="E2F0F6"/>
          </a:solidFill>
          <a:ln/>
        </p:spPr>
      </p:sp>
      <p:sp>
        <p:nvSpPr>
          <p:cNvPr id="26" name="Text 24"/>
          <p:cNvSpPr/>
          <p:nvPr/>
        </p:nvSpPr>
        <p:spPr>
          <a:xfrm>
            <a:off x="4736592" y="27249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그래프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91456" y="2980944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순서 · 분기 · 병렬 · 정지/재개 · 상태 병합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91456" y="3236976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 A2 A3 A4   ·   A5 A6 A7   ·   A8 A9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22592" y="3639312"/>
            <a:ext cx="0" cy="201168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736592" y="3858768"/>
            <a:ext cx="4572000" cy="530352"/>
          </a:xfrm>
          <a:prstGeom prst="roundRect">
            <a:avLst>
              <a:gd name="adj" fmla="val 8621"/>
            </a:avLst>
          </a:prstGeom>
          <a:solidFill>
            <a:srgbClr val="FCEDE0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39136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계층 (어댑터)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91456" y="4169664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 · 캐시 · 폴백 · 응답 정규화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3232" y="3017520"/>
            <a:ext cx="3108960" cy="859536"/>
          </a:xfrm>
          <a:prstGeom prst="roundRect">
            <a:avLst>
              <a:gd name="adj" fmla="val 5319"/>
            </a:avLst>
          </a:prstGeom>
          <a:solidFill>
            <a:srgbClr val="FCEDE0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" y="30906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18 + pgvector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22960" y="3346704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아카이브 · 확정 일정 · 장소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인덱스 · 체크포인트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22192" y="3401568"/>
            <a:ext cx="822960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headEnd type="triangl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713232" y="39319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는 같은 컨테이너 안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857232" y="2011680"/>
            <a:ext cx="1828800" cy="2194560"/>
          </a:xfrm>
          <a:prstGeom prst="roundRect">
            <a:avLst>
              <a:gd name="adj" fmla="val 2500"/>
            </a:avLst>
          </a:prstGeom>
          <a:solidFill>
            <a:srgbClr val="F7F9FA"/>
          </a:solidFill>
          <a:ln/>
        </p:spPr>
      </p:sp>
      <p:sp>
        <p:nvSpPr>
          <p:cNvPr id="39" name="Text 37"/>
          <p:cNvSpPr/>
          <p:nvPr/>
        </p:nvSpPr>
        <p:spPr>
          <a:xfrm>
            <a:off x="9857232" y="2103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10종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948672" y="2450592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</a:t>
            </a:r>
            <a:endParaRPr lang="en-US" sz="9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· 경로</a:t>
            </a:r>
            <a:endParaRPr lang="en-US" sz="9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</a:t>
            </a:r>
            <a:endParaRPr lang="en-US" sz="9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웹검색</a:t>
            </a:r>
            <a:endParaRPr lang="en-US" sz="9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326880" y="4096512"/>
            <a:ext cx="493776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8631936" y="42611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계층을 통해서만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0352" y="4846320"/>
            <a:ext cx="11128248" cy="658368"/>
          </a:xfrm>
          <a:prstGeom prst="roundRect">
            <a:avLst>
              <a:gd name="adj" fmla="val 6944"/>
            </a:avLst>
          </a:prstGeom>
          <a:solidFill>
            <a:srgbClr val="F7F9FA"/>
          </a:solidFill>
          <a:ln/>
        </p:spPr>
      </p:sp>
      <p:sp>
        <p:nvSpPr>
          <p:cNvPr id="44" name="Text 42"/>
          <p:cNvSpPr/>
          <p:nvPr/>
        </p:nvSpPr>
        <p:spPr>
          <a:xfrm>
            <a:off x="804672" y="4937760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 —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는 그래프를 부르기만 하고, 그래프는 외부를 직접 부르지 않습니다. 바깥과 닿는 지점이 «도구 계층» 하나로 모여 있어 제공자를 바꿔도 Agent 는 그대로입니다.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30352" y="5669280"/>
            <a:ext cx="11128248" cy="658368"/>
          </a:xfrm>
          <a:prstGeom prst="roundRect">
            <a:avLst>
              <a:gd name="adj" fmla="val 6944"/>
            </a:avLst>
          </a:prstGeom>
          <a:solidFill>
            <a:srgbClr val="F7F9FA"/>
          </a:solidFill>
          <a:ln/>
        </p:spPr>
      </p:sp>
      <p:sp>
        <p:nvSpPr>
          <p:cNvPr id="46" name="Text 44"/>
          <p:cNvSpPr/>
          <p:nvPr/>
        </p:nvSpPr>
        <p:spPr>
          <a:xfrm>
            <a:off x="804672" y="5760720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의 대가 —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컨테이너에 프로세스 둘은 일반적인 운영 방식이 아닙니다. postgres 가 죽으면 컨테이너 전체가 내려갑니다. 데모용 선택이고, compose 파일을 남겨 뒀으므로 되돌리기는 쉽습니다.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· 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 — Level 3 · Component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안쪽 — Agent 흐름과 데이터 흐름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화살표가 실행 순서, 아래 글씨가 오가는 데이터입니다.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101584" y="1257300"/>
            <a:ext cx="100584" cy="100584"/>
          </a:xfrm>
          <a:prstGeom prst="ellipse">
            <a:avLst/>
          </a:prstGeom>
          <a:solidFill>
            <a:srgbClr val="A01A7D"/>
          </a:solidFill>
          <a:ln/>
        </p:spPr>
      </p:sp>
      <p:sp>
        <p:nvSpPr>
          <p:cNvPr id="7" name="Text 5"/>
          <p:cNvSpPr/>
          <p:nvPr/>
        </p:nvSpPr>
        <p:spPr>
          <a:xfrm>
            <a:off x="8257032" y="11887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089136" y="1257300"/>
            <a:ext cx="100584" cy="100584"/>
          </a:xfrm>
          <a:prstGeom prst="ellipse">
            <a:avLst/>
          </a:prstGeom>
          <a:solidFill>
            <a:srgbClr val="00688B"/>
          </a:solidFill>
          <a:ln/>
        </p:spPr>
      </p:sp>
      <p:sp>
        <p:nvSpPr>
          <p:cNvPr id="9" name="Text 7"/>
          <p:cNvSpPr/>
          <p:nvPr/>
        </p:nvSpPr>
        <p:spPr>
          <a:xfrm>
            <a:off x="9244584" y="11887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076688" y="1257300"/>
            <a:ext cx="100584" cy="10058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10232136" y="11887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064240" y="1257300"/>
            <a:ext cx="100584" cy="100584"/>
          </a:xfrm>
          <a:prstGeom prst="ellipse">
            <a:avLst/>
          </a:prstGeom>
          <a:solidFill>
            <a:srgbClr val="B3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1219688" y="11887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7512" y="1773936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E2F0F6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181965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Router(A1)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207568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이해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68880" y="2057400"/>
            <a:ext cx="274320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770632" y="1517904"/>
            <a:ext cx="2286000" cy="566928"/>
          </a:xfrm>
          <a:prstGeom prst="roundRect">
            <a:avLst>
              <a:gd name="adj" fmla="val 8065"/>
            </a:avLst>
          </a:prstGeom>
          <a:solidFill>
            <a:srgbClr val="E2F0F6"/>
          </a:solidFill>
          <a:ln/>
        </p:spPr>
      </p:sp>
      <p:sp>
        <p:nvSpPr>
          <p:cNvPr id="19" name="Text 17"/>
          <p:cNvSpPr/>
          <p:nvPr/>
        </p:nvSpPr>
        <p:spPr>
          <a:xfrm>
            <a:off x="2807208" y="15636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07208" y="181965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경험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70632" y="2103120"/>
            <a:ext cx="2286000" cy="566928"/>
          </a:xfrm>
          <a:prstGeom prst="roundRect">
            <a:avLst>
              <a:gd name="adj" fmla="val 8065"/>
            </a:avLst>
          </a:prstGeom>
          <a:solidFill>
            <a:srgbClr val="E2F0F6"/>
          </a:solidFill>
          <a:ln/>
        </p:spPr>
      </p:sp>
      <p:sp>
        <p:nvSpPr>
          <p:cNvPr id="22" name="Text 20"/>
          <p:cNvSpPr/>
          <p:nvPr/>
        </p:nvSpPr>
        <p:spPr>
          <a:xfrm>
            <a:off x="2807208" y="21488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Culture(A3) · Verifier(A4)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07208" y="240487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· 검증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2057400"/>
            <a:ext cx="274320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22392" y="1773936"/>
            <a:ext cx="1554480" cy="566928"/>
          </a:xfrm>
          <a:prstGeom prst="roundRect">
            <a:avLst>
              <a:gd name="adj" fmla="val 8065"/>
            </a:avLst>
          </a:prstGeom>
          <a:solidFill>
            <a:srgbClr val="F7F9FA"/>
          </a:solidFill>
          <a:ln/>
        </p:spPr>
      </p:sp>
      <p:sp>
        <p:nvSpPr>
          <p:cNvPr id="26" name="Text 24"/>
          <p:cNvSpPr/>
          <p:nvPr/>
        </p:nvSpPr>
        <p:spPr>
          <a:xfrm>
            <a:off x="5458968" y="18196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58968" y="207568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통합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040880" y="2057400"/>
            <a:ext cx="274320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42632" y="1773936"/>
            <a:ext cx="2377440" cy="566928"/>
          </a:xfrm>
          <a:prstGeom prst="roundRect">
            <a:avLst>
              <a:gd name="adj" fmla="val 8065"/>
            </a:avLst>
          </a:prstGeom>
          <a:solidFill>
            <a:srgbClr val="E8F4E9"/>
          </a:solidFill>
          <a:ln/>
        </p:spPr>
      </p:sp>
      <p:sp>
        <p:nvSpPr>
          <p:cNvPr id="30" name="Text 28"/>
          <p:cNvSpPr/>
          <p:nvPr/>
        </p:nvSpPr>
        <p:spPr>
          <a:xfrm>
            <a:off x="7379208" y="181965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Planner(A5)·Route(A6)·Gap(A7)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79208" y="2075688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편성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784080" y="2057400"/>
            <a:ext cx="274320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085832" y="1773936"/>
            <a:ext cx="1554480" cy="566928"/>
          </a:xfrm>
          <a:prstGeom prst="roundRect">
            <a:avLst>
              <a:gd name="adj" fmla="val 8065"/>
            </a:avLst>
          </a:prstGeom>
          <a:solidFill>
            <a:srgbClr val="E2F0F6"/>
          </a:solidFill>
          <a:ln/>
        </p:spPr>
      </p:sp>
      <p:sp>
        <p:nvSpPr>
          <p:cNvPr id="34" name="Text 32"/>
          <p:cNvSpPr/>
          <p:nvPr/>
        </p:nvSpPr>
        <p:spPr>
          <a:xfrm>
            <a:off x="10122408" y="18196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122408" y="207568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· 카드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863072" y="2340864"/>
            <a:ext cx="0" cy="292608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085832" y="2633472"/>
            <a:ext cx="1554480" cy="566928"/>
          </a:xfrm>
          <a:prstGeom prst="roundRect">
            <a:avLst>
              <a:gd name="adj" fmla="val 8065"/>
            </a:avLst>
          </a:prstGeom>
          <a:solidFill>
            <a:srgbClr val="E2F0F6"/>
          </a:solidFill>
          <a:ln/>
        </p:spPr>
      </p:sp>
      <p:sp>
        <p:nvSpPr>
          <p:cNvPr id="38" name="Text 36"/>
          <p:cNvSpPr/>
          <p:nvPr/>
        </p:nvSpPr>
        <p:spPr>
          <a:xfrm>
            <a:off x="10122408" y="26791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Memory(A9)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122408" y="293522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· 학습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30352" y="29626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7512" y="3236976"/>
            <a:ext cx="10963656" cy="0"/>
          </a:xfrm>
          <a:prstGeom prst="line">
            <a:avLst/>
          </a:prstGeom>
          <a:noFill/>
          <a:ln w="12700">
            <a:solidFill>
              <a:srgbClr val="DFE4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" y="331012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조건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· 날짜 · 좌표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182112" y="331012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 프로필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경험 조각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50992" y="331012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후보 목록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등급 포함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863840" y="331012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일정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이동 정보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966960" y="331012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· 확인 카드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수정 행동 기록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867912" y="3785616"/>
            <a:ext cx="0" cy="237744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439912" y="3785616"/>
            <a:ext cx="0" cy="237744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530352" y="4041648"/>
            <a:ext cx="11128248" cy="603504"/>
          </a:xfrm>
          <a:prstGeom prst="roundRect">
            <a:avLst>
              <a:gd name="adj" fmla="val 7576"/>
            </a:avLst>
          </a:prstGeom>
          <a:solidFill>
            <a:srgbClr val="FCEDE0"/>
          </a:solidFill>
          <a:ln/>
        </p:spPr>
      </p:sp>
      <p:sp>
        <p:nvSpPr>
          <p:cNvPr id="50" name="Text 48"/>
          <p:cNvSpPr/>
          <p:nvPr/>
        </p:nvSpPr>
        <p:spPr>
          <a:xfrm>
            <a:off x="804672" y="4041648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계층 (어댑터) — 지오코딩 · 경로 · 문화 API · 날씨 · 웹검색 · 모델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498080" y="404164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· A4 · A6 · A7 이 여기를 통해서만 바깥에 닿는다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30352" y="4773168"/>
            <a:ext cx="11128248" cy="603504"/>
          </a:xfrm>
          <a:prstGeom prst="roundRect">
            <a:avLst>
              <a:gd name="adj" fmla="val 7576"/>
            </a:avLst>
          </a:prstGeom>
          <a:solidFill>
            <a:srgbClr val="E2F0F6"/>
          </a:solidFill>
          <a:ln/>
        </p:spPr>
      </p:sp>
      <p:sp>
        <p:nvSpPr>
          <p:cNvPr id="53" name="Text 51"/>
          <p:cNvSpPr/>
          <p:nvPr/>
        </p:nvSpPr>
        <p:spPr>
          <a:xfrm>
            <a:off x="804672" y="4773168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상태 — 위 모든 산출물이 여기 누적되고, 정지 시 통째로 저장된다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30352" y="5541264"/>
            <a:ext cx="3520440" cy="1042416"/>
          </a:xfrm>
          <a:prstGeom prst="roundRect">
            <a:avLst>
              <a:gd name="adj" fmla="val 4386"/>
            </a:avLst>
          </a:prstGeom>
          <a:solidFill>
            <a:srgbClr val="F7F9FA"/>
          </a:solidFill>
          <a:ln/>
        </p:spPr>
      </p:sp>
      <p:sp>
        <p:nvSpPr>
          <p:cNvPr id="55" name="Text 53"/>
          <p:cNvSpPr/>
          <p:nvPr/>
        </p:nvSpPr>
        <p:spPr>
          <a:xfrm>
            <a:off x="749808" y="5660136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도메인은 어디인가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49808" y="5934456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itinerary 서브그래프(9모듈)와 schemas.py 뿐입니다. 둘 다 다른 계층을 참조하지 않습니다.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270248" y="5541264"/>
            <a:ext cx="3520440" cy="1042416"/>
          </a:xfrm>
          <a:prstGeom prst="roundRect">
            <a:avLst>
              <a:gd name="adj" fmla="val 4386"/>
            </a:avLst>
          </a:prstGeom>
          <a:solidFill>
            <a:srgbClr val="F7F9FA"/>
          </a:solidFill>
          <a:ln/>
        </p:spPr>
      </p:sp>
      <p:sp>
        <p:nvSpPr>
          <p:cNvPr id="58" name="Text 56"/>
          <p:cNvSpPr/>
          <p:nvPr/>
        </p:nvSpPr>
        <p:spPr>
          <a:xfrm>
            <a:off x="4489704" y="5660136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응용은 무엇을 하나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489704" y="5934456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순서 · 분기 · 병렬 · 정지와 재개 · 상태 병합. 판단의 «순서»를 갖되 «규칙»은 갖지 않습니다.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010144" y="5541264"/>
            <a:ext cx="3520440" cy="1042416"/>
          </a:xfrm>
          <a:prstGeom prst="roundRect">
            <a:avLst>
              <a:gd name="adj" fmla="val 4386"/>
            </a:avLst>
          </a:prstGeom>
          <a:solidFill>
            <a:srgbClr val="F7F9FA"/>
          </a:solidFill>
          <a:ln/>
        </p:spPr>
      </p:sp>
      <p:sp>
        <p:nvSpPr>
          <p:cNvPr id="61" name="Text 59"/>
          <p:cNvSpPr/>
          <p:nvPr/>
        </p:nvSpPr>
        <p:spPr>
          <a:xfrm>
            <a:off x="8229600" y="5660136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 · A5 · A8 · A9 는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229600" y="5934456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바깥에 닿지 않습니다. 도구 계층을 지나는 것은 A3 · A4 · A6 · A7 넷뿐입니다.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· 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Ports &amp; Adapters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외부가 어떻게 연결되는가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안쪽(도메인 · 응용)은 바깥을 모릅니다. 어댑터가 양쪽을 잇고, 의존은 바깥에서 안으로만 흐릅니다.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25112" y="1755648"/>
            <a:ext cx="4480560" cy="2560320"/>
          </a:xfrm>
          <a:prstGeom prst="rect">
            <a:avLst/>
          </a:prstGeom>
          <a:solidFill>
            <a:srgbClr val="F7F9FA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07992" y="18196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— 바깥을 모른다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53712" y="2103120"/>
            <a:ext cx="4023360" cy="566928"/>
          </a:xfrm>
          <a:prstGeom prst="roundRect">
            <a:avLst>
              <a:gd name="adj" fmla="val 8065"/>
            </a:avLst>
          </a:prstGeom>
          <a:solidFill>
            <a:srgbClr val="E2F0F6"/>
          </a:solidFill>
          <a:ln/>
        </p:spPr>
      </p:sp>
      <p:sp>
        <p:nvSpPr>
          <p:cNvPr id="9" name="Text 7"/>
          <p:cNvSpPr/>
          <p:nvPr/>
        </p:nvSpPr>
        <p:spPr>
          <a:xfrm>
            <a:off x="4553712" y="21579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— LangGraph 그래프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08576" y="241401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순서 · 분기 · 병렬 · 정지/재개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53712" y="2798064"/>
            <a:ext cx="4023360" cy="566928"/>
          </a:xfrm>
          <a:prstGeom prst="roundRect">
            <a:avLst>
              <a:gd name="adj" fmla="val 8065"/>
            </a:avLst>
          </a:prstGeom>
          <a:solidFill>
            <a:srgbClr val="E8F4E9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28529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— 서비스 규칙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08576" y="310896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편성 · 개인화 점수 · 지역 판정 · 검증 기준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53712" y="3493008"/>
            <a:ext cx="40233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53712" y="349300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상태 — 산출물이 여기 누적된다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17556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들어오는 어댑터 (Driving)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" y="2103120"/>
            <a:ext cx="3566160" cy="603504"/>
          </a:xfrm>
          <a:prstGeom prst="roundRect">
            <a:avLst>
              <a:gd name="adj" fmla="val 7576"/>
            </a:avLst>
          </a:prstGeom>
          <a:solidFill>
            <a:srgbClr val="FAEAF4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21671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24231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입력 → 요청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33088" y="2404872"/>
            <a:ext cx="164592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30352" y="2834640"/>
            <a:ext cx="3566160" cy="603504"/>
          </a:xfrm>
          <a:prstGeom prst="roundRect">
            <a:avLst>
              <a:gd name="adj" fmla="val 7576"/>
            </a:avLst>
          </a:prstGeom>
          <a:solidFill>
            <a:srgbClr val="FCEDE0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28986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1546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요청 → 그래프 입력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33088" y="3136392"/>
            <a:ext cx="164592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30352" y="3566160"/>
            <a:ext cx="3566160" cy="749808"/>
          </a:xfrm>
          <a:prstGeom prst="roundRect">
            <a:avLst>
              <a:gd name="adj" fmla="val 6098"/>
            </a:avLst>
          </a:prstGeom>
          <a:solidFill>
            <a:srgbClr val="F7F9F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56616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= «요청 1건»이라는 계약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어댑터가 바뀌어도 Core 는 그대로 — 웹 · CLI 를 붙여도 같다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034272" y="17556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나가는 어댑터 (Driven) — 도구 계층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034272" y="2103120"/>
            <a:ext cx="2624328" cy="493776"/>
          </a:xfrm>
          <a:prstGeom prst="roundRect">
            <a:avLst>
              <a:gd name="adj" fmla="val 9259"/>
            </a:avLst>
          </a:prstGeom>
          <a:solidFill>
            <a:srgbClr val="FCEDE0"/>
          </a:solidFill>
          <a:ln/>
        </p:spPr>
      </p:sp>
      <p:sp>
        <p:nvSpPr>
          <p:cNvPr id="29" name="Text 27"/>
          <p:cNvSpPr/>
          <p:nvPr/>
        </p:nvSpPr>
        <p:spPr>
          <a:xfrm>
            <a:off x="9162288" y="21488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· 경로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62288" y="23591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· ODsay · ORS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833104" y="2350008"/>
            <a:ext cx="164592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034272" y="2670048"/>
            <a:ext cx="2624328" cy="493776"/>
          </a:xfrm>
          <a:prstGeom prst="roundRect">
            <a:avLst>
              <a:gd name="adj" fmla="val 9259"/>
            </a:avLst>
          </a:prstGeom>
          <a:solidFill>
            <a:srgbClr val="FCEDE0"/>
          </a:solidFill>
          <a:ln/>
        </p:spPr>
      </p:sp>
      <p:sp>
        <p:nvSpPr>
          <p:cNvPr id="33" name="Text 31"/>
          <p:cNvSpPr/>
          <p:nvPr/>
        </p:nvSpPr>
        <p:spPr>
          <a:xfrm>
            <a:off x="9162288" y="27157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· 날씨 · 웹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62288" y="2926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API · 기상 · 검색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833104" y="2916936"/>
            <a:ext cx="164592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034272" y="3236976"/>
            <a:ext cx="2624328" cy="493776"/>
          </a:xfrm>
          <a:prstGeom prst="roundRect">
            <a:avLst>
              <a:gd name="adj" fmla="val 9259"/>
            </a:avLst>
          </a:prstGeom>
          <a:solidFill>
            <a:srgbClr val="FCEDE0"/>
          </a:solidFill>
          <a:ln/>
        </p:spPr>
      </p:sp>
      <p:sp>
        <p:nvSpPr>
          <p:cNvPr id="37" name="Text 35"/>
          <p:cNvSpPr/>
          <p:nvPr/>
        </p:nvSpPr>
        <p:spPr>
          <a:xfrm>
            <a:off x="9162288" y="32826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· 모델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62288" y="34930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· 임베딩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833104" y="3483864"/>
            <a:ext cx="164592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034272" y="3803904"/>
            <a:ext cx="2624328" cy="493776"/>
          </a:xfrm>
          <a:prstGeom prst="roundRect">
            <a:avLst>
              <a:gd name="adj" fmla="val 9259"/>
            </a:avLst>
          </a:prstGeom>
          <a:solidFill>
            <a:srgbClr val="F7F9FA"/>
          </a:solidFill>
          <a:ln/>
        </p:spPr>
      </p:sp>
      <p:sp>
        <p:nvSpPr>
          <p:cNvPr id="41" name="Text 39"/>
          <p:cNvSpPr/>
          <p:nvPr/>
        </p:nvSpPr>
        <p:spPr>
          <a:xfrm>
            <a:off x="9162288" y="38496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· 티켓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162288" y="40599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계획된 어댑터 (Phase 3)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833104" y="4050792"/>
            <a:ext cx="164592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9034272" y="442569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는 이 상자들을 직접 부르지 않는다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30352" y="4736592"/>
            <a:ext cx="5486400" cy="1188720"/>
          </a:xfrm>
          <a:prstGeom prst="roundRect">
            <a:avLst>
              <a:gd name="adj" fmla="val 3846"/>
            </a:avLst>
          </a:prstGeom>
          <a:solidFill>
            <a:srgbClr val="E8F4E9"/>
          </a:solidFill>
          <a:ln/>
        </p:spPr>
      </p:sp>
      <p:sp>
        <p:nvSpPr>
          <p:cNvPr id="46" name="Text 44"/>
          <p:cNvSpPr/>
          <p:nvPr/>
        </p:nvSpPr>
        <p:spPr>
          <a:xfrm>
            <a:off x="749808" y="4828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지켜진 것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9808" y="5102352"/>
            <a:ext cx="5047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모델이 다른 계층을 전혀 참조하지 않는다 (내부 import 0건) · 그래프 → 도구는 단방향 · 외부 호출이 한 관문(safe_call)을 지난다 · 서버는 지도 공급자를 모른다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53912" y="4736592"/>
            <a:ext cx="5504688" cy="1188720"/>
          </a:xfrm>
          <a:prstGeom prst="roundRect">
            <a:avLst>
              <a:gd name="adj" fmla="val 3846"/>
            </a:avLst>
          </a:prstGeom>
          <a:solidFill>
            <a:srgbClr val="FCEDE0"/>
          </a:solidFill>
          <a:ln/>
        </p:spPr>
      </p:sp>
      <p:sp>
        <p:nvSpPr>
          <p:cNvPr id="49" name="Text 47"/>
          <p:cNvSpPr/>
          <p:nvPr/>
        </p:nvSpPr>
        <p:spPr>
          <a:xfrm>
            <a:off x="6373368" y="4828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아닌 것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73368" y="5102352"/>
            <a:ext cx="5065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포트가 인터페이스로 «선언»돼 있지 않다(교체는 import 를 바꾸는 방식) · 도구 계층 한 곳이 응용을 거꾸로 참조한다(verify → budget) · 저장소 접근이 완전히 모이지 않았다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30352" y="6053328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지금은 «육각형을 지향하는 계층 분리»에 가깝다. 세 항목이 남아 있고, 셋 다 어디를 고치면 되는지가 정해져 있다.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· 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 Direction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«모듈 모놀리스» — 다음은 어디로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배포는 하나, 내부는 관심사별로 갈려 있습니다. 셋 중 어디에 서 있고 어디로 갈지를 그림으로 둡니다.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1773936"/>
            <a:ext cx="3401568" cy="2212848"/>
          </a:xfrm>
          <a:prstGeom prst="roundRect">
            <a:avLst>
              <a:gd name="adj" fmla="val 2066"/>
            </a:avLst>
          </a:prstGeom>
          <a:solidFill>
            <a:srgbClr val="F7F9FA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92024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모놀리스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545336" y="228600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8A929C"/>
          </a:solidFill>
          <a:ln/>
        </p:spPr>
      </p:sp>
      <p:sp>
        <p:nvSpPr>
          <p:cNvPr id="9" name="Text 7"/>
          <p:cNvSpPr/>
          <p:nvPr/>
        </p:nvSpPr>
        <p:spPr>
          <a:xfrm>
            <a:off x="1545336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덩어리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263347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1개 · 내부 경계 없음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3017520"/>
            <a:ext cx="73152" cy="73152"/>
          </a:xfrm>
          <a:prstGeom prst="ellipse">
            <a:avLst/>
          </a:prstGeom>
          <a:solidFill>
            <a:srgbClr val="8A929C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92608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관심사가 섞여 어디를 고칠지 모름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8096" y="3346704"/>
            <a:ext cx="73152" cy="73152"/>
          </a:xfrm>
          <a:prstGeom prst="ellipse">
            <a:avLst/>
          </a:prstGeom>
          <a:solidFill>
            <a:srgbClr val="8A929C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255264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곳을 고치면 전체를 다시 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05072" y="2880360"/>
            <a:ext cx="310896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89120" y="1773936"/>
            <a:ext cx="3401568" cy="2212848"/>
          </a:xfrm>
          <a:prstGeom prst="roundRect">
            <a:avLst>
              <a:gd name="adj" fmla="val 2066"/>
            </a:avLst>
          </a:prstGeom>
          <a:solidFill>
            <a:srgbClr val="E2F0F6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92024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모놀리스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04104" y="228600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0688B"/>
          </a:solidFill>
          <a:ln/>
        </p:spPr>
      </p:sp>
      <p:sp>
        <p:nvSpPr>
          <p:cNvPr id="19" name="Text 17"/>
          <p:cNvSpPr/>
          <p:nvPr/>
        </p:nvSpPr>
        <p:spPr>
          <a:xfrm>
            <a:off x="5404104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여기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0" y="263347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1개 · 내부 경계 있음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26864" y="3017520"/>
            <a:ext cx="73152" cy="73152"/>
          </a:xfrm>
          <a:prstGeom prst="ellipse">
            <a:avLst/>
          </a:prstGeom>
          <a:solidFill>
            <a:srgbClr val="00688B"/>
          </a:solidFill>
          <a:ln/>
        </p:spPr>
      </p:sp>
      <p:sp>
        <p:nvSpPr>
          <p:cNvPr id="22" name="Text 20"/>
          <p:cNvSpPr/>
          <p:nvPr/>
        </p:nvSpPr>
        <p:spPr>
          <a:xfrm>
            <a:off x="4791456" y="292608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· 응용 · 도메인 · 인프라 분리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6864" y="3346704"/>
            <a:ext cx="73152" cy="73152"/>
          </a:xfrm>
          <a:prstGeom prst="ellipse">
            <a:avLst/>
          </a:prstGeom>
          <a:solidFill>
            <a:srgbClr val="00688B"/>
          </a:solidFill>
          <a:ln/>
        </p:spPr>
      </p:sp>
      <p:sp>
        <p:nvSpPr>
          <p:cNvPr id="24" name="Text 22"/>
          <p:cNvSpPr/>
          <p:nvPr/>
        </p:nvSpPr>
        <p:spPr>
          <a:xfrm>
            <a:off x="4791456" y="3255264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의존 단방향 · 외부 연결은 도구 계층 한 곳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26864" y="3675888"/>
            <a:ext cx="73152" cy="73152"/>
          </a:xfrm>
          <a:prstGeom prst="ellipse">
            <a:avLst/>
          </a:prstGeom>
          <a:solidFill>
            <a:srgbClr val="00688B"/>
          </a:solidFill>
          <a:ln/>
        </p:spPr>
      </p:sp>
      <p:sp>
        <p:nvSpPr>
          <p:cNvPr id="26" name="Text 24"/>
          <p:cNvSpPr/>
          <p:nvPr/>
        </p:nvSpPr>
        <p:spPr>
          <a:xfrm>
            <a:off x="4791456" y="3584448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가 같은 컨테이너 — 장애가 전체로 번짐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863840" y="2880360"/>
            <a:ext cx="310896" cy="0"/>
          </a:xfrm>
          <a:prstGeom prst="line">
            <a:avLst/>
          </a:prstGeom>
          <a:noFill/>
          <a:ln w="15875">
            <a:solidFill>
              <a:srgbClr val="C9D2D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247888" y="1773936"/>
            <a:ext cx="3401568" cy="2212848"/>
          </a:xfrm>
          <a:prstGeom prst="roundRect">
            <a:avLst>
              <a:gd name="adj" fmla="val 2066"/>
            </a:avLst>
          </a:prstGeom>
          <a:solidFill>
            <a:srgbClr val="F7F9FA"/>
          </a:solidFill>
          <a:ln/>
        </p:spPr>
      </p:sp>
      <p:sp>
        <p:nvSpPr>
          <p:cNvPr id="29" name="Text 27"/>
          <p:cNvSpPr/>
          <p:nvPr/>
        </p:nvSpPr>
        <p:spPr>
          <a:xfrm>
            <a:off x="8247888" y="192024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마이크로서비스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262872" y="228600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8A929C"/>
          </a:solidFill>
          <a:ln/>
        </p:spPr>
      </p:sp>
      <p:sp>
        <p:nvSpPr>
          <p:cNvPr id="31" name="Text 29"/>
          <p:cNvSpPr/>
          <p:nvPr/>
        </p:nvSpPr>
        <p:spPr>
          <a:xfrm>
            <a:off x="9262872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과하다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47888" y="263347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N개 · 프로세스 경계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485632" y="3017520"/>
            <a:ext cx="73152" cy="73152"/>
          </a:xfrm>
          <a:prstGeom prst="ellipse">
            <a:avLst/>
          </a:prstGeom>
          <a:solidFill>
            <a:srgbClr val="8A929C"/>
          </a:solidFill>
          <a:ln/>
        </p:spPr>
      </p:sp>
      <p:sp>
        <p:nvSpPr>
          <p:cNvPr id="34" name="Text 32"/>
          <p:cNvSpPr/>
          <p:nvPr/>
        </p:nvSpPr>
        <p:spPr>
          <a:xfrm>
            <a:off x="8650224" y="292608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· 관측 · 배포 비용이 먼저 든다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485632" y="3346704"/>
            <a:ext cx="73152" cy="73152"/>
          </a:xfrm>
          <a:prstGeom prst="ellipse">
            <a:avLst/>
          </a:prstGeom>
          <a:solidFill>
            <a:srgbClr val="8A929C"/>
          </a:solidFill>
          <a:ln/>
        </p:spPr>
      </p:sp>
      <p:sp>
        <p:nvSpPr>
          <p:cNvPr id="36" name="Text 34"/>
          <p:cNvSpPr/>
          <p:nvPr/>
        </p:nvSpPr>
        <p:spPr>
          <a:xfrm>
            <a:off x="8650224" y="3255264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규모에서는 얻는 것보다 잃는 것이 크다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89120" y="404164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지금 여기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" y="4462272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조건 — 아래가 참이 될 때 컨테이너를 나눈다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4791456"/>
            <a:ext cx="5504688" cy="530352"/>
          </a:xfrm>
          <a:prstGeom prst="roundRect">
            <a:avLst>
              <a:gd name="adj" fmla="val 8621"/>
            </a:avLst>
          </a:prstGeom>
          <a:solidFill>
            <a:srgbClr val="F7F9FA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7914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사용자 증가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505456" y="4791456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프로세스로 감당이 안 될 때 API · 그래프를 ×N 으로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53912" y="4791456"/>
            <a:ext cx="5504688" cy="530352"/>
          </a:xfrm>
          <a:prstGeom prst="roundRect">
            <a:avLst>
              <a:gd name="adj" fmla="val 8621"/>
            </a:avLst>
          </a:prstGeom>
          <a:solidFill>
            <a:srgbClr val="F7F9FA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47914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격리 필요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29016" y="4791456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가 죽으면 전체가 죽는 지금 구조를 더는 감당할 수 없을 때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0352" y="5394960"/>
            <a:ext cx="5504688" cy="530352"/>
          </a:xfrm>
          <a:prstGeom prst="roundRect">
            <a:avLst>
              <a:gd name="adj" fmla="val 8621"/>
            </a:avLst>
          </a:prstGeom>
          <a:solidFill>
            <a:srgbClr val="F7F9FA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539496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주기 분리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505456" y="539496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앱과 그래프를 따로 배포해야 할 때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53912" y="5394960"/>
            <a:ext cx="5504688" cy="530352"/>
          </a:xfrm>
          <a:prstGeom prst="roundRect">
            <a:avLst>
              <a:gd name="adj" fmla="val 8621"/>
            </a:avLst>
          </a:prstGeom>
          <a:solidFill>
            <a:srgbClr val="E2F0F6"/>
          </a:solidFill>
          <a:ln/>
        </p:spPr>
      </p:sp>
      <p:sp>
        <p:nvSpPr>
          <p:cNvPr id="49" name="Text 47"/>
          <p:cNvSpPr/>
          <p:nvPr/>
        </p:nvSpPr>
        <p:spPr>
          <a:xfrm>
            <a:off x="6355080" y="539496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할 일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129016" y="539496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포트를 인터페이스로 선언 — 나누기 전에 경계를 계약으로 만든다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0352" y="6071616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마이크로서비스가 아니고, 한 덩어리 모놀리스도 아니다 — 배포 단위는 하나이고 내부 경계는 있다.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· 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0" y="365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1128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· 계획 · 경험 · 벡터를 한 DB 에 둔다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조인 가능해야 개인화가 성립합니다 — «이 후보가 내가 작년에 갔던 그곳인가»를 물으려면 두 축이 같은 트랜잭션 안에 있어야 합니다.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1773936"/>
            <a:ext cx="3520440" cy="1280160"/>
          </a:xfrm>
          <a:prstGeom prst="roundRect">
            <a:avLst>
              <a:gd name="adj" fmla="val 3571"/>
            </a:avLst>
          </a:prstGeom>
          <a:solidFill>
            <a:srgbClr val="E2F0F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01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21284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place_snapshots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api_cache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9808" y="277977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Culture(A3) · Verifier(A4)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70248" y="1773936"/>
            <a:ext cx="3520440" cy="1280160"/>
          </a:xfrm>
          <a:prstGeom prst="roundRect">
            <a:avLst>
              <a:gd name="adj" fmla="val 3571"/>
            </a:avLst>
          </a:prstGeom>
          <a:solidFill>
            <a:srgbClr val="E8F4E9"/>
          </a:solidFill>
          <a:ln/>
        </p:spPr>
      </p:sp>
      <p:sp>
        <p:nvSpPr>
          <p:cNvPr id="11" name="Text 9"/>
          <p:cNvSpPr/>
          <p:nvPr/>
        </p:nvSpPr>
        <p:spPr>
          <a:xfrm>
            <a:off x="4489704" y="1901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9704" y="221284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plan_edits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89704" y="277977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 · Memory(A9)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010144" y="1773936"/>
            <a:ext cx="3520440" cy="1280160"/>
          </a:xfrm>
          <a:prstGeom prst="roundRect">
            <a:avLst>
              <a:gd name="adj" fmla="val 3571"/>
            </a:avLst>
          </a:prstGeom>
          <a:solidFill>
            <a:srgbClr val="E2F0F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901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221284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experience_embeddings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taste_profiles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0" y="277977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 · Memory(A9)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0352" y="3200400"/>
            <a:ext cx="3520440" cy="1280160"/>
          </a:xfrm>
          <a:prstGeom prst="roundRect">
            <a:avLst>
              <a:gd name="adj" fmla="val 3571"/>
            </a:avLst>
          </a:prstGeom>
          <a:solidFill>
            <a:srgbClr val="E2F0F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3284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· 취향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36393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hitl_decisions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preference_cards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9808" y="42062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 · Preference(A2)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70248" y="3200400"/>
            <a:ext cx="3520440" cy="1280160"/>
          </a:xfrm>
          <a:prstGeom prst="roundRect">
            <a:avLst>
              <a:gd name="adj" fmla="val 3571"/>
            </a:avLst>
          </a:prstGeom>
          <a:solidFill>
            <a:srgbClr val="F7F9FA"/>
          </a:solidFill>
          <a:ln/>
        </p:spPr>
      </p:sp>
      <p:sp>
        <p:nvSpPr>
          <p:cNvPr id="23" name="Text 21"/>
          <p:cNvSpPr/>
          <p:nvPr/>
        </p:nvSpPr>
        <p:spPr>
          <a:xfrm>
            <a:off x="4489704" y="33284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· 사용자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89704" y="36393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user_collections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user_collection_places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89704" y="42062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010144" y="3200400"/>
            <a:ext cx="3520440" cy="1280160"/>
          </a:xfrm>
          <a:prstGeom prst="roundRect">
            <a:avLst>
              <a:gd name="adj" fmla="val 3571"/>
            </a:avLst>
          </a:prstGeom>
          <a:solidFill>
            <a:srgbClr val="FCEDE0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33284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0" y="36393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checkpoint_blobs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checkpoint_writes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29600" y="42062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(정지 · 재개)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30352" y="4645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테이블 + 체크포인트 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0352" y="4974336"/>
            <a:ext cx="11128248" cy="402336"/>
          </a:xfrm>
          <a:prstGeom prst="roundRect">
            <a:avLst>
              <a:gd name="adj" fmla="val 11364"/>
            </a:avLst>
          </a:prstGeom>
          <a:solidFill>
            <a:srgbClr val="F7F9FA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97433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인덱스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487168" y="4974336"/>
            <a:ext cx="9006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HNSW m=16 · ef_construction=64 · cosine. vector(1024) 는 EMBED_DIM 과 짝으로 고정 — 모델을 바꾸려면 스키마와 기존 임베딩을 함께 재생성해야 한다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0352" y="5431536"/>
            <a:ext cx="11128248" cy="402336"/>
          </a:xfrm>
          <a:prstGeom prst="roundRect">
            <a:avLst>
              <a:gd name="adj" fmla="val 11364"/>
            </a:avLst>
          </a:prstGeom>
          <a:solidFill>
            <a:srgbClr val="F7F9FA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543153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통제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487168" y="5431536"/>
            <a:ext cx="9006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users 를 참조하는 모든 테이블에 ON DELETE CASCADE. 단 place_snapshots 는 SET NULL — 공식정보 스냅샷은 개인정보가 아니라 사실 기록이므로 다른 사용자의 검증 근거로 남는다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30352" y="5888736"/>
            <a:ext cx="11128248" cy="402336"/>
          </a:xfrm>
          <a:prstGeom prst="roundRect">
            <a:avLst>
              <a:gd name="adj" fmla="val 11364"/>
            </a:avLst>
          </a:prstGeom>
          <a:solidFill>
            <a:srgbClr val="F7F9FA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88873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페이로드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487168" y="5888736"/>
            <a:ext cx="9006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목록에는 evidence_ids 만 싣고 원문은 지연 로드한다. 캘린더 목록에 payload 전문을 실으면 Itinerary 하나가 수십 KB 라 한 달치에서 제약이 깨진다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804672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1128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설계서가 확정한 세 가지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1773936"/>
            <a:ext cx="11128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기획안의 Agent 4역할을 9종으로 나누고, 그 협업 순서와 데이터 흐름을 고정하고, C4 3단계로 실행 구조를 못 박았습니다.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2304288"/>
            <a:ext cx="3520440" cy="2139696"/>
          </a:xfrm>
          <a:prstGeom prst="roundRect">
            <a:avLst>
              <a:gd name="adj" fmla="val 2137"/>
            </a:avLst>
          </a:prstGeom>
          <a:solidFill>
            <a:srgbClr val="1E2A36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4871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27432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Responsibility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" y="3310128"/>
            <a:ext cx="73152" cy="73152"/>
          </a:xfrm>
          <a:prstGeom prst="ellipse">
            <a:avLst/>
          </a:prstGeom>
          <a:solidFill>
            <a:srgbClr val="00688B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32186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EB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 4역할 → 설계 9종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04672" y="3694176"/>
            <a:ext cx="73152" cy="73152"/>
          </a:xfrm>
          <a:prstGeom prst="ellipse">
            <a:avLst/>
          </a:prstGeom>
          <a:solidFill>
            <a:srgbClr val="00688B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36027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EB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나눈 기준은 «따로 실패할 수 있는가»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" y="4078224"/>
            <a:ext cx="73152" cy="73152"/>
          </a:xfrm>
          <a:prstGeom prst="ellipse">
            <a:avLst/>
          </a:prstGeom>
          <a:solidFill>
            <a:srgbClr val="00688B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39867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EB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· 입력 · 출력 · 관심사 계층을 계약으로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70248" y="2304288"/>
            <a:ext cx="3520440" cy="2139696"/>
          </a:xfrm>
          <a:prstGeom prst="roundRect">
            <a:avLst>
              <a:gd name="adj" fmla="val 2137"/>
            </a:avLst>
          </a:prstGeom>
          <a:solidFill>
            <a:srgbClr val="1E2A36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24871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27432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Workflow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44568" y="3310128"/>
            <a:ext cx="73152" cy="73152"/>
          </a:xfrm>
          <a:prstGeom prst="ellipse">
            <a:avLst/>
          </a:prstGeom>
          <a:solidFill>
            <a:srgbClr val="00688B"/>
          </a:solidFill>
          <a:ln/>
        </p:spPr>
      </p:sp>
      <p:sp>
        <p:nvSpPr>
          <p:cNvPr id="18" name="Text 16"/>
          <p:cNvSpPr/>
          <p:nvPr/>
        </p:nvSpPr>
        <p:spPr>
          <a:xfrm>
            <a:off x="4727448" y="32186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EB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1건의 10단계 + 2단계 보강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44568" y="3694176"/>
            <a:ext cx="73152" cy="73152"/>
          </a:xfrm>
          <a:prstGeom prst="ellipse">
            <a:avLst/>
          </a:prstGeom>
          <a:solidFill>
            <a:srgbClr val="00688B"/>
          </a:solidFill>
          <a:ln/>
        </p:spPr>
      </p:sp>
      <p:sp>
        <p:nvSpPr>
          <p:cNvPr id="20" name="Text 18"/>
          <p:cNvSpPr/>
          <p:nvPr/>
        </p:nvSpPr>
        <p:spPr>
          <a:xfrm>
            <a:off x="4727448" y="36027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EB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는 서로를 호출하지 않는다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44568" y="4078224"/>
            <a:ext cx="73152" cy="73152"/>
          </a:xfrm>
          <a:prstGeom prst="ellipse">
            <a:avLst/>
          </a:prstGeom>
          <a:solidFill>
            <a:srgbClr val="00688B"/>
          </a:solidFill>
          <a:ln/>
        </p:spPr>
      </p:sp>
      <p:sp>
        <p:nvSpPr>
          <p:cNvPr id="22" name="Text 20"/>
          <p:cNvSpPr/>
          <p:nvPr/>
        </p:nvSpPr>
        <p:spPr>
          <a:xfrm>
            <a:off x="4727448" y="39867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EB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3곳 · 병렬 7곳 · 정지 1곳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10144" y="2304288"/>
            <a:ext cx="3520440" cy="2139696"/>
          </a:xfrm>
          <a:prstGeom prst="roundRect">
            <a:avLst>
              <a:gd name="adj" fmla="val 2137"/>
            </a:avLst>
          </a:prstGeom>
          <a:solidFill>
            <a:srgbClr val="1E2A36"/>
          </a:solidFill>
          <a:ln/>
        </p:spPr>
      </p:sp>
      <p:sp>
        <p:nvSpPr>
          <p:cNvPr id="24" name="Text 22"/>
          <p:cNvSpPr/>
          <p:nvPr/>
        </p:nvSpPr>
        <p:spPr>
          <a:xfrm>
            <a:off x="8266176" y="24871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66176" y="27432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84464" y="3310128"/>
            <a:ext cx="73152" cy="73152"/>
          </a:xfrm>
          <a:prstGeom prst="ellipse">
            <a:avLst/>
          </a:prstGeom>
          <a:solidFill>
            <a:srgbClr val="00688B"/>
          </a:solidFill>
          <a:ln/>
        </p:spPr>
      </p:sp>
      <p:sp>
        <p:nvSpPr>
          <p:cNvPr id="27" name="Text 25"/>
          <p:cNvSpPr/>
          <p:nvPr/>
        </p:nvSpPr>
        <p:spPr>
          <a:xfrm>
            <a:off x="8467344" y="32186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EB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C4 L1 · L2 · L3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84464" y="3694176"/>
            <a:ext cx="73152" cy="73152"/>
          </a:xfrm>
          <a:prstGeom prst="ellipse">
            <a:avLst/>
          </a:prstGeom>
          <a:solidFill>
            <a:srgbClr val="00688B"/>
          </a:solidFill>
          <a:ln/>
        </p:spPr>
      </p:sp>
      <p:sp>
        <p:nvSpPr>
          <p:cNvPr id="29" name="Text 27"/>
          <p:cNvSpPr/>
          <p:nvPr/>
        </p:nvSpPr>
        <p:spPr>
          <a:xfrm>
            <a:off x="8467344" y="36027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EB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포트와 어댑터 — 지켜진 것과 아직 아닌 것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84464" y="4078224"/>
            <a:ext cx="73152" cy="73152"/>
          </a:xfrm>
          <a:prstGeom prst="ellipse">
            <a:avLst/>
          </a:prstGeom>
          <a:solidFill>
            <a:srgbClr val="00688B"/>
          </a:solidFill>
          <a:ln/>
        </p:spPr>
      </p:sp>
      <p:sp>
        <p:nvSpPr>
          <p:cNvPr id="31" name="Text 29"/>
          <p:cNvSpPr/>
          <p:nvPr/>
        </p:nvSpPr>
        <p:spPr>
          <a:xfrm>
            <a:off x="8467344" y="39867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EB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모듈 모놀리스 · 전환 조건을 명시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0352" y="4718304"/>
            <a:ext cx="11128248" cy="914400"/>
          </a:xfrm>
          <a:prstGeom prst="roundRect">
            <a:avLst>
              <a:gd name="adj" fmla="val 5000"/>
            </a:avLst>
          </a:prstGeom>
          <a:solidFill>
            <a:srgbClr val="1E2A36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828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설계서를 고칠 때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" y="5102352"/>
            <a:ext cx="10543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소스가 근거다. 문서가 코드보다 앞서 나가면 그때부터 설계서는 근거를 잃는다 — 상태 칸은 반드시 app/ 을 다시 읽고 판정한다. 구조를 바꾸면 tests/test_docs_contract.py 가 먼저 깨지도록 해 두었다.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0352" y="5888736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AGENT_ROLES.md   ·   AGENT_WORKFLOW.md   ·   SYSTEM_C4.md   —   근거 기준 문서 PLANNING.md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MOBIDIC Architecture 설계서</dc:title>
  <dc:subject>PptxGenJS Presentation</dc:subject>
  <dc:creator>MOBIDIC</dc:creator>
  <cp:lastModifiedBy>MOBIDIC</cp:lastModifiedBy>
  <cp:revision>1</cp:revision>
  <dcterms:created xsi:type="dcterms:W3CDTF">2026-08-18T05:34:36Z</dcterms:created>
  <dcterms:modified xsi:type="dcterms:W3CDTF">2026-08-18T05:34:36Z</dcterms:modified>
</cp:coreProperties>
</file>