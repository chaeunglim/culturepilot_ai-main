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100" y="1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02327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기획안은 What/Why 를 정의했다. 이 문서는 그 위에 Agent·협업·시스템 구조 세 가지를 얹는다.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범위를 먼저 긋는 것이 아키텍트의 첫 일. 순서의 근거까지 적어 두면 나중에 흔들리지 않는다.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 를 나눈 근거를 남기지 않으면 나중에 '왜 이렇게 잘게 쪼갰나' 질문에 답할 수 없다.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표가 PART 01 의 결론. 이후 모든 설계가 여기서 나온다.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A1 의 좌표 확정 위치와 A3 의 좌표 게이트가 실무에서 가장 자주 문제가 되는 두 지점.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편성계는 결정론 영역. 이 경계를 흐리면 같은 요청에 다른 일정이 나온다.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A7 은 다른 Agent 를 감시하는 층. 이 서비스의 차별점이 여기서 강제된다.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경계 규칙은 코드 리뷰의 판단 기준이 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왼쪽으로 도는 역방향 간선이 이 서비스의 핵심. HITL 이 실제로 일정을 바꾸는 경로.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A1 은 어느 경로에서나 실행되므로 표에서 생략. A7 은 일정이 만들어질 때만 실행.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실선은 쓰기, 점선은 읽기. 공유 State 가 중단·재개와 설명가능성의 전제.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병렬 구간 두 곳이 응답 시간을 결정한다.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기획안 2.2 의 한 줄이 요구하는 구조적 대가.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한 장이 PART 03 의 핵심. 다섯 구성요소와 그 사이의 계약이 전부 들어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'넘기지 않는 것' 열이 계층 붕괴를 막는 실질적 장치.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MVP 배치의 대가를 명시하고, 전환 비용을 낮추는 방법까지 적는 것이 아키텍트의 몫.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제공자 이름을 일반화해 적었다. 구체 선정은 API 상세 설계에서.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문서의 산출이 다음 문서의 입력이라는 것을 표로 보여 주면 후속 작업이 막히지 않는다.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세 가지가 정해졌으므로 후속 설계가 근거를 갖는다.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A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60" dirty="0">
                <a:solidFill>
                  <a:srgbClr val="0F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DESIGN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1755648"/>
            <a:ext cx="8686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MOBIDIC</a:t>
            </a:r>
            <a:endParaRPr lang="en-US" sz="4000" dirty="0"/>
          </a:p>
          <a:p>
            <a:pPr marL="0" indent="0">
              <a:lnSpc>
                <a:spcPts val="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설계서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3419856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CC5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개인 아카이브 기반 AI 문화생활 일정 · 동선 서비스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4114800"/>
            <a:ext cx="3383280" cy="0"/>
          </a:xfrm>
          <a:prstGeom prst="line">
            <a:avLst/>
          </a:prstGeom>
          <a:noFill/>
          <a:ln w="25400">
            <a:solidFill>
              <a:srgbClr val="0F6E7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548640" y="4224528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0F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4462272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역할 정의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4791456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CC5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누가 무엇을 하는가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43400" y="4114800"/>
            <a:ext cx="3383280" cy="0"/>
          </a:xfrm>
          <a:prstGeom prst="line">
            <a:avLst/>
          </a:prstGeom>
          <a:noFill/>
          <a:ln w="25400">
            <a:solidFill>
              <a:srgbClr val="39527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4343400" y="4224528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395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343400" y="4462272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Workflow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343400" y="4791456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CC5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어떻게 협업하는가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138160" y="4114800"/>
            <a:ext cx="3383280" cy="0"/>
          </a:xfrm>
          <a:prstGeom prst="line">
            <a:avLst/>
          </a:prstGeom>
          <a:noFill/>
          <a:ln w="25400">
            <a:solidFill>
              <a:srgbClr val="9C5A1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8138160" y="4224528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9C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138160" y="4462272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138160" y="4791456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CC5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어디서 실행되고 연결되는가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48640" y="541324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2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근거 문서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48640" y="5632704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200" dirty="0" err="1">
                <a:solidFill>
                  <a:srgbClr val="BCC5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Achitecture_설계본문은</a:t>
            </a:r>
            <a:r>
              <a:rPr lang="en-US" sz="1200" dirty="0">
                <a:solidFill>
                  <a:srgbClr val="BCC5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기획 내용,  15</a:t>
            </a:r>
            <a:r>
              <a:rPr lang="ko-KR" altLang="en-US" sz="1200" dirty="0">
                <a:solidFill>
                  <a:srgbClr val="BCC5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페이지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60" dirty="0">
                <a:solidFill>
                  <a:srgbClr val="0F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48640" y="585216"/>
            <a:ext cx="1109441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이번에 확정할 것과 다음으로 미룬 것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152144"/>
            <a:ext cx="108200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475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 가지를 먼저 확정합니다. 이 셋이 정해지지 않으면 DB 스키마도 API 명세도 근거 없이 만들어집니다.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문서에서 확정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2194560"/>
            <a:ext cx="6858000" cy="749808"/>
          </a:xfrm>
          <a:prstGeom prst="roundRect">
            <a:avLst>
              <a:gd name="adj" fmla="val 3659"/>
            </a:avLst>
          </a:prstGeom>
          <a:solidFill>
            <a:srgbClr val="E4F0F2"/>
          </a:solidFill>
          <a:ln w="12700">
            <a:solidFill>
              <a:srgbClr val="0F6E7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768096" y="230428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98448" y="22860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역할 정의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98448" y="2578608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각 Agent 의 책임 · 입력 · 출력 · 실패 시 동작을 계약으로 고정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035808"/>
            <a:ext cx="6858000" cy="749808"/>
          </a:xfrm>
          <a:prstGeom prst="roundRect">
            <a:avLst>
              <a:gd name="adj" fmla="val 3659"/>
            </a:avLst>
          </a:prstGeom>
          <a:solidFill>
            <a:srgbClr val="E8ECF4"/>
          </a:solidFill>
          <a:ln w="12700">
            <a:solidFill>
              <a:srgbClr val="39527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768096" y="314553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95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298448" y="312724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Workflow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98448" y="3419856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실행 순서 · 분기 조건 · 협업 방식 · 중단과 재개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877056"/>
            <a:ext cx="6858000" cy="749808"/>
          </a:xfrm>
          <a:prstGeom prst="roundRect">
            <a:avLst>
              <a:gd name="adj" fmla="val 3659"/>
            </a:avLst>
          </a:prstGeom>
          <a:solidFill>
            <a:srgbClr val="F9F0E3"/>
          </a:solidFill>
          <a:ln w="12700">
            <a:solidFill>
              <a:srgbClr val="9C5A1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768096" y="398678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C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298448" y="396849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98448" y="4261104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 · FastAPI · LangGraph · PostgreSQL · 외부 API 의 관계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772400" y="1828800"/>
            <a:ext cx="3867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 문서로 분리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7772400" y="2194560"/>
            <a:ext cx="3867912" cy="749808"/>
          </a:xfrm>
          <a:prstGeom prst="roundRect">
            <a:avLst>
              <a:gd name="adj" fmla="val 3659"/>
            </a:avLst>
          </a:prstGeom>
          <a:solidFill>
            <a:srgbClr val="F5F7F9"/>
          </a:solidFill>
          <a:ln w="12700">
            <a:solidFill>
              <a:srgbClr val="E1E6EB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7973568" y="2267712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475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상세 설계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7973568" y="2505456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테이블 DDL · 인덱스 · 파티셔닝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973568" y="270662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Agent 출력이 확정돼야 스키마가 나온다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7772400" y="3035808"/>
            <a:ext cx="3867912" cy="749808"/>
          </a:xfrm>
          <a:prstGeom prst="roundRect">
            <a:avLst>
              <a:gd name="adj" fmla="val 3659"/>
            </a:avLst>
          </a:prstGeom>
          <a:solidFill>
            <a:srgbClr val="F5F7F9"/>
          </a:solidFill>
          <a:ln w="12700">
            <a:solidFill>
              <a:srgbClr val="E1E6EB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7973568" y="3108960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475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상세 설계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7973568" y="334670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엔드포인트 · 요청/응답 스키마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973568" y="3547872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Workflow 가 확정돼야 경계가 나온다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7772400" y="3877056"/>
            <a:ext cx="3867912" cy="749808"/>
          </a:xfrm>
          <a:prstGeom prst="roundRect">
            <a:avLst>
              <a:gd name="adj" fmla="val 3659"/>
            </a:avLst>
          </a:prstGeom>
          <a:solidFill>
            <a:srgbClr val="F5F7F9"/>
          </a:solidFill>
          <a:ln w="12700">
            <a:solidFill>
              <a:srgbClr val="E1E6EB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7973568" y="3950208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475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개발 · 구현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7973568" y="4187952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코드 · 테스트 · 배포 파이프라인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973568" y="4389120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위 둘이 끝난 뒤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48640" y="4846320"/>
            <a:ext cx="11094415" cy="1188720"/>
          </a:xfrm>
          <a:prstGeom prst="roundRect">
            <a:avLst>
              <a:gd name="adj" fmla="val 2308"/>
            </a:avLst>
          </a:prstGeom>
          <a:solidFill>
            <a:srgbClr val="F5F7F9"/>
          </a:solidFill>
          <a:ln w="12700">
            <a:solidFill>
              <a:srgbClr val="E1E6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822960" y="4956048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왜 이 순서인가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22960" y="5230368"/>
            <a:ext cx="10515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75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를 먼저 그리면 Agent 가 그 스키마에 맞춰지고, API 를 먼저 그리면 Workflow 가 엔드포인트에 맞춰집니다. 둘 다 원인과 결과가 뒤집힌 설계입니다.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75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의 책임과 입출력이 정해져야 “무엇을 저장해야 하는가”가 나오고, Workflow 가 정해져야 “어디를 경계로 끊어야 하는가”가 나옵니다.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6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01 · Agent Responsibility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3749040" y="329184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60" dirty="0">
                <a:solidFill>
                  <a:srgbClr val="0F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Derivation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8640" y="585216"/>
            <a:ext cx="1109441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기획안의 Agent 4종을 설계 7종으로 나눈다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152144"/>
            <a:ext cx="108200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475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기획안은 Agent 이름을 나열합니다. 설계는 “한 Agent 가 두 가지 책임을 지고 있지 않은가”를 먼저 따져야 합니다.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48640" y="187452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기획안 (3.1)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017520" y="187452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설계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6400800" y="187452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판단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8046720" y="1874520"/>
            <a:ext cx="3593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근거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48640" y="2212848"/>
            <a:ext cx="11094415" cy="621792"/>
          </a:xfrm>
          <a:prstGeom prst="rect">
            <a:avLst/>
          </a:prstGeom>
          <a:solidFill>
            <a:srgbClr val="F5F7F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621792" y="2212848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017520" y="2212848"/>
            <a:ext cx="3291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 Router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400800" y="2212848"/>
            <a:ext cx="1554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유지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046720" y="2212848"/>
            <a:ext cx="35935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책임이 하나다 — 요청을 이해하고 실행 계획을 만든다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21792" y="2871216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Agent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017520" y="2871216"/>
            <a:ext cx="3291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 Preference + A3 Culture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400800" y="2871216"/>
            <a:ext cx="1554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C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분할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046720" y="2871216"/>
            <a:ext cx="35935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취향 조회와 콘텐츠 탐색은 대상도 저장소도 다르다. 한 덩어리면 병렬 실행이 불가능하다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3529584"/>
            <a:ext cx="11094415" cy="621792"/>
          </a:xfrm>
          <a:prstGeom prst="rect">
            <a:avLst/>
          </a:prstGeom>
          <a:solidFill>
            <a:srgbClr val="F5F7F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621792" y="3529584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Agent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017520" y="3529584"/>
            <a:ext cx="3291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A7 Validator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400800" y="3529584"/>
            <a:ext cx="1554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유지 · 확장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046720" y="3529584"/>
            <a:ext cx="35935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공식정보 검증에 더해 일정 정합성 검사와 사용자 확인까지 맡는다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21792" y="4187952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Agent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017520" y="4187952"/>
            <a:ext cx="3291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A6 Planner + A4 Food + A5 Map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400800" y="4187952"/>
            <a:ext cx="1554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C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분할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046720" y="4187952"/>
            <a:ext cx="35935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‘동선 알고리즘’ 안에 이동시간 실측 · 식사 배치 · 순서 결정이 섞여 있다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4956048"/>
            <a:ext cx="5394960" cy="1143000"/>
          </a:xfrm>
          <a:prstGeom prst="roundRect">
            <a:avLst>
              <a:gd name="adj" fmla="val 2400"/>
            </a:avLst>
          </a:prstGeom>
          <a:solidFill>
            <a:srgbClr val="F9F0E3"/>
          </a:solidFill>
          <a:ln w="12700">
            <a:solidFill>
              <a:srgbClr val="9C5A1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768096" y="5065776"/>
            <a:ext cx="4983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9C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분할의 기준 — 한 문장으로 책임을 말할 수 있는가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768096" y="5358384"/>
            <a:ext cx="4983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475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“정보를 수집한다”는 책임이 아니라 범주입니다. “과거 기록에서 취향 점수를 산출한다”, “조건에 맞는 검증된 후보군을 만든다” — 이렇게 말할 수 있어야 입출력이 정해집니다.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245352" y="4956048"/>
            <a:ext cx="5394960" cy="1143000"/>
          </a:xfrm>
          <a:prstGeom prst="roundRect">
            <a:avLst>
              <a:gd name="adj" fmla="val 2400"/>
            </a:avLst>
          </a:prstGeom>
          <a:solidFill>
            <a:srgbClr val="E4F0F2"/>
          </a:solidFill>
          <a:ln w="12700">
            <a:solidFill>
              <a:srgbClr val="0F6E7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6464808" y="5065776"/>
            <a:ext cx="4983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분할이 만드는 실익 — 병렬 실행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6464808" y="5358384"/>
            <a:ext cx="4983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475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 취향과 A3 탐색은 서로를 기다릴 이유가 없습니다. 동시에 돌리면 후보가 만들어지는 시점에 취향 점수가 이미 준비돼, 무엇을 찾을지 자체가 달라집니다 — 기획안 1.3 ①의 구조적 근거입니다.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6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01 · Agent Responsibility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3749040" y="329184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60" dirty="0">
                <a:solidFill>
                  <a:srgbClr val="0F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Responsibility Matrix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8640" y="585216"/>
            <a:ext cx="1109441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7종 — 책임 · 입력 · 출력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152144"/>
            <a:ext cx="108200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475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각 Agent 는 “입력을 받아 정해진 산출물을 State 에 남긴다”는 계약만 지킵니다. 다른 Agent 를 직접 호출하지 않습니다.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48640" y="18288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2011680" y="182880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책임 — 한 문장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663440" y="182880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입력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269480" y="182880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출력 (State 채널)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9692640" y="1828800"/>
            <a:ext cx="1947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계열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48640" y="2157984"/>
            <a:ext cx="11094415" cy="512064"/>
          </a:xfrm>
          <a:prstGeom prst="rect">
            <a:avLst/>
          </a:prstGeom>
          <a:solidFill>
            <a:srgbClr val="F5F7F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548640" y="2221992"/>
            <a:ext cx="1298448" cy="384048"/>
          </a:xfrm>
          <a:prstGeom prst="roundRect">
            <a:avLst>
              <a:gd name="adj" fmla="val 7143"/>
            </a:avLst>
          </a:prstGeom>
          <a:solidFill>
            <a:srgbClr val="E4F0F2"/>
          </a:solidFill>
          <a:ln w="12700">
            <a:solidFill>
              <a:srgbClr val="0F6E7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621792" y="2221992"/>
            <a:ext cx="310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F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932688" y="2221992"/>
            <a:ext cx="841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011680" y="2157984"/>
            <a:ext cx="2560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발화를 실행 계획으로 바꾼다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663440" y="2157984"/>
            <a:ext cx="2514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자연어 발화 · 화면 입력값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269480" y="2157984"/>
            <a:ext cx="2331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conditions · request_type · flags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9692640" y="2157984"/>
            <a:ext cx="1097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탐색계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2770632"/>
            <a:ext cx="1298448" cy="384048"/>
          </a:xfrm>
          <a:prstGeom prst="roundRect">
            <a:avLst>
              <a:gd name="adj" fmla="val 7143"/>
            </a:avLst>
          </a:prstGeom>
          <a:solidFill>
            <a:srgbClr val="E4F0F2"/>
          </a:solidFill>
          <a:ln w="12700">
            <a:solidFill>
              <a:srgbClr val="0F6E7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621792" y="2770632"/>
            <a:ext cx="310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F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932688" y="2770632"/>
            <a:ext cx="841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Preference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011680" y="2706624"/>
            <a:ext cx="2560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과거 기록에서 취향 점수와 불편 신호를 뽑는다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663440" y="2706624"/>
            <a:ext cx="2514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user_id · conditions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269480" y="2706624"/>
            <a:ext cx="2331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taste_profile · archive_hits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9692640" y="2706624"/>
            <a:ext cx="1097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탐색계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3255264"/>
            <a:ext cx="11094415" cy="512064"/>
          </a:xfrm>
          <a:prstGeom prst="rect">
            <a:avLst/>
          </a:prstGeom>
          <a:solidFill>
            <a:srgbClr val="F5F7F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548640" y="3319272"/>
            <a:ext cx="1298448" cy="384048"/>
          </a:xfrm>
          <a:prstGeom prst="roundRect">
            <a:avLst>
              <a:gd name="adj" fmla="val 7143"/>
            </a:avLst>
          </a:prstGeom>
          <a:solidFill>
            <a:srgbClr val="E4F0F2"/>
          </a:solidFill>
          <a:ln w="12700">
            <a:solidFill>
              <a:srgbClr val="0F6E7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621792" y="3319272"/>
            <a:ext cx="310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F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A3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932688" y="3319272"/>
            <a:ext cx="841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Culture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2011680" y="3255264"/>
            <a:ext cx="2560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조건에 맞는 검증된 후보군을 만든다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663440" y="3255264"/>
            <a:ext cx="2514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conditions (지역·날짜·좌표)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7269480" y="3255264"/>
            <a:ext cx="2331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candidates · verifications · evidence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9692640" y="3255264"/>
            <a:ext cx="1097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탐색계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3867912"/>
            <a:ext cx="1298448" cy="384048"/>
          </a:xfrm>
          <a:prstGeom prst="roundRect">
            <a:avLst>
              <a:gd name="adj" fmla="val 7143"/>
            </a:avLst>
          </a:prstGeom>
          <a:solidFill>
            <a:srgbClr val="E8ECF4"/>
          </a:solidFill>
          <a:ln w="12700">
            <a:solidFill>
              <a:srgbClr val="39527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621792" y="3867912"/>
            <a:ext cx="310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95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A4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932688" y="3867912"/>
            <a:ext cx="841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2011680" y="3803904"/>
            <a:ext cx="2560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식사 자리를 잡고 빈 시간을 채운다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663440" y="3803904"/>
            <a:ext cx="2514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편성 중 일정 · 빈틈 · 앵커 좌표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7269480" y="3803904"/>
            <a:ext cx="2331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95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nearby · 삽입된 일정 항목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9692640" y="3803904"/>
            <a:ext cx="1097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95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편성계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548640" y="4352544"/>
            <a:ext cx="11094415" cy="512064"/>
          </a:xfrm>
          <a:prstGeom prst="rect">
            <a:avLst/>
          </a:prstGeom>
          <a:solidFill>
            <a:srgbClr val="F5F7F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40"/>
          <p:cNvSpPr/>
          <p:nvPr/>
        </p:nvSpPr>
        <p:spPr>
          <a:xfrm>
            <a:off x="548640" y="4416552"/>
            <a:ext cx="1298448" cy="384048"/>
          </a:xfrm>
          <a:prstGeom prst="roundRect">
            <a:avLst>
              <a:gd name="adj" fmla="val 7143"/>
            </a:avLst>
          </a:prstGeom>
          <a:solidFill>
            <a:srgbClr val="E8ECF4"/>
          </a:solidFill>
          <a:ln w="12700">
            <a:solidFill>
              <a:srgbClr val="39527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Text 41"/>
          <p:cNvSpPr/>
          <p:nvPr/>
        </p:nvSpPr>
        <p:spPr>
          <a:xfrm>
            <a:off x="621792" y="4416552"/>
            <a:ext cx="310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95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A5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932688" y="4416552"/>
            <a:ext cx="841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2011680" y="4352544"/>
            <a:ext cx="2560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구간별 실제 이동시간과 수단을 확정한다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4663440" y="4352544"/>
            <a:ext cx="2514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좌표쌍 · 선호 수단 · 주차 사정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7269480" y="4352544"/>
            <a:ext cx="2331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95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travel_matrix · 구간 수단 · 경로 좌표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9692640" y="4352544"/>
            <a:ext cx="1097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95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편성계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548640" y="4965192"/>
            <a:ext cx="1298448" cy="384048"/>
          </a:xfrm>
          <a:prstGeom prst="roundRect">
            <a:avLst>
              <a:gd name="adj" fmla="val 7143"/>
            </a:avLst>
          </a:prstGeom>
          <a:solidFill>
            <a:srgbClr val="E8ECF4"/>
          </a:solidFill>
          <a:ln w="12700">
            <a:solidFill>
              <a:srgbClr val="39527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Text 48"/>
          <p:cNvSpPr/>
          <p:nvPr/>
        </p:nvSpPr>
        <p:spPr>
          <a:xfrm>
            <a:off x="621792" y="4965192"/>
            <a:ext cx="310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95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A6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932688" y="4965192"/>
            <a:ext cx="841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2011680" y="4901184"/>
            <a:ext cx="2560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순서 · 시각 · 체류시간을 확정한다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4663440" y="4901184"/>
            <a:ext cx="2514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후보 · 취향 · 이동시간 · 운영시간 · 날씨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7269480" y="4901184"/>
            <a:ext cx="2331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95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itinerary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9692640" y="4901184"/>
            <a:ext cx="1097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95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편성계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548640" y="5449824"/>
            <a:ext cx="11094415" cy="512064"/>
          </a:xfrm>
          <a:prstGeom prst="rect">
            <a:avLst/>
          </a:prstGeom>
          <a:solidFill>
            <a:srgbClr val="F5F7F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55"/>
          <p:cNvSpPr/>
          <p:nvPr/>
        </p:nvSpPr>
        <p:spPr>
          <a:xfrm>
            <a:off x="548640" y="5513832"/>
            <a:ext cx="1298448" cy="384048"/>
          </a:xfrm>
          <a:prstGeom prst="roundRect">
            <a:avLst>
              <a:gd name="adj" fmla="val 7143"/>
            </a:avLst>
          </a:prstGeom>
          <a:solidFill>
            <a:srgbClr val="F9F0E3"/>
          </a:solidFill>
          <a:ln w="12700">
            <a:solidFill>
              <a:srgbClr val="9C5A1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8" name="Text 56"/>
          <p:cNvSpPr/>
          <p:nvPr/>
        </p:nvSpPr>
        <p:spPr>
          <a:xfrm>
            <a:off x="621792" y="5513832"/>
            <a:ext cx="310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C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A7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932688" y="5513832"/>
            <a:ext cx="841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Validator</a:t>
            </a:r>
            <a:endParaRPr lang="en-US" sz="1050" dirty="0"/>
          </a:p>
        </p:txBody>
      </p:sp>
      <p:sp>
        <p:nvSpPr>
          <p:cNvPr id="60" name="Text 58"/>
          <p:cNvSpPr/>
          <p:nvPr/>
        </p:nvSpPr>
        <p:spPr>
          <a:xfrm>
            <a:off x="2011680" y="5449824"/>
            <a:ext cx="2560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결함을 찾아 물을 것을 고른다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4663440" y="5449824"/>
            <a:ext cx="2514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itinerary · archive_hits · 공식정보</a:t>
            </a:r>
            <a:endParaRPr lang="en-US" sz="1050" dirty="0"/>
          </a:p>
        </p:txBody>
      </p:sp>
      <p:sp>
        <p:nvSpPr>
          <p:cNvPr id="62" name="Text 60"/>
          <p:cNvSpPr/>
          <p:nvPr/>
        </p:nvSpPr>
        <p:spPr>
          <a:xfrm>
            <a:off x="7269480" y="5449824"/>
            <a:ext cx="2331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C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 · advisories · 정지 신호</a:t>
            </a:r>
            <a:endParaRPr lang="en-US" sz="1050" dirty="0"/>
          </a:p>
        </p:txBody>
      </p:sp>
      <p:sp>
        <p:nvSpPr>
          <p:cNvPr id="63" name="Text 61"/>
          <p:cNvSpPr/>
          <p:nvPr/>
        </p:nvSpPr>
        <p:spPr>
          <a:xfrm>
            <a:off x="9692640" y="5449824"/>
            <a:ext cx="1097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C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검증계</a:t>
            </a:r>
            <a:endParaRPr lang="en-US" sz="1050" dirty="0"/>
          </a:p>
        </p:txBody>
      </p:sp>
      <p:sp>
        <p:nvSpPr>
          <p:cNvPr id="64" name="Text 62"/>
          <p:cNvSpPr/>
          <p:nvPr/>
        </p:nvSpPr>
        <p:spPr>
          <a:xfrm>
            <a:off x="548640" y="6309360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출력 채널명이 곧 DB 설계의 입력입니다 — 무엇을 저장해야 하는지는 이 표에서 도출됩니다.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6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01 · Agent Responsibility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3749040" y="329184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60" dirty="0">
                <a:solidFill>
                  <a:srgbClr val="0F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탐색계 — A1 · A2 · A3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8640" y="585216"/>
            <a:ext cx="1109441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요청을 이해하고 재료를 모은다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152144"/>
            <a:ext cx="108200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475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 와 A3 는 병렬로 실행됩니다. A1 이 만든 조건을 각자 읽고, 서로를 기다리지 않습니다.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8549640" y="1261872"/>
            <a:ext cx="118872" cy="118872"/>
          </a:xfrm>
          <a:prstGeom prst="ellipse">
            <a:avLst/>
          </a:prstGeom>
          <a:solidFill>
            <a:srgbClr val="0F6E7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8732520" y="120700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탐색계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9692640" y="1261872"/>
            <a:ext cx="118872" cy="118872"/>
          </a:xfrm>
          <a:prstGeom prst="ellipse">
            <a:avLst/>
          </a:prstGeom>
          <a:solidFill>
            <a:srgbClr val="39527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9875520" y="120700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편성계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0835640" y="1261872"/>
            <a:ext cx="118872" cy="118872"/>
          </a:xfrm>
          <a:prstGeom prst="ellipse">
            <a:avLst/>
          </a:prstGeom>
          <a:solidFill>
            <a:srgbClr val="9C5A1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11018520" y="120700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검증계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48640" y="1783080"/>
            <a:ext cx="3520440" cy="4343400"/>
          </a:xfrm>
          <a:prstGeom prst="roundRect">
            <a:avLst>
              <a:gd name="adj" fmla="val 779"/>
            </a:avLst>
          </a:prstGeom>
          <a:solidFill>
            <a:srgbClr val="FFFFFF"/>
          </a:solidFill>
          <a:ln w="12700">
            <a:solidFill>
              <a:srgbClr val="0F6E7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548640" y="1783080"/>
            <a:ext cx="3520440" cy="566928"/>
          </a:xfrm>
          <a:prstGeom prst="roundRect">
            <a:avLst>
              <a:gd name="adj" fmla="val 4839"/>
            </a:avLst>
          </a:prstGeom>
          <a:solidFill>
            <a:srgbClr val="E4F0F2"/>
          </a:solidFill>
          <a:ln w="12700">
            <a:solidFill>
              <a:srgbClr val="0F6E7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731520" y="1883664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207008" y="185623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Router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31520" y="210312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요청 해석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" y="2514600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6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처리 순서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31520" y="2715768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475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규칙 추출 → (부족할 때만) LLM 보강 → 규칙 보정 → 화면값 덮기 → 좌표 확정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31520" y="3429000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6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규칙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31520" y="3630168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475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방금 한 말이 화면에 남은 이전 값을 이긴다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31520" y="4343400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6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좌표 확정을 여기서 하는 이유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31520" y="4544568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475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위치 해석은 ‘요청을 이해하는 일’이지 ‘장소를 찾는 일’이 아니다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31520" y="5257800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6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실패 시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31520" y="5458968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475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실패해도 규칙 파서 결과로 진행 — 라우터가 죽으면 전체가 죽는다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343400" y="1783080"/>
            <a:ext cx="3520440" cy="4343400"/>
          </a:xfrm>
          <a:prstGeom prst="roundRect">
            <a:avLst>
              <a:gd name="adj" fmla="val 779"/>
            </a:avLst>
          </a:prstGeom>
          <a:solidFill>
            <a:srgbClr val="FFFFFF"/>
          </a:solidFill>
          <a:ln w="12700">
            <a:solidFill>
              <a:srgbClr val="0F6E7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4343400" y="1783080"/>
            <a:ext cx="3520440" cy="566928"/>
          </a:xfrm>
          <a:prstGeom prst="roundRect">
            <a:avLst>
              <a:gd name="adj" fmla="val 4839"/>
            </a:avLst>
          </a:prstGeom>
          <a:solidFill>
            <a:srgbClr val="E4F0F2"/>
          </a:solidFill>
          <a:ln w="12700">
            <a:solidFill>
              <a:srgbClr val="0F6E7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4526280" y="1883664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001768" y="185623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Preference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526280" y="210312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취향 산출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526280" y="2514600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6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검색 방식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526280" y="2715768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475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3개 관점 병렬 — 유사 장소 · 유사 상황 · 불편 경험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526280" y="3429000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6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규칙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526280" y="3630168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475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탐색보다 먼저 실행돼야 후보 점수에 개입할 수 있다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526280" y="4343400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6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산출 지점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526280" y="4544568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475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후보 점수(개인화 가중) · 체류시간 배율 보정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526280" y="5257800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6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실패 시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526280" y="5458968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475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개인화 없이 진행 — 일정 생성 자체는 막지 않는다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8138160" y="1783080"/>
            <a:ext cx="3520440" cy="4343400"/>
          </a:xfrm>
          <a:prstGeom prst="roundRect">
            <a:avLst>
              <a:gd name="adj" fmla="val 779"/>
            </a:avLst>
          </a:prstGeom>
          <a:solidFill>
            <a:srgbClr val="FFFFFF"/>
          </a:solidFill>
          <a:ln w="12700">
            <a:solidFill>
              <a:srgbClr val="0F6E7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37"/>
          <p:cNvSpPr/>
          <p:nvPr/>
        </p:nvSpPr>
        <p:spPr>
          <a:xfrm>
            <a:off x="8138160" y="1783080"/>
            <a:ext cx="3520440" cy="566928"/>
          </a:xfrm>
          <a:prstGeom prst="roundRect">
            <a:avLst>
              <a:gd name="adj" fmla="val 4839"/>
            </a:avLst>
          </a:prstGeom>
          <a:solidFill>
            <a:srgbClr val="E4F0F2"/>
          </a:solidFill>
          <a:ln w="12700">
            <a:solidFill>
              <a:srgbClr val="0F6E7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8"/>
          <p:cNvSpPr/>
          <p:nvPr/>
        </p:nvSpPr>
        <p:spPr>
          <a:xfrm>
            <a:off x="8321040" y="1883664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A3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8796528" y="185623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Culture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8321040" y="210312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후보 탐색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8321040" y="2514600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6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수집 방식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8321040" y="2715768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475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4개 소스 병렬 — 내장 카탈로그 · 행사 API · 시설 API · 웹검색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8321040" y="3429000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6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규칙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8321040" y="3630168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475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좌표가 없으면 후보가 아니다. 이름이 아니라 좌표가 자격이다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8321040" y="4343400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6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검증 3분류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8321040" y="4544568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475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확인됨 / 정보부족(감점 후 표시) / 제외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8321040" y="5257800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6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실패 시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8321040" y="5458968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475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내장 카탈로그가 바닥을 받쳐 결과 0건을 막는다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548640" y="6309360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 Agent 모두 “실패해도 그래프는 멈추지 않는다”를 계약에 포함합니다 — 외부 의존이 가장 많은 구간이기 때문입니다.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6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01 · Agent Responsibility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3749040" y="329184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60" dirty="0">
                <a:solidFill>
                  <a:srgbClr val="0F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편성계 — A4 · A5 · A6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8640" y="585216"/>
            <a:ext cx="1109441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재료를 실행 가능한 하루로 만든다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152144"/>
            <a:ext cx="108200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475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A6 이 편성을 주관하고, 필요할 때 A4 와 A5 를 부릅니다. 세 Agent 모두 LLM 을 쓰지 않습니다.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8549640" y="1261872"/>
            <a:ext cx="118872" cy="118872"/>
          </a:xfrm>
          <a:prstGeom prst="ellipse">
            <a:avLst/>
          </a:prstGeom>
          <a:solidFill>
            <a:srgbClr val="0F6E7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8732520" y="120700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탐색계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9692640" y="1261872"/>
            <a:ext cx="118872" cy="118872"/>
          </a:xfrm>
          <a:prstGeom prst="ellipse">
            <a:avLst/>
          </a:prstGeom>
          <a:solidFill>
            <a:srgbClr val="39527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9875520" y="120700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편성계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0835640" y="1261872"/>
            <a:ext cx="118872" cy="118872"/>
          </a:xfrm>
          <a:prstGeom prst="ellipse">
            <a:avLst/>
          </a:prstGeom>
          <a:solidFill>
            <a:srgbClr val="9C5A1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11018520" y="120700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검증계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48640" y="1783080"/>
            <a:ext cx="3520440" cy="4343400"/>
          </a:xfrm>
          <a:prstGeom prst="roundRect">
            <a:avLst>
              <a:gd name="adj" fmla="val 779"/>
            </a:avLst>
          </a:prstGeom>
          <a:solidFill>
            <a:srgbClr val="FFFFFF"/>
          </a:solidFill>
          <a:ln w="12700">
            <a:solidFill>
              <a:srgbClr val="39527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548640" y="1783080"/>
            <a:ext cx="3520440" cy="566928"/>
          </a:xfrm>
          <a:prstGeom prst="roundRect">
            <a:avLst>
              <a:gd name="adj" fmla="val 4839"/>
            </a:avLst>
          </a:prstGeom>
          <a:solidFill>
            <a:srgbClr val="E8ECF4"/>
          </a:solidFill>
          <a:ln w="12700">
            <a:solidFill>
              <a:srgbClr val="39527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731520" y="1883664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95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A4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207008" y="185623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Food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31520" y="210312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95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빈틈 채우기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" y="2514600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6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선점 규칙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31520" y="2715768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475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식사는 시간대가 정해져 있어 자리를 먼저 잡는다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31520" y="3429000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6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빈틈 판정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31520" y="3630168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475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유휴 40분↑ · 종료 후 60분↑ · 첫 일정 앞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31520" y="4343400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6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반경 규칙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31520" y="4544568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475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남은 시간에 비례 — 가면 못 돌아오는 추천을 막는다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31520" y="5257800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6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실패 시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31520" y="5458968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475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빈틈이 빈 채로 남을 뿐 일정은 성립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343400" y="1783080"/>
            <a:ext cx="3520440" cy="4343400"/>
          </a:xfrm>
          <a:prstGeom prst="roundRect">
            <a:avLst>
              <a:gd name="adj" fmla="val 779"/>
            </a:avLst>
          </a:prstGeom>
          <a:solidFill>
            <a:srgbClr val="FFFFFF"/>
          </a:solidFill>
          <a:ln w="12700">
            <a:solidFill>
              <a:srgbClr val="39527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4343400" y="1783080"/>
            <a:ext cx="3520440" cy="566928"/>
          </a:xfrm>
          <a:prstGeom prst="roundRect">
            <a:avLst>
              <a:gd name="adj" fmla="val 4839"/>
            </a:avLst>
          </a:prstGeom>
          <a:solidFill>
            <a:srgbClr val="E8ECF4"/>
          </a:solidFill>
          <a:ln w="12700">
            <a:solidFill>
              <a:srgbClr val="39527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4526280" y="1883664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95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001768" y="185623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526280" y="210312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95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이동 실측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526280" y="2514600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6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제공자 분리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526280" y="2715768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475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자동차 · 도보/자전거 · 대중교통을 각기 다른 API 로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526280" y="3429000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6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선택 기준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526280" y="3630168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475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시간만 보지 않는다 — 주차·환승·도보선호를 시간으로 환산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526280" y="4343400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6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불변 규칙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526280" y="4544568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475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사용자가 명시한 수단은 절대 바꾸지 않는다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526280" y="5257800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6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실패 시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526280" y="5458968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475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직선거리 추정으로 내려가되 ‘추정’임을 표시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8138160" y="1783080"/>
            <a:ext cx="3520440" cy="4343400"/>
          </a:xfrm>
          <a:prstGeom prst="roundRect">
            <a:avLst>
              <a:gd name="adj" fmla="val 779"/>
            </a:avLst>
          </a:prstGeom>
          <a:solidFill>
            <a:srgbClr val="FFFFFF"/>
          </a:solidFill>
          <a:ln w="12700">
            <a:solidFill>
              <a:srgbClr val="39527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37"/>
          <p:cNvSpPr/>
          <p:nvPr/>
        </p:nvSpPr>
        <p:spPr>
          <a:xfrm>
            <a:off x="8138160" y="1783080"/>
            <a:ext cx="3520440" cy="566928"/>
          </a:xfrm>
          <a:prstGeom prst="roundRect">
            <a:avLst>
              <a:gd name="adj" fmla="val 4839"/>
            </a:avLst>
          </a:prstGeom>
          <a:solidFill>
            <a:srgbClr val="E8ECF4"/>
          </a:solidFill>
          <a:ln w="12700">
            <a:solidFill>
              <a:srgbClr val="39527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8"/>
          <p:cNvSpPr/>
          <p:nvPr/>
        </p:nvSpPr>
        <p:spPr>
          <a:xfrm>
            <a:off x="8321040" y="1883664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95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A6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8796528" y="185623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Planner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8321040" y="210312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95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일정 확정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8321040" y="2514600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6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편성 순서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8321040" y="2715768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475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식사 선점 → 체류시간 → 수단 → 실측 → 시계 재계산 → 도착지 확보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8321040" y="3429000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6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선택 방식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8321040" y="3630168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475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결정론적 탐욕 배치 — 같은 조건이면 같은 결과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8321040" y="4343400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6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잠금 규칙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8321040" y="4544568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475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사용자가 유지를 택한 장소는 재편성에서 밀려나지 않는다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8321040" y="5257800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6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실패 시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8321040" y="5458968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475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해당 없음 — 이 Agent 는 외부 의존이 없다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548640" y="6309360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시각과 거리 계산에 LLM 을 쓰지 않는 이유 — 재현성과 정확성. LLM 은 이동시간과 운영시간을 지어냅니다.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6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01 · Agent Responsibility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3749040" y="329184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60" dirty="0">
                <a:solidFill>
                  <a:srgbClr val="0F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검증계 — A7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8640" y="585216"/>
            <a:ext cx="1109441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가 임의로 바꾸지 않게 강제한다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152144"/>
            <a:ext cx="108200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475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기획안 2.2 의 “AI 의 자동 변경 전 사용자가 선택” — 이 한 줄을 구조로 옮긴 것이 A7 입니다.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8549640" y="1261872"/>
            <a:ext cx="118872" cy="118872"/>
          </a:xfrm>
          <a:prstGeom prst="ellipse">
            <a:avLst/>
          </a:prstGeom>
          <a:solidFill>
            <a:srgbClr val="0F6E7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8732520" y="120700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탐색계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9692640" y="1261872"/>
            <a:ext cx="118872" cy="118872"/>
          </a:xfrm>
          <a:prstGeom prst="ellipse">
            <a:avLst/>
          </a:prstGeom>
          <a:solidFill>
            <a:srgbClr val="39527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9875520" y="120700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편성계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0835640" y="1261872"/>
            <a:ext cx="118872" cy="118872"/>
          </a:xfrm>
          <a:prstGeom prst="ellipse">
            <a:avLst/>
          </a:prstGeom>
          <a:solidFill>
            <a:srgbClr val="9C5A1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11018520" y="120700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검증계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48640" y="1828800"/>
            <a:ext cx="1325880" cy="685800"/>
          </a:xfrm>
          <a:prstGeom prst="roundRect">
            <a:avLst>
              <a:gd name="adj" fmla="val 4000"/>
            </a:avLst>
          </a:prstGeom>
          <a:solidFill>
            <a:srgbClr val="E4F0F2"/>
          </a:solidFill>
          <a:ln w="12700">
            <a:solidFill>
              <a:srgbClr val="0F6E7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548640" y="1901952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검사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215798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결함 탐지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892808" y="2176272"/>
            <a:ext cx="118872" cy="0"/>
          </a:xfrm>
          <a:prstGeom prst="line">
            <a:avLst/>
          </a:prstGeom>
          <a:noFill/>
          <a:ln w="17780">
            <a:solidFill>
              <a:srgbClr val="8892A0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2029968" y="1828800"/>
            <a:ext cx="1325880" cy="685800"/>
          </a:xfrm>
          <a:prstGeom prst="roundRect">
            <a:avLst>
              <a:gd name="adj" fmla="val 4000"/>
            </a:avLst>
          </a:prstGeom>
          <a:solidFill>
            <a:srgbClr val="F5F7F9"/>
          </a:solidFill>
          <a:ln w="12700">
            <a:solidFill>
              <a:srgbClr val="E1E6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2029968" y="1901952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분류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029968" y="215798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자동 vs 사람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374136" y="2176272"/>
            <a:ext cx="118872" cy="0"/>
          </a:xfrm>
          <a:prstGeom prst="line">
            <a:avLst/>
          </a:prstGeom>
          <a:noFill/>
          <a:ln w="17780">
            <a:solidFill>
              <a:srgbClr val="8892A0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3511296" y="1828800"/>
            <a:ext cx="1325880" cy="685800"/>
          </a:xfrm>
          <a:prstGeom prst="roundRect">
            <a:avLst>
              <a:gd name="adj" fmla="val 4000"/>
            </a:avLst>
          </a:prstGeom>
          <a:solidFill>
            <a:srgbClr val="F9F0E3"/>
          </a:solidFill>
          <a:ln w="12700">
            <a:solidFill>
              <a:srgbClr val="9C5A1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3511296" y="1901952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C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카드 생성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511296" y="215798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선택지 제시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855464" y="2176272"/>
            <a:ext cx="118872" cy="0"/>
          </a:xfrm>
          <a:prstGeom prst="line">
            <a:avLst/>
          </a:prstGeom>
          <a:noFill/>
          <a:ln w="17780">
            <a:solidFill>
              <a:srgbClr val="8892A0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4992624" y="1828800"/>
            <a:ext cx="1325880" cy="685800"/>
          </a:xfrm>
          <a:prstGeom prst="roundRect">
            <a:avLst>
              <a:gd name="adj" fmla="val 4000"/>
            </a:avLst>
          </a:prstGeom>
          <a:solidFill>
            <a:srgbClr val="F9F0E3"/>
          </a:solidFill>
          <a:ln w="12700">
            <a:solidFill>
              <a:srgbClr val="9C5A1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4992624" y="1901952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C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정지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992624" y="215798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 결정 대기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48640" y="2697480"/>
            <a:ext cx="5760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검사 항목 — 각 검사는 결함만 보고하고 판단하지 않는다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8640" y="3017520"/>
            <a:ext cx="5760720" cy="347472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E1E6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694944" y="301752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C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운영시간 · 휴관일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697480" y="301752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갈 수 없는 시각에 배치됐는가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48640" y="3401568"/>
            <a:ext cx="5760720" cy="347472"/>
          </a:xfrm>
          <a:prstGeom prst="roundRect">
            <a:avLst>
              <a:gd name="adj" fmla="val 7895"/>
            </a:avLst>
          </a:prstGeom>
          <a:solidFill>
            <a:srgbClr val="F5F7F9"/>
          </a:solidFill>
          <a:ln w="12700">
            <a:solidFill>
              <a:srgbClr val="E1E6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694944" y="340156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C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이동 가능 여부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2697480" y="340156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앞 장소에서 시간 안에 닿는가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3785616"/>
            <a:ext cx="5760720" cy="347472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E1E6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694944" y="3785616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C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시각 중복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2697480" y="3785616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두 일정이 겹치는가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48640" y="4169664"/>
            <a:ext cx="5760720" cy="347472"/>
          </a:xfrm>
          <a:prstGeom prst="roundRect">
            <a:avLst>
              <a:gd name="adj" fmla="val 7895"/>
            </a:avLst>
          </a:prstGeom>
          <a:solidFill>
            <a:srgbClr val="F5F7F9"/>
          </a:solidFill>
          <a:ln w="12700">
            <a:solidFill>
              <a:srgbClr val="E1E6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6"/>
          <p:cNvSpPr/>
          <p:nvPr/>
        </p:nvSpPr>
        <p:spPr>
          <a:xfrm>
            <a:off x="694944" y="416966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C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악천후 야외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2697480" y="4169664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 예보 시간대의 야외 일정인가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548640" y="4553712"/>
            <a:ext cx="5760720" cy="347472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E1E6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/>
          <p:nvPr/>
        </p:nvSpPr>
        <p:spPr>
          <a:xfrm>
            <a:off x="694944" y="455371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C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재방문 변경점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2697480" y="455371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지난 방문 이후 정보가 달라졌는가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548640" y="4937760"/>
            <a:ext cx="5760720" cy="347472"/>
          </a:xfrm>
          <a:prstGeom prst="roundRect">
            <a:avLst>
              <a:gd name="adj" fmla="val 7895"/>
            </a:avLst>
          </a:prstGeom>
          <a:solidFill>
            <a:srgbClr val="F5F7F9"/>
          </a:solidFill>
          <a:ln w="12700">
            <a:solidFill>
              <a:srgbClr val="E1E6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2"/>
          <p:cNvSpPr/>
          <p:nvPr/>
        </p:nvSpPr>
        <p:spPr>
          <a:xfrm>
            <a:off x="694944" y="493776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C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과거 불편 재발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2697480" y="493776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불편을 기록한 장소가 다시 들어왔는가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6675120" y="1828800"/>
            <a:ext cx="4965192" cy="1234440"/>
          </a:xfrm>
          <a:prstGeom prst="roundRect">
            <a:avLst>
              <a:gd name="adj" fmla="val 2222"/>
            </a:avLst>
          </a:prstGeom>
          <a:solidFill>
            <a:srgbClr val="F9F0E3"/>
          </a:solidFill>
          <a:ln w="12700">
            <a:solidFill>
              <a:srgbClr val="9C5A1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Text 45"/>
          <p:cNvSpPr/>
          <p:nvPr/>
        </p:nvSpPr>
        <p:spPr>
          <a:xfrm>
            <a:off x="6894576" y="193852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9C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사람에게 올리는 조건 — AND</a:t>
            </a:r>
            <a:endParaRPr lang="en-US" sz="1250" dirty="0"/>
          </a:p>
        </p:txBody>
      </p:sp>
      <p:sp>
        <p:nvSpPr>
          <p:cNvPr id="48" name="Text 46"/>
          <p:cNvSpPr/>
          <p:nvPr/>
        </p:nvSpPr>
        <p:spPr>
          <a:xfrm>
            <a:off x="6894576" y="2212848"/>
            <a:ext cx="4572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475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자동으로 고칠 수 없다  그리고  심각도가 임계 이상</a:t>
            </a:r>
            <a:endParaRPr lang="en-US" sz="1100" dirty="0"/>
          </a:p>
          <a:p>
            <a:pPr marL="0" indent="0">
              <a:lnSpc>
                <a:spcPts val="1600"/>
              </a:lnSpc>
              <a:buNone/>
            </a:pPr>
            <a:endParaRPr lang="en-US" sz="11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475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로 읽으면 자동 처리 가능한 사소한 결함까지 올라와, 정작 중요한 경고가 카드 더미에 묻힙니다.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6675120" y="3200400"/>
            <a:ext cx="4965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확인 카드의 데이터 계약 — 5요소 고정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6729984" y="3630168"/>
            <a:ext cx="128016" cy="128016"/>
          </a:xfrm>
          <a:prstGeom prst="ellipse">
            <a:avLst/>
          </a:prstGeom>
          <a:solidFill>
            <a:srgbClr val="8892A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1" name="Text 49"/>
          <p:cNvSpPr/>
          <p:nvPr/>
        </p:nvSpPr>
        <p:spPr>
          <a:xfrm>
            <a:off x="6986016" y="352044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발견된 문제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6729984" y="4014216"/>
            <a:ext cx="128016" cy="128016"/>
          </a:xfrm>
          <a:prstGeom prst="ellipse">
            <a:avLst/>
          </a:prstGeom>
          <a:solidFill>
            <a:srgbClr val="8892A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3" name="Text 51"/>
          <p:cNvSpPr/>
          <p:nvPr/>
        </p:nvSpPr>
        <p:spPr>
          <a:xfrm>
            <a:off x="6986016" y="3904488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관련 근거 (과거 기록 · 공식정보)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6729984" y="4398264"/>
            <a:ext cx="128016" cy="128016"/>
          </a:xfrm>
          <a:prstGeom prst="ellipse">
            <a:avLst/>
          </a:prstGeom>
          <a:solidFill>
            <a:srgbClr val="8892A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5" name="Text 53"/>
          <p:cNvSpPr/>
          <p:nvPr/>
        </p:nvSpPr>
        <p:spPr>
          <a:xfrm>
            <a:off x="6986016" y="4288536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일정에 미치는 영향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6729984" y="4782312"/>
            <a:ext cx="128016" cy="128016"/>
          </a:xfrm>
          <a:prstGeom prst="ellipse">
            <a:avLst/>
          </a:prstGeom>
          <a:solidFill>
            <a:srgbClr val="8892A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7" name="Text 55"/>
          <p:cNvSpPr/>
          <p:nvPr/>
        </p:nvSpPr>
        <p:spPr>
          <a:xfrm>
            <a:off x="6986016" y="4672584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변경 이유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6729984" y="5166360"/>
            <a:ext cx="128016" cy="128016"/>
          </a:xfrm>
          <a:prstGeom prst="ellipse">
            <a:avLst/>
          </a:prstGeom>
          <a:solidFill>
            <a:srgbClr val="9C5A1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9" name="Text 57"/>
          <p:cNvSpPr/>
          <p:nvPr/>
        </p:nvSpPr>
        <p:spPr>
          <a:xfrm>
            <a:off x="6986016" y="5056632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C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선택지 — 첫 항목은 항상 “그대로 진행”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6675120" y="5440680"/>
            <a:ext cx="4965192" cy="658368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9C5A1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1" name="Text 59"/>
          <p:cNvSpPr/>
          <p:nvPr/>
        </p:nvSpPr>
        <p:spPr>
          <a:xfrm>
            <a:off x="6894576" y="5440680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C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첫 선택지가 “변경”이면 사용자는 사실상 자동 변경을 승인하게 됩니다 — 기획안의 차별점이 형식만 남습니다.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6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01 · Agent Responsibility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3749040" y="329184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60" dirty="0">
                <a:solidFill>
                  <a:srgbClr val="0F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Boundary Rules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8640" y="585216"/>
            <a:ext cx="1109441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각 Agent 가 하지 않는 일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152144"/>
            <a:ext cx="108200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475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책임을 정의하는 것만큼 “하지 않는 일”을 못 박는 것이 중요합니다. 경계가 새면 같은 로직이 두 곳에 생깁니다.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48640" y="187452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2011680" y="187452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하지 않는 일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486400" y="1874520"/>
            <a:ext cx="6153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새면 생기는 문제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48640" y="2212848"/>
            <a:ext cx="11094415" cy="512064"/>
          </a:xfrm>
          <a:prstGeom prst="rect">
            <a:avLst/>
          </a:prstGeom>
          <a:solidFill>
            <a:srgbClr val="F5F7F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548640" y="2276856"/>
            <a:ext cx="1298448" cy="384048"/>
          </a:xfrm>
          <a:prstGeom prst="roundRect">
            <a:avLst>
              <a:gd name="adj" fmla="val 7143"/>
            </a:avLst>
          </a:prstGeom>
          <a:solidFill>
            <a:srgbClr val="E4F0F2"/>
          </a:solidFill>
          <a:ln w="12700">
            <a:solidFill>
              <a:srgbClr val="0F6E7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621792" y="2276856"/>
            <a:ext cx="310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F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932688" y="2276856"/>
            <a:ext cx="841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011680" y="2212848"/>
            <a:ext cx="3383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장소를 찾지 않는다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0" y="2212848"/>
            <a:ext cx="6153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탐색이 라우터로 새면 요청 이해가 느려지고, 좌표 확정 시점이 흔들린다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2825496"/>
            <a:ext cx="1298448" cy="384048"/>
          </a:xfrm>
          <a:prstGeom prst="roundRect">
            <a:avLst>
              <a:gd name="adj" fmla="val 7143"/>
            </a:avLst>
          </a:prstGeom>
          <a:solidFill>
            <a:srgbClr val="E4F0F2"/>
          </a:solidFill>
          <a:ln w="12700">
            <a:solidFill>
              <a:srgbClr val="0F6E7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621792" y="2825496"/>
            <a:ext cx="310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F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932688" y="2825496"/>
            <a:ext cx="841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Preference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011680" y="2761488"/>
            <a:ext cx="3383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경고 카드를 직접 만들지 않는다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0" y="2761488"/>
            <a:ext cx="6153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카드가 두 곳에서 만들어지면 같은 사안이 두 장으로 올라온다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3310128"/>
            <a:ext cx="11094415" cy="512064"/>
          </a:xfrm>
          <a:prstGeom prst="rect">
            <a:avLst/>
          </a:prstGeom>
          <a:solidFill>
            <a:srgbClr val="F5F7F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548640" y="3374136"/>
            <a:ext cx="1298448" cy="384048"/>
          </a:xfrm>
          <a:prstGeom prst="roundRect">
            <a:avLst>
              <a:gd name="adj" fmla="val 7143"/>
            </a:avLst>
          </a:prstGeom>
          <a:solidFill>
            <a:srgbClr val="E4F0F2"/>
          </a:solidFill>
          <a:ln w="12700">
            <a:solidFill>
              <a:srgbClr val="0F6E7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621792" y="3374136"/>
            <a:ext cx="310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F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A3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932688" y="3374136"/>
            <a:ext cx="841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2011680" y="3310128"/>
            <a:ext cx="3383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일정에 배치하지 않는다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486400" y="3310128"/>
            <a:ext cx="6153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후보 선정과 순서 결정이 섞이면 재편성 때 후보를 다시 뽑아야 한다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48640" y="3922776"/>
            <a:ext cx="1298448" cy="384048"/>
          </a:xfrm>
          <a:prstGeom prst="roundRect">
            <a:avLst>
              <a:gd name="adj" fmla="val 7143"/>
            </a:avLst>
          </a:prstGeom>
          <a:solidFill>
            <a:srgbClr val="E8ECF4"/>
          </a:solidFill>
          <a:ln w="12700">
            <a:solidFill>
              <a:srgbClr val="39527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621792" y="3922776"/>
            <a:ext cx="310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95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A4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932688" y="3922776"/>
            <a:ext cx="841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2011680" y="3858768"/>
            <a:ext cx="3383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전체 순서를 바꾸지 않는다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486400" y="3858768"/>
            <a:ext cx="6153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빈틈 채우기가 순서를 흔들면 확정된 시각이 무의미해진다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48640" y="4407408"/>
            <a:ext cx="11094415" cy="512064"/>
          </a:xfrm>
          <a:prstGeom prst="rect">
            <a:avLst/>
          </a:prstGeom>
          <a:solidFill>
            <a:srgbClr val="F5F7F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30"/>
          <p:cNvSpPr/>
          <p:nvPr/>
        </p:nvSpPr>
        <p:spPr>
          <a:xfrm>
            <a:off x="548640" y="4471416"/>
            <a:ext cx="1298448" cy="384048"/>
          </a:xfrm>
          <a:prstGeom prst="roundRect">
            <a:avLst>
              <a:gd name="adj" fmla="val 7143"/>
            </a:avLst>
          </a:prstGeom>
          <a:solidFill>
            <a:srgbClr val="E8ECF4"/>
          </a:solidFill>
          <a:ln w="12700">
            <a:solidFill>
              <a:srgbClr val="39527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621792" y="4471416"/>
            <a:ext cx="310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95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A5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932688" y="4471416"/>
            <a:ext cx="841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2011680" y="4407408"/>
            <a:ext cx="3383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장소를 고르지 않는다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486400" y="4407408"/>
            <a:ext cx="6153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이동시간이 짧다는 이유로 장소가 바뀌면 취향 점수가 무력화된다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48640" y="5020056"/>
            <a:ext cx="1298448" cy="384048"/>
          </a:xfrm>
          <a:prstGeom prst="roundRect">
            <a:avLst>
              <a:gd name="adj" fmla="val 7143"/>
            </a:avLst>
          </a:prstGeom>
          <a:solidFill>
            <a:srgbClr val="E8ECF4"/>
          </a:solidFill>
          <a:ln w="12700">
            <a:solidFill>
              <a:srgbClr val="39527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6"/>
          <p:cNvSpPr/>
          <p:nvPr/>
        </p:nvSpPr>
        <p:spPr>
          <a:xfrm>
            <a:off x="621792" y="5020056"/>
            <a:ext cx="310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95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A6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932688" y="5020056"/>
            <a:ext cx="841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2011680" y="4956048"/>
            <a:ext cx="3383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외부 API 를 직접 부르지 않는다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486400" y="4956048"/>
            <a:ext cx="6153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편성 로직에 네트워크 지연이 섞여 재현성이 깨진다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548640" y="5504688"/>
            <a:ext cx="11094415" cy="512064"/>
          </a:xfrm>
          <a:prstGeom prst="rect">
            <a:avLst/>
          </a:prstGeom>
          <a:solidFill>
            <a:srgbClr val="F5F7F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" name="Shape 41"/>
          <p:cNvSpPr/>
          <p:nvPr/>
        </p:nvSpPr>
        <p:spPr>
          <a:xfrm>
            <a:off x="548640" y="5568696"/>
            <a:ext cx="1298448" cy="384048"/>
          </a:xfrm>
          <a:prstGeom prst="roundRect">
            <a:avLst>
              <a:gd name="adj" fmla="val 7143"/>
            </a:avLst>
          </a:prstGeom>
          <a:solidFill>
            <a:srgbClr val="F9F0E3"/>
          </a:solidFill>
          <a:ln w="12700">
            <a:solidFill>
              <a:srgbClr val="9C5A1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2"/>
          <p:cNvSpPr/>
          <p:nvPr/>
        </p:nvSpPr>
        <p:spPr>
          <a:xfrm>
            <a:off x="621792" y="5568696"/>
            <a:ext cx="310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C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A7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932688" y="5568696"/>
            <a:ext cx="841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Validator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2011680" y="5504688"/>
            <a:ext cx="3383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일정을 고치지 않는다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5486400" y="5504688"/>
            <a:ext cx="6153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3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가 임의로 바꾸는 순간 이 서비스의 차별점이 사라진다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548640" y="6309360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A7 의 경계가 가장 중요합니다 — 검증 Agent 가 스스로 고치기 시작하면 “AI 가 묻는다”는 약속이 무너집니다.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6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02 · Agent Workflow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3749040" y="329184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60" dirty="0">
                <a:solidFill>
                  <a:srgbClr val="0F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Topology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8640" y="585216"/>
            <a:ext cx="1109441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실행 흐름 전체도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152144"/>
            <a:ext cx="108200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475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조건부 분기가 “필요한 Agent 만 실행”을, 역방향 간선이 “사용자 선택 반영 후 재편성”을 만듭니다.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8549640" y="1261872"/>
            <a:ext cx="118872" cy="118872"/>
          </a:xfrm>
          <a:prstGeom prst="ellipse">
            <a:avLst/>
          </a:prstGeom>
          <a:solidFill>
            <a:srgbClr val="0F6E7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8732520" y="120700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탐색계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9692640" y="1261872"/>
            <a:ext cx="118872" cy="118872"/>
          </a:xfrm>
          <a:prstGeom prst="ellipse">
            <a:avLst/>
          </a:prstGeom>
          <a:solidFill>
            <a:srgbClr val="39527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9875520" y="120700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편성계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0835640" y="1261872"/>
            <a:ext cx="118872" cy="118872"/>
          </a:xfrm>
          <a:prstGeom prst="ellipse">
            <a:avLst/>
          </a:prstGeom>
          <a:solidFill>
            <a:srgbClr val="9C5A1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11018520" y="120700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검증계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626864" y="1783080"/>
            <a:ext cx="2926080" cy="566928"/>
          </a:xfrm>
          <a:prstGeom prst="roundRect">
            <a:avLst>
              <a:gd name="adj" fmla="val 4839"/>
            </a:avLst>
          </a:prstGeom>
          <a:solidFill>
            <a:srgbClr val="E4F0F2"/>
          </a:solidFill>
          <a:ln w="12700">
            <a:solidFill>
              <a:srgbClr val="0F6E7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4626864" y="18288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A1 Router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626864" y="208483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발화 → 조건 · 실행계획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089904" y="2350008"/>
            <a:ext cx="0" cy="201168"/>
          </a:xfrm>
          <a:prstGeom prst="line">
            <a:avLst/>
          </a:prstGeom>
          <a:noFill/>
          <a:ln w="17780">
            <a:solidFill>
              <a:srgbClr val="0F6E7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2157984" y="2551176"/>
            <a:ext cx="7863840" cy="0"/>
          </a:xfrm>
          <a:prstGeom prst="line">
            <a:avLst/>
          </a:prstGeom>
          <a:noFill/>
          <a:ln w="17780">
            <a:solidFill>
              <a:srgbClr val="0F6E7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877824" y="2715768"/>
            <a:ext cx="2651760" cy="566928"/>
          </a:xfrm>
          <a:prstGeom prst="roundRect">
            <a:avLst>
              <a:gd name="adj" fmla="val 4839"/>
            </a:avLst>
          </a:prstGeom>
          <a:solidFill>
            <a:srgbClr val="E4F0F2"/>
          </a:solidFill>
          <a:ln w="12700">
            <a:solidFill>
              <a:srgbClr val="0F6E7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877824" y="276148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A2 Preference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77824" y="3017520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취향 · 과거기록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203704" y="2551176"/>
            <a:ext cx="0" cy="164592"/>
          </a:xfrm>
          <a:prstGeom prst="line">
            <a:avLst/>
          </a:prstGeom>
          <a:noFill/>
          <a:ln w="17780">
            <a:solidFill>
              <a:srgbClr val="0F6E7E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4764024" y="2715768"/>
            <a:ext cx="2651760" cy="566928"/>
          </a:xfrm>
          <a:prstGeom prst="roundRect">
            <a:avLst>
              <a:gd name="adj" fmla="val 4839"/>
            </a:avLst>
          </a:prstGeom>
          <a:solidFill>
            <a:srgbClr val="E4F0F2"/>
          </a:solidFill>
          <a:ln w="12700">
            <a:solidFill>
              <a:srgbClr val="0F6E7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4764024" y="276148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A3 Culture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764024" y="3017520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후보 탐색 · 검증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089904" y="2551176"/>
            <a:ext cx="0" cy="164592"/>
          </a:xfrm>
          <a:prstGeom prst="line">
            <a:avLst/>
          </a:prstGeom>
          <a:noFill/>
          <a:ln w="17780">
            <a:solidFill>
              <a:srgbClr val="0F6E7E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8650224" y="2715768"/>
            <a:ext cx="2651760" cy="566928"/>
          </a:xfrm>
          <a:prstGeom prst="roundRect">
            <a:avLst>
              <a:gd name="adj" fmla="val 4839"/>
            </a:avLst>
          </a:prstGeom>
          <a:solidFill>
            <a:srgbClr val="F5F7F9"/>
          </a:solidFill>
          <a:ln w="12700">
            <a:solidFill>
              <a:srgbClr val="E1E6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8650224" y="276148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기존 일정 로드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650224" y="3017520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수정 요청일 때만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9976104" y="2551176"/>
            <a:ext cx="0" cy="164592"/>
          </a:xfrm>
          <a:prstGeom prst="line">
            <a:avLst/>
          </a:prstGeom>
          <a:noFill/>
          <a:ln w="17780">
            <a:solidFill>
              <a:srgbClr val="8892A0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7370064" y="2286000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0F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필요한 Agent 만 실행 — 동시 실행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203704" y="3282696"/>
            <a:ext cx="0" cy="182880"/>
          </a:xfrm>
          <a:prstGeom prst="line">
            <a:avLst/>
          </a:prstGeom>
          <a:noFill/>
          <a:ln w="17780">
            <a:solidFill>
              <a:srgbClr val="0F6E7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>
            <a:off x="6089904" y="3282696"/>
            <a:ext cx="0" cy="182880"/>
          </a:xfrm>
          <a:prstGeom prst="line">
            <a:avLst/>
          </a:prstGeom>
          <a:noFill/>
          <a:ln w="17780">
            <a:solidFill>
              <a:srgbClr val="0F6E7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30"/>
          <p:cNvSpPr/>
          <p:nvPr/>
        </p:nvSpPr>
        <p:spPr>
          <a:xfrm>
            <a:off x="9976104" y="3282696"/>
            <a:ext cx="0" cy="182880"/>
          </a:xfrm>
          <a:prstGeom prst="line">
            <a:avLst/>
          </a:prstGeom>
          <a:noFill/>
          <a:ln w="17780">
            <a:solidFill>
              <a:srgbClr val="8892A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1"/>
          <p:cNvSpPr/>
          <p:nvPr/>
        </p:nvSpPr>
        <p:spPr>
          <a:xfrm>
            <a:off x="2157984" y="3465576"/>
            <a:ext cx="7863840" cy="0"/>
          </a:xfrm>
          <a:prstGeom prst="line">
            <a:avLst/>
          </a:prstGeom>
          <a:noFill/>
          <a:ln w="17780">
            <a:solidFill>
              <a:srgbClr val="8892A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2"/>
          <p:cNvSpPr/>
          <p:nvPr/>
        </p:nvSpPr>
        <p:spPr>
          <a:xfrm>
            <a:off x="6089904" y="3465576"/>
            <a:ext cx="0" cy="182880"/>
          </a:xfrm>
          <a:prstGeom prst="line">
            <a:avLst/>
          </a:prstGeom>
          <a:noFill/>
          <a:ln w="17780">
            <a:solidFill>
              <a:srgbClr val="8892A0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3"/>
          <p:cNvSpPr/>
          <p:nvPr/>
        </p:nvSpPr>
        <p:spPr>
          <a:xfrm>
            <a:off x="4352544" y="3648456"/>
            <a:ext cx="3474720" cy="365760"/>
          </a:xfrm>
          <a:prstGeom prst="roundRect">
            <a:avLst>
              <a:gd name="adj" fmla="val 7500"/>
            </a:avLst>
          </a:prstGeom>
          <a:solidFill>
            <a:srgbClr val="F5F7F9"/>
          </a:solidFill>
          <a:ln w="12700">
            <a:solidFill>
              <a:srgbClr val="E1E6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/>
          <p:nvPr/>
        </p:nvSpPr>
        <p:spPr>
          <a:xfrm>
            <a:off x="4352544" y="3648456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재료 합류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6089904" y="4014216"/>
            <a:ext cx="0" cy="201168"/>
          </a:xfrm>
          <a:prstGeom prst="line">
            <a:avLst/>
          </a:prstGeom>
          <a:noFill/>
          <a:ln w="17780">
            <a:solidFill>
              <a:srgbClr val="8892A0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6"/>
          <p:cNvSpPr/>
          <p:nvPr/>
        </p:nvSpPr>
        <p:spPr>
          <a:xfrm>
            <a:off x="3438144" y="4215384"/>
            <a:ext cx="5303520" cy="566928"/>
          </a:xfrm>
          <a:prstGeom prst="roundRect">
            <a:avLst>
              <a:gd name="adj" fmla="val 4839"/>
            </a:avLst>
          </a:prstGeom>
          <a:solidFill>
            <a:srgbClr val="E8ECF4"/>
          </a:solidFill>
          <a:ln w="12700">
            <a:solidFill>
              <a:srgbClr val="39527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/>
          <p:cNvSpPr/>
          <p:nvPr/>
        </p:nvSpPr>
        <p:spPr>
          <a:xfrm>
            <a:off x="3438144" y="4261104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A4 Food · A5 Map · A6 Planner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3438144" y="4517136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하루를 만든다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089904" y="4782312"/>
            <a:ext cx="0" cy="182880"/>
          </a:xfrm>
          <a:prstGeom prst="line">
            <a:avLst/>
          </a:prstGeom>
          <a:noFill/>
          <a:ln w="17780">
            <a:solidFill>
              <a:srgbClr val="39527E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40"/>
          <p:cNvSpPr/>
          <p:nvPr/>
        </p:nvSpPr>
        <p:spPr>
          <a:xfrm>
            <a:off x="4261104" y="4965192"/>
            <a:ext cx="3657600" cy="475488"/>
          </a:xfrm>
          <a:prstGeom prst="roundRect">
            <a:avLst>
              <a:gd name="adj" fmla="val 5769"/>
            </a:avLst>
          </a:prstGeom>
          <a:solidFill>
            <a:srgbClr val="F9F0E3"/>
          </a:solidFill>
          <a:ln w="12700">
            <a:solidFill>
              <a:srgbClr val="9C5A1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Text 41"/>
          <p:cNvSpPr/>
          <p:nvPr/>
        </p:nvSpPr>
        <p:spPr>
          <a:xfrm>
            <a:off x="4261104" y="50109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A7 Validator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4261104" y="526694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결함 탐지 → 분류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6089904" y="5440680"/>
            <a:ext cx="0" cy="182880"/>
          </a:xfrm>
          <a:prstGeom prst="line">
            <a:avLst/>
          </a:prstGeom>
          <a:noFill/>
          <a:ln w="17780">
            <a:solidFill>
              <a:srgbClr val="9C5A1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Shape 44"/>
          <p:cNvSpPr/>
          <p:nvPr/>
        </p:nvSpPr>
        <p:spPr>
          <a:xfrm>
            <a:off x="2788920" y="5623560"/>
            <a:ext cx="6734556" cy="0"/>
          </a:xfrm>
          <a:prstGeom prst="line">
            <a:avLst/>
          </a:prstGeom>
          <a:noFill/>
          <a:ln w="17780">
            <a:solidFill>
              <a:srgbClr val="8892A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Shape 45"/>
          <p:cNvSpPr/>
          <p:nvPr/>
        </p:nvSpPr>
        <p:spPr>
          <a:xfrm>
            <a:off x="2788920" y="5623560"/>
            <a:ext cx="0" cy="146304"/>
          </a:xfrm>
          <a:prstGeom prst="line">
            <a:avLst/>
          </a:prstGeom>
          <a:noFill/>
          <a:ln w="17780">
            <a:solidFill>
              <a:srgbClr val="9C5A11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Shape 46"/>
          <p:cNvSpPr/>
          <p:nvPr/>
        </p:nvSpPr>
        <p:spPr>
          <a:xfrm>
            <a:off x="9523476" y="5623560"/>
            <a:ext cx="0" cy="146304"/>
          </a:xfrm>
          <a:prstGeom prst="line">
            <a:avLst/>
          </a:prstGeom>
          <a:noFill/>
          <a:ln w="17780">
            <a:solidFill>
              <a:srgbClr val="8892A0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Text 47"/>
          <p:cNvSpPr/>
          <p:nvPr/>
        </p:nvSpPr>
        <p:spPr>
          <a:xfrm>
            <a:off x="1371600" y="5358384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확인 필요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7955280" y="5358384"/>
            <a:ext cx="3136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이상 없음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1371600" y="5769864"/>
            <a:ext cx="2834640" cy="384048"/>
          </a:xfrm>
          <a:prstGeom prst="roundRect">
            <a:avLst>
              <a:gd name="adj" fmla="val 7143"/>
            </a:avLst>
          </a:prstGeom>
          <a:solidFill>
            <a:srgbClr val="F9F0E3"/>
          </a:solidFill>
          <a:ln w="12700">
            <a:solidFill>
              <a:srgbClr val="9C5A1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Text 50"/>
          <p:cNvSpPr/>
          <p:nvPr/>
        </p:nvSpPr>
        <p:spPr>
          <a:xfrm>
            <a:off x="1371600" y="5769864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정지 · 사용자 확인</a:t>
            </a:r>
            <a:endParaRPr lang="en-US" sz="1300" dirty="0"/>
          </a:p>
        </p:txBody>
      </p:sp>
      <p:sp>
        <p:nvSpPr>
          <p:cNvPr id="53" name="Shape 51"/>
          <p:cNvSpPr/>
          <p:nvPr/>
        </p:nvSpPr>
        <p:spPr>
          <a:xfrm>
            <a:off x="7955280" y="5769864"/>
            <a:ext cx="3136392" cy="384048"/>
          </a:xfrm>
          <a:prstGeom prst="roundRect">
            <a:avLst>
              <a:gd name="adj" fmla="val 7143"/>
            </a:avLst>
          </a:prstGeom>
          <a:solidFill>
            <a:srgbClr val="F5F7F9"/>
          </a:solidFill>
          <a:ln w="12700">
            <a:solidFill>
              <a:srgbClr val="E1E6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Text 52"/>
          <p:cNvSpPr/>
          <p:nvPr/>
        </p:nvSpPr>
        <p:spPr>
          <a:xfrm>
            <a:off x="7955280" y="5769864"/>
            <a:ext cx="3136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확정 → 기록 → 응답</a:t>
            </a:r>
            <a:endParaRPr lang="en-US" sz="1300" dirty="0"/>
          </a:p>
        </p:txBody>
      </p:sp>
      <p:sp>
        <p:nvSpPr>
          <p:cNvPr id="55" name="Shape 53"/>
          <p:cNvSpPr/>
          <p:nvPr/>
        </p:nvSpPr>
        <p:spPr>
          <a:xfrm>
            <a:off x="713232" y="5961888"/>
            <a:ext cx="658368" cy="0"/>
          </a:xfrm>
          <a:prstGeom prst="line">
            <a:avLst/>
          </a:prstGeom>
          <a:noFill/>
          <a:ln w="17780">
            <a:solidFill>
              <a:srgbClr val="9C5A1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Shape 54"/>
          <p:cNvSpPr/>
          <p:nvPr/>
        </p:nvSpPr>
        <p:spPr>
          <a:xfrm>
            <a:off x="713232" y="4498848"/>
            <a:ext cx="0" cy="1463040"/>
          </a:xfrm>
          <a:prstGeom prst="line">
            <a:avLst/>
          </a:prstGeom>
          <a:noFill/>
          <a:ln w="17780">
            <a:solidFill>
              <a:srgbClr val="9C5A1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55"/>
          <p:cNvSpPr/>
          <p:nvPr/>
        </p:nvSpPr>
        <p:spPr>
          <a:xfrm>
            <a:off x="713232" y="4498848"/>
            <a:ext cx="2724912" cy="0"/>
          </a:xfrm>
          <a:prstGeom prst="line">
            <a:avLst/>
          </a:prstGeom>
          <a:noFill/>
          <a:ln w="17780">
            <a:solidFill>
              <a:srgbClr val="9C5A11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8" name="Text 56"/>
          <p:cNvSpPr/>
          <p:nvPr/>
        </p:nvSpPr>
        <p:spPr>
          <a:xfrm>
            <a:off x="786384" y="459028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선택 반영 → 재편성 (횟수 제한)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6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02 · Agent Workflow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3749040" y="329184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60" dirty="0">
                <a:solidFill>
                  <a:srgbClr val="0F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Paths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8640" y="585216"/>
            <a:ext cx="1109441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요청 유형에 따라 깨우는 Agent 가 다르다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152144"/>
            <a:ext cx="108200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475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모든 요청에 전체를 돌리면 단순한 질문도 일정 생성과 같은 비용을 치릅니다. A1 이 실행 계획을 만들고 그대로만 켭니다.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8549640" y="1261872"/>
            <a:ext cx="118872" cy="118872"/>
          </a:xfrm>
          <a:prstGeom prst="ellipse">
            <a:avLst/>
          </a:prstGeom>
          <a:solidFill>
            <a:srgbClr val="0F6E7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8732520" y="120700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탐색계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9692640" y="1261872"/>
            <a:ext cx="118872" cy="118872"/>
          </a:xfrm>
          <a:prstGeom prst="ellipse">
            <a:avLst/>
          </a:prstGeom>
          <a:solidFill>
            <a:srgbClr val="39527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9875520" y="120700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편성계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0835640" y="1261872"/>
            <a:ext cx="118872" cy="118872"/>
          </a:xfrm>
          <a:prstGeom prst="ellipse">
            <a:avLst/>
          </a:prstGeom>
          <a:solidFill>
            <a:srgbClr val="9C5A1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11018520" y="120700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검증계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48640" y="182880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요청 유형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926080" y="182880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 발화 예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217920" y="1828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7315200" y="1828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A3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8595360" y="1828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A4·A5·A6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0332720" y="1828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A7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48640" y="2157984"/>
            <a:ext cx="11094415" cy="420624"/>
          </a:xfrm>
          <a:prstGeom prst="rect">
            <a:avLst/>
          </a:prstGeom>
          <a:solidFill>
            <a:srgbClr val="F5F7F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621792" y="2157984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과거 기록 질의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2926080" y="2157984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“작년에 갔던 미술관 어디였지”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601968" y="2295144"/>
            <a:ext cx="146304" cy="146304"/>
          </a:xfrm>
          <a:prstGeom prst="ellipse">
            <a:avLst/>
          </a:prstGeom>
          <a:solidFill>
            <a:srgbClr val="0F6E7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7315200" y="2157984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1E6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595360" y="2157984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1E6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332720" y="2157984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1E6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21792" y="2615184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장소 추천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2926080" y="2615184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“성수동에 뭐 볼 만한 거 있어?”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601968" y="2752344"/>
            <a:ext cx="146304" cy="146304"/>
          </a:xfrm>
          <a:prstGeom prst="ellipse">
            <a:avLst/>
          </a:prstGeom>
          <a:solidFill>
            <a:srgbClr val="0F6E7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7699248" y="2752344"/>
            <a:ext cx="146304" cy="146304"/>
          </a:xfrm>
          <a:prstGeom prst="ellipse">
            <a:avLst/>
          </a:prstGeom>
          <a:solidFill>
            <a:srgbClr val="0F6E7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>
            <a:off x="8979408" y="2752344"/>
            <a:ext cx="146304" cy="146304"/>
          </a:xfrm>
          <a:prstGeom prst="ellipse">
            <a:avLst/>
          </a:prstGeom>
          <a:solidFill>
            <a:srgbClr val="39527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10716768" y="2752344"/>
            <a:ext cx="146304" cy="146304"/>
          </a:xfrm>
          <a:prstGeom prst="ellipse">
            <a:avLst/>
          </a:prstGeom>
          <a:solidFill>
            <a:srgbClr val="9C5A1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>
            <a:off x="548640" y="3072384"/>
            <a:ext cx="11094415" cy="420624"/>
          </a:xfrm>
          <a:prstGeom prst="rect">
            <a:avLst/>
          </a:prstGeom>
          <a:solidFill>
            <a:srgbClr val="F5F7F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621792" y="3072384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일정 생성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2926080" y="3072384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“주말 서울 하루 일정 짜줘”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601968" y="3209544"/>
            <a:ext cx="146304" cy="146304"/>
          </a:xfrm>
          <a:prstGeom prst="ellipse">
            <a:avLst/>
          </a:prstGeom>
          <a:solidFill>
            <a:srgbClr val="0F6E7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3"/>
          <p:cNvSpPr/>
          <p:nvPr/>
        </p:nvSpPr>
        <p:spPr>
          <a:xfrm>
            <a:off x="7699248" y="3209544"/>
            <a:ext cx="146304" cy="146304"/>
          </a:xfrm>
          <a:prstGeom prst="ellipse">
            <a:avLst/>
          </a:prstGeom>
          <a:solidFill>
            <a:srgbClr val="0F6E7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4"/>
          <p:cNvSpPr/>
          <p:nvPr/>
        </p:nvSpPr>
        <p:spPr>
          <a:xfrm>
            <a:off x="8979408" y="3209544"/>
            <a:ext cx="146304" cy="146304"/>
          </a:xfrm>
          <a:prstGeom prst="ellipse">
            <a:avLst/>
          </a:prstGeom>
          <a:solidFill>
            <a:srgbClr val="39527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35"/>
          <p:cNvSpPr/>
          <p:nvPr/>
        </p:nvSpPr>
        <p:spPr>
          <a:xfrm>
            <a:off x="10716768" y="3209544"/>
            <a:ext cx="146304" cy="146304"/>
          </a:xfrm>
          <a:prstGeom prst="ellipse">
            <a:avLst/>
          </a:prstGeom>
          <a:solidFill>
            <a:srgbClr val="9C5A1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6"/>
          <p:cNvSpPr/>
          <p:nvPr/>
        </p:nvSpPr>
        <p:spPr>
          <a:xfrm>
            <a:off x="621792" y="3529584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일정 수정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2926080" y="3529584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“두 번째 장소 빼줘”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601968" y="3666744"/>
            <a:ext cx="146304" cy="146304"/>
          </a:xfrm>
          <a:prstGeom prst="ellipse">
            <a:avLst/>
          </a:prstGeom>
          <a:solidFill>
            <a:srgbClr val="0F6E7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/>
          <p:nvPr/>
        </p:nvSpPr>
        <p:spPr>
          <a:xfrm>
            <a:off x="7315200" y="3529584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1E6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8979408" y="3666744"/>
            <a:ext cx="146304" cy="146304"/>
          </a:xfrm>
          <a:prstGeom prst="ellipse">
            <a:avLst/>
          </a:prstGeom>
          <a:solidFill>
            <a:srgbClr val="39527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" name="Shape 41"/>
          <p:cNvSpPr/>
          <p:nvPr/>
        </p:nvSpPr>
        <p:spPr>
          <a:xfrm>
            <a:off x="10716768" y="3666744"/>
            <a:ext cx="146304" cy="146304"/>
          </a:xfrm>
          <a:prstGeom prst="ellipse">
            <a:avLst/>
          </a:prstGeom>
          <a:solidFill>
            <a:srgbClr val="9C5A1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" name="Shape 42"/>
          <p:cNvSpPr/>
          <p:nvPr/>
        </p:nvSpPr>
        <p:spPr>
          <a:xfrm>
            <a:off x="548640" y="3986784"/>
            <a:ext cx="11094415" cy="420624"/>
          </a:xfrm>
          <a:prstGeom prst="rect">
            <a:avLst/>
          </a:prstGeom>
          <a:solidFill>
            <a:srgbClr val="F5F7F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5" name="Text 43"/>
          <p:cNvSpPr/>
          <p:nvPr/>
        </p:nvSpPr>
        <p:spPr>
          <a:xfrm>
            <a:off x="621792" y="3986784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재방문 일정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2926080" y="3986784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“작년에 갔던 데 또 가고 싶어”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6601968" y="4123944"/>
            <a:ext cx="146304" cy="146304"/>
          </a:xfrm>
          <a:prstGeom prst="ellipse">
            <a:avLst/>
          </a:prstGeom>
          <a:solidFill>
            <a:srgbClr val="0F6E7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" name="Shape 46"/>
          <p:cNvSpPr/>
          <p:nvPr/>
        </p:nvSpPr>
        <p:spPr>
          <a:xfrm>
            <a:off x="7699248" y="4123944"/>
            <a:ext cx="146304" cy="146304"/>
          </a:xfrm>
          <a:prstGeom prst="ellipse">
            <a:avLst/>
          </a:prstGeom>
          <a:solidFill>
            <a:srgbClr val="0F6E7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9" name="Shape 47"/>
          <p:cNvSpPr/>
          <p:nvPr/>
        </p:nvSpPr>
        <p:spPr>
          <a:xfrm>
            <a:off x="8979408" y="4123944"/>
            <a:ext cx="146304" cy="146304"/>
          </a:xfrm>
          <a:prstGeom prst="ellipse">
            <a:avLst/>
          </a:prstGeom>
          <a:solidFill>
            <a:srgbClr val="39527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0" name="Shape 48"/>
          <p:cNvSpPr/>
          <p:nvPr/>
        </p:nvSpPr>
        <p:spPr>
          <a:xfrm>
            <a:off x="10716768" y="4123944"/>
            <a:ext cx="146304" cy="146304"/>
          </a:xfrm>
          <a:prstGeom prst="ellipse">
            <a:avLst/>
          </a:prstGeom>
          <a:solidFill>
            <a:srgbClr val="9C5A1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1" name="Text 49"/>
          <p:cNvSpPr/>
          <p:nvPr/>
        </p:nvSpPr>
        <p:spPr>
          <a:xfrm>
            <a:off x="621792" y="4443984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날씨 대응</a:t>
            </a:r>
            <a:endParaRPr lang="en-US" sz="1150" dirty="0"/>
          </a:p>
        </p:txBody>
      </p:sp>
      <p:sp>
        <p:nvSpPr>
          <p:cNvPr id="52" name="Text 50"/>
          <p:cNvSpPr/>
          <p:nvPr/>
        </p:nvSpPr>
        <p:spPr>
          <a:xfrm>
            <a:off x="2926080" y="4443984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“비 온대, 실내로 바꿔줘”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6601968" y="4581144"/>
            <a:ext cx="146304" cy="146304"/>
          </a:xfrm>
          <a:prstGeom prst="ellipse">
            <a:avLst/>
          </a:prstGeom>
          <a:solidFill>
            <a:srgbClr val="0F6E7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4" name="Shape 52"/>
          <p:cNvSpPr/>
          <p:nvPr/>
        </p:nvSpPr>
        <p:spPr>
          <a:xfrm>
            <a:off x="7699248" y="4581144"/>
            <a:ext cx="146304" cy="146304"/>
          </a:xfrm>
          <a:prstGeom prst="ellipse">
            <a:avLst/>
          </a:prstGeom>
          <a:solidFill>
            <a:srgbClr val="0F6E7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5" name="Shape 53"/>
          <p:cNvSpPr/>
          <p:nvPr/>
        </p:nvSpPr>
        <p:spPr>
          <a:xfrm>
            <a:off x="8979408" y="4581144"/>
            <a:ext cx="146304" cy="146304"/>
          </a:xfrm>
          <a:prstGeom prst="ellipse">
            <a:avLst/>
          </a:prstGeom>
          <a:solidFill>
            <a:srgbClr val="39527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6" name="Shape 54"/>
          <p:cNvSpPr/>
          <p:nvPr/>
        </p:nvSpPr>
        <p:spPr>
          <a:xfrm>
            <a:off x="10716768" y="4581144"/>
            <a:ext cx="146304" cy="146304"/>
          </a:xfrm>
          <a:prstGeom prst="ellipse">
            <a:avLst/>
          </a:prstGeom>
          <a:solidFill>
            <a:srgbClr val="9C5A1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55"/>
          <p:cNvSpPr/>
          <p:nvPr/>
        </p:nvSpPr>
        <p:spPr>
          <a:xfrm>
            <a:off x="548640" y="4901184"/>
            <a:ext cx="11094415" cy="420624"/>
          </a:xfrm>
          <a:prstGeom prst="rect">
            <a:avLst/>
          </a:prstGeom>
          <a:solidFill>
            <a:srgbClr val="F5F7F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8" name="Text 56"/>
          <p:cNvSpPr/>
          <p:nvPr/>
        </p:nvSpPr>
        <p:spPr>
          <a:xfrm>
            <a:off x="621792" y="4901184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빈틈 채우기</a:t>
            </a:r>
            <a:endParaRPr lang="en-US" sz="1150" dirty="0"/>
          </a:p>
        </p:txBody>
      </p:sp>
      <p:sp>
        <p:nvSpPr>
          <p:cNvPr id="59" name="Text 57"/>
          <p:cNvSpPr/>
          <p:nvPr/>
        </p:nvSpPr>
        <p:spPr>
          <a:xfrm>
            <a:off x="2926080" y="4901184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“전시 일찍 끝났어, 2시간 남아”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6601968" y="5038344"/>
            <a:ext cx="146304" cy="146304"/>
          </a:xfrm>
          <a:prstGeom prst="ellipse">
            <a:avLst/>
          </a:prstGeom>
          <a:solidFill>
            <a:srgbClr val="0F6E7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1" name="Shape 59"/>
          <p:cNvSpPr/>
          <p:nvPr/>
        </p:nvSpPr>
        <p:spPr>
          <a:xfrm>
            <a:off x="7699248" y="5038344"/>
            <a:ext cx="146304" cy="146304"/>
          </a:xfrm>
          <a:prstGeom prst="ellipse">
            <a:avLst/>
          </a:prstGeom>
          <a:solidFill>
            <a:srgbClr val="0F6E7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2" name="Shape 60"/>
          <p:cNvSpPr/>
          <p:nvPr/>
        </p:nvSpPr>
        <p:spPr>
          <a:xfrm>
            <a:off x="8979408" y="5038344"/>
            <a:ext cx="146304" cy="146304"/>
          </a:xfrm>
          <a:prstGeom prst="ellipse">
            <a:avLst/>
          </a:prstGeom>
          <a:solidFill>
            <a:srgbClr val="39527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3" name="Shape 61"/>
          <p:cNvSpPr/>
          <p:nvPr/>
        </p:nvSpPr>
        <p:spPr>
          <a:xfrm>
            <a:off x="10716768" y="5038344"/>
            <a:ext cx="146304" cy="146304"/>
          </a:xfrm>
          <a:prstGeom prst="ellipse">
            <a:avLst/>
          </a:prstGeom>
          <a:solidFill>
            <a:srgbClr val="9C5A1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4" name="Shape 62"/>
          <p:cNvSpPr/>
          <p:nvPr/>
        </p:nvSpPr>
        <p:spPr>
          <a:xfrm>
            <a:off x="548640" y="5532120"/>
            <a:ext cx="11094415" cy="658368"/>
          </a:xfrm>
          <a:prstGeom prst="roundRect">
            <a:avLst>
              <a:gd name="adj" fmla="val 4167"/>
            </a:avLst>
          </a:prstGeom>
          <a:solidFill>
            <a:srgbClr val="F5F7F9"/>
          </a:solidFill>
          <a:ln w="12700">
            <a:solidFill>
              <a:srgbClr val="E1E6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5" name="Text 63"/>
          <p:cNvSpPr/>
          <p:nvPr/>
        </p:nvSpPr>
        <p:spPr>
          <a:xfrm>
            <a:off x="804672" y="5532120"/>
            <a:ext cx="10582351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설계 판단 — 라우팅은 규칙표로 한다. 7행짜리 표에 LLM 을 넣으면 비용·지연·비결정성이 모두 늘고 잘못된 라우팅의 원인 추적이 어려워집니다. 대신 교체 지점을 함수 하나로 좁혀 둡니다 — Agent 가 늘어 규칙이 감당 안 되는 시점에 그 함수만 바꿉니다.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6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02 · Agent Workflow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3749040" y="329184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60" dirty="0">
                <a:solidFill>
                  <a:srgbClr val="0F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Collaboration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8640" y="585216"/>
            <a:ext cx="1109441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는 서로를 호출하지 않는다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152144"/>
            <a:ext cx="108200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475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직접 호출은 Agent 를 추가할 때마다 관계가 제곱으로 늘어납니다. 공유 상태 채널 하나를 두고 결합을 끊습니다.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029200" y="1810512"/>
            <a:ext cx="2194560" cy="3931920"/>
          </a:xfrm>
          <a:prstGeom prst="roundRect">
            <a:avLst>
              <a:gd name="adj" fmla="val 1250"/>
            </a:avLst>
          </a:prstGeom>
          <a:solidFill>
            <a:srgbClr val="F5F7F9"/>
          </a:solidFill>
          <a:ln w="12700">
            <a:solidFill>
              <a:srgbClr val="1E253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5029200" y="190195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2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공유 State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157216" y="2249424"/>
            <a:ext cx="1938528" cy="32918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1E6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5266944" y="2249424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675120" y="2249424"/>
            <a:ext cx="411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F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157216" y="2633472"/>
            <a:ext cx="1938528" cy="32918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1E6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5266944" y="2633472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taste_profile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675120" y="2633472"/>
            <a:ext cx="411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F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157216" y="3017520"/>
            <a:ext cx="1938528" cy="32918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1E6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5266944" y="3017520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archive_hits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675120" y="3017520"/>
            <a:ext cx="411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F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157216" y="3401568"/>
            <a:ext cx="1938528" cy="32918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1E6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5266944" y="3401568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675120" y="3401568"/>
            <a:ext cx="411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F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A3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5157216" y="3785616"/>
            <a:ext cx="1938528" cy="32918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1E6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5266944" y="3785616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travel_matrix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675120" y="3785616"/>
            <a:ext cx="411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395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A5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5157216" y="4169664"/>
            <a:ext cx="1938528" cy="32918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1E6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5266944" y="4169664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nearby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675120" y="4169664"/>
            <a:ext cx="411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395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A4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157216" y="4553712"/>
            <a:ext cx="1938528" cy="32918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1E6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5266944" y="4553712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itinerary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675120" y="4553712"/>
            <a:ext cx="411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395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A6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5157216" y="4937760"/>
            <a:ext cx="1938528" cy="32918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1E6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5266944" y="4937760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 · advisories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675120" y="4937760"/>
            <a:ext cx="411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9C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A7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5157216" y="5321808"/>
            <a:ext cx="1938528" cy="32918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1E6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5266944" y="5321808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675120" y="5321808"/>
            <a:ext cx="411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전체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548640" y="1810512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쓴다 →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48640" y="2194560"/>
            <a:ext cx="4023360" cy="420624"/>
          </a:xfrm>
          <a:prstGeom prst="roundRect">
            <a:avLst>
              <a:gd name="adj" fmla="val 6522"/>
            </a:avLst>
          </a:prstGeom>
          <a:solidFill>
            <a:srgbClr val="E4F0F2"/>
          </a:solidFill>
          <a:ln w="12700">
            <a:solidFill>
              <a:srgbClr val="0F6E7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/>
          <p:nvPr/>
        </p:nvSpPr>
        <p:spPr>
          <a:xfrm>
            <a:off x="621792" y="2194560"/>
            <a:ext cx="3108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F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932688" y="2194560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617720" y="2404872"/>
            <a:ext cx="384048" cy="0"/>
          </a:xfrm>
          <a:prstGeom prst="line">
            <a:avLst/>
          </a:prstGeom>
          <a:noFill/>
          <a:ln w="17780">
            <a:solidFill>
              <a:srgbClr val="0F6E7E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38"/>
          <p:cNvSpPr/>
          <p:nvPr/>
        </p:nvSpPr>
        <p:spPr>
          <a:xfrm>
            <a:off x="548640" y="2697480"/>
            <a:ext cx="4023360" cy="420624"/>
          </a:xfrm>
          <a:prstGeom prst="roundRect">
            <a:avLst>
              <a:gd name="adj" fmla="val 6522"/>
            </a:avLst>
          </a:prstGeom>
          <a:solidFill>
            <a:srgbClr val="E4F0F2"/>
          </a:solidFill>
          <a:ln w="12700">
            <a:solidFill>
              <a:srgbClr val="0F6E7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/>
          <p:nvPr/>
        </p:nvSpPr>
        <p:spPr>
          <a:xfrm>
            <a:off x="621792" y="2697480"/>
            <a:ext cx="3108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F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932688" y="2697480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Preference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617720" y="2907792"/>
            <a:ext cx="384048" cy="0"/>
          </a:xfrm>
          <a:prstGeom prst="line">
            <a:avLst/>
          </a:prstGeom>
          <a:noFill/>
          <a:ln w="17780">
            <a:solidFill>
              <a:srgbClr val="0F6E7E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Shape 42"/>
          <p:cNvSpPr/>
          <p:nvPr/>
        </p:nvSpPr>
        <p:spPr>
          <a:xfrm>
            <a:off x="548640" y="3200400"/>
            <a:ext cx="4023360" cy="420624"/>
          </a:xfrm>
          <a:prstGeom prst="roundRect">
            <a:avLst>
              <a:gd name="adj" fmla="val 6522"/>
            </a:avLst>
          </a:prstGeom>
          <a:solidFill>
            <a:srgbClr val="E4F0F2"/>
          </a:solidFill>
          <a:ln w="12700">
            <a:solidFill>
              <a:srgbClr val="0F6E7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Text 43"/>
          <p:cNvSpPr/>
          <p:nvPr/>
        </p:nvSpPr>
        <p:spPr>
          <a:xfrm>
            <a:off x="621792" y="3200400"/>
            <a:ext cx="3108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F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A3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932688" y="3200400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Culture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4617720" y="3410712"/>
            <a:ext cx="384048" cy="0"/>
          </a:xfrm>
          <a:prstGeom prst="line">
            <a:avLst/>
          </a:prstGeom>
          <a:noFill/>
          <a:ln w="17780">
            <a:solidFill>
              <a:srgbClr val="0F6E7E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Shape 46"/>
          <p:cNvSpPr/>
          <p:nvPr/>
        </p:nvSpPr>
        <p:spPr>
          <a:xfrm>
            <a:off x="548640" y="3703320"/>
            <a:ext cx="4023360" cy="420624"/>
          </a:xfrm>
          <a:prstGeom prst="roundRect">
            <a:avLst>
              <a:gd name="adj" fmla="val 6522"/>
            </a:avLst>
          </a:prstGeom>
          <a:solidFill>
            <a:srgbClr val="E8ECF4"/>
          </a:solidFill>
          <a:ln w="12700">
            <a:solidFill>
              <a:srgbClr val="39527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Text 47"/>
          <p:cNvSpPr/>
          <p:nvPr/>
        </p:nvSpPr>
        <p:spPr>
          <a:xfrm>
            <a:off x="621792" y="3703320"/>
            <a:ext cx="3108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95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A4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932688" y="3703320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4617720" y="3913632"/>
            <a:ext cx="384048" cy="0"/>
          </a:xfrm>
          <a:prstGeom prst="line">
            <a:avLst/>
          </a:prstGeom>
          <a:noFill/>
          <a:ln w="17780">
            <a:solidFill>
              <a:srgbClr val="39527E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Shape 50"/>
          <p:cNvSpPr/>
          <p:nvPr/>
        </p:nvSpPr>
        <p:spPr>
          <a:xfrm>
            <a:off x="548640" y="4206240"/>
            <a:ext cx="4023360" cy="420624"/>
          </a:xfrm>
          <a:prstGeom prst="roundRect">
            <a:avLst>
              <a:gd name="adj" fmla="val 6522"/>
            </a:avLst>
          </a:prstGeom>
          <a:solidFill>
            <a:srgbClr val="E8ECF4"/>
          </a:solidFill>
          <a:ln w="12700">
            <a:solidFill>
              <a:srgbClr val="39527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Text 51"/>
          <p:cNvSpPr/>
          <p:nvPr/>
        </p:nvSpPr>
        <p:spPr>
          <a:xfrm>
            <a:off x="621792" y="4206240"/>
            <a:ext cx="3108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95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A5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932688" y="4206240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4617720" y="4416552"/>
            <a:ext cx="384048" cy="0"/>
          </a:xfrm>
          <a:prstGeom prst="line">
            <a:avLst/>
          </a:prstGeom>
          <a:noFill/>
          <a:ln w="17780">
            <a:solidFill>
              <a:srgbClr val="39527E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Shape 54"/>
          <p:cNvSpPr/>
          <p:nvPr/>
        </p:nvSpPr>
        <p:spPr>
          <a:xfrm>
            <a:off x="548640" y="4709160"/>
            <a:ext cx="4023360" cy="420624"/>
          </a:xfrm>
          <a:prstGeom prst="roundRect">
            <a:avLst>
              <a:gd name="adj" fmla="val 6522"/>
            </a:avLst>
          </a:prstGeom>
          <a:solidFill>
            <a:srgbClr val="E8ECF4"/>
          </a:solidFill>
          <a:ln w="12700">
            <a:solidFill>
              <a:srgbClr val="39527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Text 55"/>
          <p:cNvSpPr/>
          <p:nvPr/>
        </p:nvSpPr>
        <p:spPr>
          <a:xfrm>
            <a:off x="621792" y="4709160"/>
            <a:ext cx="3108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95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A6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932688" y="4709160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4617720" y="4919472"/>
            <a:ext cx="384048" cy="0"/>
          </a:xfrm>
          <a:prstGeom prst="line">
            <a:avLst/>
          </a:prstGeom>
          <a:noFill/>
          <a:ln w="17780">
            <a:solidFill>
              <a:srgbClr val="39527E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0" name="Shape 58"/>
          <p:cNvSpPr/>
          <p:nvPr/>
        </p:nvSpPr>
        <p:spPr>
          <a:xfrm>
            <a:off x="548640" y="5212080"/>
            <a:ext cx="4023360" cy="420624"/>
          </a:xfrm>
          <a:prstGeom prst="roundRect">
            <a:avLst>
              <a:gd name="adj" fmla="val 6522"/>
            </a:avLst>
          </a:prstGeom>
          <a:solidFill>
            <a:srgbClr val="F9F0E3"/>
          </a:solidFill>
          <a:ln w="12700">
            <a:solidFill>
              <a:srgbClr val="9C5A1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1" name="Text 59"/>
          <p:cNvSpPr/>
          <p:nvPr/>
        </p:nvSpPr>
        <p:spPr>
          <a:xfrm>
            <a:off x="621792" y="5212080"/>
            <a:ext cx="3108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C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A7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932688" y="5212080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Validator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4617720" y="5422392"/>
            <a:ext cx="384048" cy="0"/>
          </a:xfrm>
          <a:prstGeom prst="line">
            <a:avLst/>
          </a:prstGeom>
          <a:noFill/>
          <a:ln w="17780">
            <a:solidFill>
              <a:srgbClr val="9C5A11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4" name="Text 62"/>
          <p:cNvSpPr/>
          <p:nvPr/>
        </p:nvSpPr>
        <p:spPr>
          <a:xfrm>
            <a:off x="8092440" y="1810512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읽는다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8092440" y="2286000"/>
            <a:ext cx="3749040" cy="566928"/>
          </a:xfrm>
          <a:prstGeom prst="roundRect">
            <a:avLst>
              <a:gd name="adj" fmla="val 4839"/>
            </a:avLst>
          </a:prstGeom>
          <a:solidFill>
            <a:srgbClr val="F5F7F9"/>
          </a:solidFill>
          <a:ln w="12700">
            <a:solidFill>
              <a:srgbClr val="0F6E7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6" name="Text 64"/>
          <p:cNvSpPr/>
          <p:nvPr/>
        </p:nvSpPr>
        <p:spPr>
          <a:xfrm>
            <a:off x="8275320" y="23408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 · A3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8275320" y="2560320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조건을 읽고 재료를 모은다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7296912" y="2569464"/>
            <a:ext cx="749808" cy="0"/>
          </a:xfrm>
          <a:prstGeom prst="line">
            <a:avLst/>
          </a:prstGeom>
          <a:noFill/>
          <a:ln w="17780">
            <a:solidFill>
              <a:srgbClr val="8892A0"/>
            </a:solidFill>
            <a:prstDash val="dash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9" name="Shape 67"/>
          <p:cNvSpPr/>
          <p:nvPr/>
        </p:nvSpPr>
        <p:spPr>
          <a:xfrm>
            <a:off x="8092440" y="3200400"/>
            <a:ext cx="3749040" cy="566928"/>
          </a:xfrm>
          <a:prstGeom prst="roundRect">
            <a:avLst>
              <a:gd name="adj" fmla="val 4839"/>
            </a:avLst>
          </a:prstGeom>
          <a:solidFill>
            <a:srgbClr val="F5F7F9"/>
          </a:solidFill>
          <a:ln w="12700">
            <a:solidFill>
              <a:srgbClr val="39527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0" name="Text 68"/>
          <p:cNvSpPr/>
          <p:nvPr/>
        </p:nvSpPr>
        <p:spPr>
          <a:xfrm>
            <a:off x="8275320" y="32552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95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A4 · A5</a:t>
            </a:r>
            <a:endParaRPr lang="en-US" sz="1100" dirty="0"/>
          </a:p>
        </p:txBody>
      </p:sp>
      <p:sp>
        <p:nvSpPr>
          <p:cNvPr id="71" name="Text 69"/>
          <p:cNvSpPr/>
          <p:nvPr/>
        </p:nvSpPr>
        <p:spPr>
          <a:xfrm>
            <a:off x="8275320" y="3474720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편성 중 일정을 읽는다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7296912" y="3483864"/>
            <a:ext cx="749808" cy="0"/>
          </a:xfrm>
          <a:prstGeom prst="line">
            <a:avLst/>
          </a:prstGeom>
          <a:noFill/>
          <a:ln w="17780">
            <a:solidFill>
              <a:srgbClr val="8892A0"/>
            </a:solidFill>
            <a:prstDash val="dash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3" name="Shape 71"/>
          <p:cNvSpPr/>
          <p:nvPr/>
        </p:nvSpPr>
        <p:spPr>
          <a:xfrm>
            <a:off x="8092440" y="4114800"/>
            <a:ext cx="3749040" cy="566928"/>
          </a:xfrm>
          <a:prstGeom prst="roundRect">
            <a:avLst>
              <a:gd name="adj" fmla="val 4839"/>
            </a:avLst>
          </a:prstGeom>
          <a:solidFill>
            <a:srgbClr val="F5F7F9"/>
          </a:solidFill>
          <a:ln w="12700">
            <a:solidFill>
              <a:srgbClr val="39527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4" name="Text 72"/>
          <p:cNvSpPr/>
          <p:nvPr/>
        </p:nvSpPr>
        <p:spPr>
          <a:xfrm>
            <a:off x="8275320" y="4169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95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A6</a:t>
            </a:r>
            <a:endParaRPr lang="en-US" sz="1100" dirty="0"/>
          </a:p>
        </p:txBody>
      </p:sp>
      <p:sp>
        <p:nvSpPr>
          <p:cNvPr id="75" name="Text 73"/>
          <p:cNvSpPr/>
          <p:nvPr/>
        </p:nvSpPr>
        <p:spPr>
          <a:xfrm>
            <a:off x="8275320" y="4389120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재료 전부를 읽는다</a:t>
            </a:r>
            <a:endParaRPr lang="en-US" sz="1000" dirty="0"/>
          </a:p>
        </p:txBody>
      </p:sp>
      <p:sp>
        <p:nvSpPr>
          <p:cNvPr id="76" name="Shape 74"/>
          <p:cNvSpPr/>
          <p:nvPr/>
        </p:nvSpPr>
        <p:spPr>
          <a:xfrm>
            <a:off x="7296912" y="4398264"/>
            <a:ext cx="749808" cy="0"/>
          </a:xfrm>
          <a:prstGeom prst="line">
            <a:avLst/>
          </a:prstGeom>
          <a:noFill/>
          <a:ln w="17780">
            <a:solidFill>
              <a:srgbClr val="8892A0"/>
            </a:solidFill>
            <a:prstDash val="dash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7" name="Shape 75"/>
          <p:cNvSpPr/>
          <p:nvPr/>
        </p:nvSpPr>
        <p:spPr>
          <a:xfrm>
            <a:off x="8092440" y="5029200"/>
            <a:ext cx="3749040" cy="566928"/>
          </a:xfrm>
          <a:prstGeom prst="roundRect">
            <a:avLst>
              <a:gd name="adj" fmla="val 4839"/>
            </a:avLst>
          </a:prstGeom>
          <a:solidFill>
            <a:srgbClr val="F5F7F9"/>
          </a:solidFill>
          <a:ln w="12700">
            <a:solidFill>
              <a:srgbClr val="9C5A1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8" name="Text 76"/>
          <p:cNvSpPr/>
          <p:nvPr/>
        </p:nvSpPr>
        <p:spPr>
          <a:xfrm>
            <a:off x="8275320" y="50840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C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A7</a:t>
            </a:r>
            <a:endParaRPr lang="en-US" sz="1100" dirty="0"/>
          </a:p>
        </p:txBody>
      </p:sp>
      <p:sp>
        <p:nvSpPr>
          <p:cNvPr id="79" name="Text 77"/>
          <p:cNvSpPr/>
          <p:nvPr/>
        </p:nvSpPr>
        <p:spPr>
          <a:xfrm>
            <a:off x="8275320" y="5303520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완성된 일정을 읽는다</a:t>
            </a:r>
            <a:endParaRPr lang="en-US" sz="1000" dirty="0"/>
          </a:p>
        </p:txBody>
      </p:sp>
      <p:sp>
        <p:nvSpPr>
          <p:cNvPr id="80" name="Shape 78"/>
          <p:cNvSpPr/>
          <p:nvPr/>
        </p:nvSpPr>
        <p:spPr>
          <a:xfrm>
            <a:off x="7296912" y="5312664"/>
            <a:ext cx="749808" cy="0"/>
          </a:xfrm>
          <a:prstGeom prst="line">
            <a:avLst/>
          </a:prstGeom>
          <a:noFill/>
          <a:ln w="17780">
            <a:solidFill>
              <a:srgbClr val="8892A0"/>
            </a:solidFill>
            <a:prstDash val="dash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1" name="Shape 79"/>
          <p:cNvSpPr/>
          <p:nvPr/>
        </p:nvSpPr>
        <p:spPr>
          <a:xfrm>
            <a:off x="548640" y="5870448"/>
            <a:ext cx="11094415" cy="457200"/>
          </a:xfrm>
          <a:prstGeom prst="roundRect">
            <a:avLst>
              <a:gd name="adj" fmla="val 6000"/>
            </a:avLst>
          </a:prstGeom>
          <a:solidFill>
            <a:srgbClr val="F5F7F9"/>
          </a:solidFill>
          <a:ln w="12700">
            <a:solidFill>
              <a:srgbClr val="E1E6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2" name="Text 80"/>
          <p:cNvSpPr/>
          <p:nvPr/>
        </p:nvSpPr>
        <p:spPr>
          <a:xfrm>
            <a:off x="804672" y="5870448"/>
            <a:ext cx="1058235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병합 규칙을 채널마다 정한다 — 멱등 병합(근거·기록) · 풍부한 쪽 우선(후보) · 전체 교체(이슈·카드). 검증 결과를 누적하면 이미 해결된 결함의 카드가 영원히 남습니다.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6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02 · Agent Workflow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3749040" y="329184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60" dirty="0">
                <a:solidFill>
                  <a:srgbClr val="0F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1 · 정상 경로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8640" y="585216"/>
            <a:ext cx="1109441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일정 생성 — 요청부터 응답까지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152144"/>
            <a:ext cx="108200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475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가로축은 시간입니다. 세로로 겹친 구간이 병렬 실행입니다.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8549640" y="1261872"/>
            <a:ext cx="118872" cy="118872"/>
          </a:xfrm>
          <a:prstGeom prst="ellipse">
            <a:avLst/>
          </a:prstGeom>
          <a:solidFill>
            <a:srgbClr val="0F6E7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8732520" y="120700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탐색계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9692640" y="1261872"/>
            <a:ext cx="118872" cy="118872"/>
          </a:xfrm>
          <a:prstGeom prst="ellipse">
            <a:avLst/>
          </a:prstGeom>
          <a:solidFill>
            <a:srgbClr val="39527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9875520" y="120700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편성계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0835640" y="1261872"/>
            <a:ext cx="118872" cy="118872"/>
          </a:xfrm>
          <a:prstGeom prst="ellipse">
            <a:avLst/>
          </a:prstGeom>
          <a:solidFill>
            <a:srgbClr val="9C5A1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11018520" y="120700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검증계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48640" y="1874520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011680" y="2084832"/>
            <a:ext cx="9601200" cy="0"/>
          </a:xfrm>
          <a:prstGeom prst="line">
            <a:avLst/>
          </a:prstGeom>
          <a:noFill/>
          <a:ln w="9525">
            <a:solidFill>
              <a:srgbClr val="E1E6EB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548640" y="2386584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앱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011680" y="2596896"/>
            <a:ext cx="9601200" cy="0"/>
          </a:xfrm>
          <a:prstGeom prst="line">
            <a:avLst/>
          </a:prstGeom>
          <a:noFill/>
          <a:ln w="9525">
            <a:solidFill>
              <a:srgbClr val="E1E6EB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548640" y="2898648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011680" y="3108960"/>
            <a:ext cx="9601200" cy="0"/>
          </a:xfrm>
          <a:prstGeom prst="line">
            <a:avLst/>
          </a:prstGeom>
          <a:noFill/>
          <a:ln w="9525">
            <a:solidFill>
              <a:srgbClr val="E1E6EB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548640" y="3410712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011680" y="3621024"/>
            <a:ext cx="9601200" cy="0"/>
          </a:xfrm>
          <a:prstGeom prst="line">
            <a:avLst/>
          </a:prstGeom>
          <a:noFill/>
          <a:ln w="9525">
            <a:solidFill>
              <a:srgbClr val="E1E6EB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548640" y="392277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 ∥ A3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011680" y="4133088"/>
            <a:ext cx="9601200" cy="0"/>
          </a:xfrm>
          <a:prstGeom prst="line">
            <a:avLst/>
          </a:prstGeom>
          <a:noFill/>
          <a:ln w="9525">
            <a:solidFill>
              <a:srgbClr val="E1E6EB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548640" y="4434840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95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A4·A5·A6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011680" y="4645152"/>
            <a:ext cx="9601200" cy="0"/>
          </a:xfrm>
          <a:prstGeom prst="line">
            <a:avLst/>
          </a:prstGeom>
          <a:noFill/>
          <a:ln w="9525">
            <a:solidFill>
              <a:srgbClr val="E1E6EB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548640" y="4946904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C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A7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011680" y="5157216"/>
            <a:ext cx="9601200" cy="0"/>
          </a:xfrm>
          <a:prstGeom prst="line">
            <a:avLst/>
          </a:prstGeom>
          <a:noFill/>
          <a:ln w="9525">
            <a:solidFill>
              <a:srgbClr val="E1E6EB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548640" y="5458968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저장소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011680" y="5669280"/>
            <a:ext cx="9601200" cy="0"/>
          </a:xfrm>
          <a:prstGeom prst="line">
            <a:avLst/>
          </a:prstGeom>
          <a:noFill/>
          <a:ln w="9525">
            <a:solidFill>
              <a:srgbClr val="E1E6EB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1600200" y="2084832"/>
            <a:ext cx="0" cy="512064"/>
          </a:xfrm>
          <a:prstGeom prst="line">
            <a:avLst/>
          </a:prstGeom>
          <a:noFill/>
          <a:ln w="17780">
            <a:solidFill>
              <a:srgbClr val="8892A0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1691640" y="221284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요청 입력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108960" y="2596896"/>
            <a:ext cx="0" cy="512064"/>
          </a:xfrm>
          <a:prstGeom prst="line">
            <a:avLst/>
          </a:prstGeom>
          <a:noFill/>
          <a:ln w="17780">
            <a:solidFill>
              <a:srgbClr val="8892A0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3200400" y="2724912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/chat (SSE)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983480" y="3108960"/>
            <a:ext cx="0" cy="512064"/>
          </a:xfrm>
          <a:prstGeom prst="line">
            <a:avLst/>
          </a:prstGeom>
          <a:noFill/>
          <a:ln w="17780">
            <a:solidFill>
              <a:srgbClr val="0F6E7E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5074920" y="3236976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그래프 실행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400800" y="3621024"/>
            <a:ext cx="0" cy="512064"/>
          </a:xfrm>
          <a:prstGeom prst="line">
            <a:avLst/>
          </a:prstGeom>
          <a:noFill/>
          <a:ln w="17780">
            <a:solidFill>
              <a:srgbClr val="0F6E7E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6492240" y="374904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조건 확정 → 팬아웃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8366760" y="4133088"/>
            <a:ext cx="0" cy="512064"/>
          </a:xfrm>
          <a:prstGeom prst="line">
            <a:avLst/>
          </a:prstGeom>
          <a:noFill/>
          <a:ln w="17780">
            <a:solidFill>
              <a:srgbClr val="39527E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/>
          <p:nvPr/>
        </p:nvSpPr>
        <p:spPr>
          <a:xfrm>
            <a:off x="8458200" y="4261104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95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재료 전달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9692640" y="4645152"/>
            <a:ext cx="0" cy="512064"/>
          </a:xfrm>
          <a:prstGeom prst="line">
            <a:avLst/>
          </a:prstGeom>
          <a:noFill/>
          <a:ln w="17780">
            <a:solidFill>
              <a:srgbClr val="9C5A11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/>
          <p:cNvSpPr/>
          <p:nvPr/>
        </p:nvSpPr>
        <p:spPr>
          <a:xfrm>
            <a:off x="9784080" y="477316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C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일정 검증 요청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309360" y="3922776"/>
            <a:ext cx="3657600" cy="420624"/>
          </a:xfrm>
          <a:prstGeom prst="roundRect">
            <a:avLst>
              <a:gd name="adj" fmla="val 6522"/>
            </a:avLst>
          </a:prstGeom>
          <a:solidFill>
            <a:srgbClr val="E4F0F2"/>
          </a:solidFill>
          <a:ln w="12700">
            <a:solidFill>
              <a:srgbClr val="0F6E7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/>
          <p:nvPr/>
        </p:nvSpPr>
        <p:spPr>
          <a:xfrm>
            <a:off x="6400800" y="3922776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 취향 조회  ∥  A3 후보 탐색 — 동시 실행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8321040" y="4434840"/>
            <a:ext cx="2743200" cy="420624"/>
          </a:xfrm>
          <a:prstGeom prst="roundRect">
            <a:avLst>
              <a:gd name="adj" fmla="val 6522"/>
            </a:avLst>
          </a:prstGeom>
          <a:solidFill>
            <a:srgbClr val="E8ECF4"/>
          </a:solidFill>
          <a:ln w="12700">
            <a:solidFill>
              <a:srgbClr val="39527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Text 41"/>
          <p:cNvSpPr/>
          <p:nvPr/>
        </p:nvSpPr>
        <p:spPr>
          <a:xfrm>
            <a:off x="8412480" y="4434840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95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A6 이 A4·A5 를 필요 시 호출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548640" y="5623560"/>
            <a:ext cx="11094415" cy="685800"/>
          </a:xfrm>
          <a:prstGeom prst="roundRect">
            <a:avLst>
              <a:gd name="adj" fmla="val 4000"/>
            </a:avLst>
          </a:prstGeom>
          <a:solidFill>
            <a:srgbClr val="F9F0E3"/>
          </a:solidFill>
          <a:ln w="12700">
            <a:solidFill>
              <a:srgbClr val="9C5A1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Text 43"/>
          <p:cNvSpPr/>
          <p:nvPr/>
        </p:nvSpPr>
        <p:spPr>
          <a:xfrm>
            <a:off x="804672" y="5687568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C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응답을 2단계로 나눈다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3840480" y="566928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475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1단계에서 일정을 먼저 내보내고, 화면이 그려진 뒤 실제 경로 좌표와 공식정보 검증을 채웁니다. 사용자가 먼저 보고 싶은 것은 “어디를 가는가”지 “선이 정확한가”가 아닙니다.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6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02 · Agent Workflow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3749040" y="329184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60" dirty="0">
                <a:solidFill>
                  <a:srgbClr val="0F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2 · 예외 경로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8640" y="585216"/>
            <a:ext cx="1109441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사용자 확인 — 멈추고, 남기고, 이어서 한다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152144"/>
            <a:ext cx="108200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475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경로가 성립하려면 그래프가 실제로 멈추고 상태가 저장돼야 합니다. UI 기능이 아니라 아키텍처 제약입니다.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1719072" cy="777240"/>
          </a:xfrm>
          <a:prstGeom prst="roundRect">
            <a:avLst>
              <a:gd name="adj" fmla="val 3529"/>
            </a:avLst>
          </a:prstGeom>
          <a:solidFill>
            <a:srgbClr val="E4F0F2"/>
          </a:solidFill>
          <a:ln w="12700">
            <a:solidFill>
              <a:srgbClr val="0F6E7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548640" y="1920240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A7 결함 탐지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48640" y="2212848"/>
            <a:ext cx="1719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검사 결과를 이슈로 모은다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286000" y="2212848"/>
            <a:ext cx="100584" cy="0"/>
          </a:xfrm>
          <a:prstGeom prst="line">
            <a:avLst/>
          </a:prstGeom>
          <a:noFill/>
          <a:ln w="17780">
            <a:solidFill>
              <a:srgbClr val="8892A0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2404872" y="1828800"/>
            <a:ext cx="1719072" cy="777240"/>
          </a:xfrm>
          <a:prstGeom prst="roundRect">
            <a:avLst>
              <a:gd name="adj" fmla="val 3529"/>
            </a:avLst>
          </a:prstGeom>
          <a:solidFill>
            <a:srgbClr val="F5F7F9"/>
          </a:solidFill>
          <a:ln w="12700">
            <a:solidFill>
              <a:srgbClr val="E1E6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2404872" y="1920240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분류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404872" y="2212848"/>
            <a:ext cx="1719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자동 수정 / 사용자 판단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142232" y="2212848"/>
            <a:ext cx="100584" cy="0"/>
          </a:xfrm>
          <a:prstGeom prst="line">
            <a:avLst/>
          </a:prstGeom>
          <a:noFill/>
          <a:ln w="17780">
            <a:solidFill>
              <a:srgbClr val="8892A0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4261104" y="1828800"/>
            <a:ext cx="1719072" cy="777240"/>
          </a:xfrm>
          <a:prstGeom prst="roundRect">
            <a:avLst>
              <a:gd name="adj" fmla="val 3529"/>
            </a:avLst>
          </a:prstGeom>
          <a:solidFill>
            <a:srgbClr val="F9F0E3"/>
          </a:solidFill>
          <a:ln w="12700">
            <a:solidFill>
              <a:srgbClr val="9C5A1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4261104" y="1920240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9C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그래프 정지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261104" y="2212848"/>
            <a:ext cx="1719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실행을 멈춘다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998464" y="2212848"/>
            <a:ext cx="100584" cy="0"/>
          </a:xfrm>
          <a:prstGeom prst="line">
            <a:avLst/>
          </a:prstGeom>
          <a:noFill/>
          <a:ln w="17780">
            <a:solidFill>
              <a:srgbClr val="8892A0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6117336" y="1828800"/>
            <a:ext cx="1719072" cy="777240"/>
          </a:xfrm>
          <a:prstGeom prst="roundRect">
            <a:avLst>
              <a:gd name="adj" fmla="val 3529"/>
            </a:avLst>
          </a:prstGeom>
          <a:solidFill>
            <a:srgbClr val="F9F0E3"/>
          </a:solidFill>
          <a:ln w="12700">
            <a:solidFill>
              <a:srgbClr val="9C5A1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6117336" y="1920240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9C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상태 저장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117336" y="2212848"/>
            <a:ext cx="1719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정지 시점 전체를 영속화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854696" y="2212848"/>
            <a:ext cx="100584" cy="0"/>
          </a:xfrm>
          <a:prstGeom prst="line">
            <a:avLst/>
          </a:prstGeom>
          <a:noFill/>
          <a:ln w="17780">
            <a:solidFill>
              <a:srgbClr val="8892A0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7973568" y="1828800"/>
            <a:ext cx="1719072" cy="777240"/>
          </a:xfrm>
          <a:prstGeom prst="roundRect">
            <a:avLst>
              <a:gd name="adj" fmla="val 3529"/>
            </a:avLst>
          </a:prstGeom>
          <a:solidFill>
            <a:srgbClr val="F5F7F9"/>
          </a:solidFill>
          <a:ln w="12700">
            <a:solidFill>
              <a:srgbClr val="E1E6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7973568" y="1920240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 선택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7973568" y="2212848"/>
            <a:ext cx="1719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카드에서 옵션 선택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9710928" y="2212848"/>
            <a:ext cx="100584" cy="0"/>
          </a:xfrm>
          <a:prstGeom prst="line">
            <a:avLst/>
          </a:prstGeom>
          <a:noFill/>
          <a:ln w="17780">
            <a:solidFill>
              <a:srgbClr val="8892A0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9829800" y="1828800"/>
            <a:ext cx="1719072" cy="777240"/>
          </a:xfrm>
          <a:prstGeom prst="roundRect">
            <a:avLst>
              <a:gd name="adj" fmla="val 3529"/>
            </a:avLst>
          </a:prstGeom>
          <a:solidFill>
            <a:srgbClr val="F9F0E3"/>
          </a:solidFill>
          <a:ln w="12700">
            <a:solidFill>
              <a:srgbClr val="9C5A1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9829800" y="1920240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9C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재개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9829800" y="2212848"/>
            <a:ext cx="1719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정확히 그 지점부터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9829800" y="2606040"/>
            <a:ext cx="0" cy="384048"/>
          </a:xfrm>
          <a:prstGeom prst="line">
            <a:avLst/>
          </a:prstGeom>
          <a:noFill/>
          <a:ln w="17780">
            <a:solidFill>
              <a:srgbClr val="9C5A11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8138160" y="2990088"/>
            <a:ext cx="3502152" cy="86868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9C5A1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8321040" y="3072384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C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선택에 따라 갈린다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321040" y="331012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475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“그대로 진행”만 선택 → 확정으로 직행</a:t>
            </a:r>
            <a:endParaRPr lang="en-US" sz="10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475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하나라도 변경 선택 → 편성계로 되돌아가 재편성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48640" y="41148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절차가 성립하기 위한 설계 제약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548640" y="4462272"/>
            <a:ext cx="2651760" cy="1298448"/>
          </a:xfrm>
          <a:prstGeom prst="roundRect">
            <a:avLst>
              <a:gd name="adj" fmla="val 2113"/>
            </a:avLst>
          </a:prstGeom>
          <a:solidFill>
            <a:srgbClr val="F5F7F9"/>
          </a:solidFill>
          <a:ln w="12700">
            <a:solidFill>
              <a:srgbClr val="E1E6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713232" y="4553712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상태 영속화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713232" y="4809744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475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정지 시점의 전체 상태를 저장한다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13232" y="532180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앱을 껐다 켜도 이어진다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3355848" y="4462272"/>
            <a:ext cx="2651760" cy="1298448"/>
          </a:xfrm>
          <a:prstGeom prst="roundRect">
            <a:avLst>
              <a:gd name="adj" fmla="val 2113"/>
            </a:avLst>
          </a:prstGeom>
          <a:solidFill>
            <a:srgbClr val="F5F7F9"/>
          </a:solidFill>
          <a:ln w="12700">
            <a:solidFill>
              <a:srgbClr val="E1E6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/>
          <p:cNvSpPr/>
          <p:nvPr/>
        </p:nvSpPr>
        <p:spPr>
          <a:xfrm>
            <a:off x="3520440" y="4553712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직렬화 제약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3520440" y="4809744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475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정지 페이로드는 단순 타입만 담는다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3520440" y="532180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저장소를 바꿔도 이식된다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6163056" y="4462272"/>
            <a:ext cx="2651760" cy="1298448"/>
          </a:xfrm>
          <a:prstGeom prst="roundRect">
            <a:avLst>
              <a:gd name="adj" fmla="val 2113"/>
            </a:avLst>
          </a:prstGeom>
          <a:solidFill>
            <a:srgbClr val="F9F0E3"/>
          </a:solidFill>
          <a:ln w="12700">
            <a:solidFill>
              <a:srgbClr val="9C5A1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Text 41"/>
          <p:cNvSpPr/>
          <p:nvPr/>
        </p:nvSpPr>
        <p:spPr>
          <a:xfrm>
            <a:off x="6327648" y="4553712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9C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기본값 고정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6327648" y="4809744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475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첫 선택지는 항상 “변경하지 않음”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327648" y="532180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자동 변경 승인을 막는다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8970264" y="4462272"/>
            <a:ext cx="2651760" cy="1298448"/>
          </a:xfrm>
          <a:prstGeom prst="roundRect">
            <a:avLst>
              <a:gd name="adj" fmla="val 2113"/>
            </a:avLst>
          </a:prstGeom>
          <a:solidFill>
            <a:srgbClr val="F5F7F9"/>
          </a:solidFill>
          <a:ln w="12700">
            <a:solidFill>
              <a:srgbClr val="E1E6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Text 45"/>
          <p:cNvSpPr/>
          <p:nvPr/>
        </p:nvSpPr>
        <p:spPr>
          <a:xfrm>
            <a:off x="9134856" y="4553712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재편성 상한</a:t>
            </a:r>
            <a:endParaRPr lang="en-US" sz="1150" dirty="0"/>
          </a:p>
        </p:txBody>
      </p:sp>
      <p:sp>
        <p:nvSpPr>
          <p:cNvPr id="48" name="Text 46"/>
          <p:cNvSpPr/>
          <p:nvPr/>
        </p:nvSpPr>
        <p:spPr>
          <a:xfrm>
            <a:off x="9134856" y="4809744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475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선택 반영 후 재편성 횟수를 제한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9134856" y="532180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순환을 끊어 응답 시간을 지킨다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548640" y="6309360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모바일에서 연결 단절은 예외가 아니라 상시 조건입니다 — 그래서 확인 절차를 서버 측 정지로 구현합니다.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6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03 · System Architecture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3749040" y="329184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60" dirty="0">
                <a:solidFill>
                  <a:srgbClr val="0F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Diagram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8640" y="585216"/>
            <a:ext cx="1109441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전체 시스템 아키텍처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152144"/>
            <a:ext cx="108200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475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· FastAPI · LangGraph · PostgreSQL · 외부 API 가 어디서 실행되고 무엇으로 연결되는가.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1755648"/>
            <a:ext cx="11094415" cy="658368"/>
          </a:xfrm>
          <a:prstGeom prst="roundRect">
            <a:avLst>
              <a:gd name="adj" fmla="val 4167"/>
            </a:avLst>
          </a:prstGeom>
          <a:solidFill>
            <a:srgbClr val="F5F7F9"/>
          </a:solidFill>
          <a:ln w="12700">
            <a:solidFill>
              <a:srgbClr val="E1E6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786384" y="181965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클라이언트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560320" y="1847088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(Expo)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86384" y="210312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타임라인 · 지도 · 확인 카드 · 아카이브 — 사용자 기기에서 실행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229600" y="2103120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i="1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지도 렌더링은 클라이언트 책임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011680" y="2414016"/>
            <a:ext cx="0" cy="256032"/>
          </a:xfrm>
          <a:prstGeom prst="line">
            <a:avLst/>
          </a:prstGeom>
          <a:noFill/>
          <a:ln w="17780">
            <a:solidFill>
              <a:srgbClr val="0F6E7E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2194560" y="2450592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· SSE (스트리밍 + 확인 이벤트)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48640" y="2670048"/>
            <a:ext cx="11094415" cy="228600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 w="12700">
            <a:solidFill>
              <a:srgbClr val="1E253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786384" y="274320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2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서버 런타임 — 단일 프로세스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86384" y="3017520"/>
            <a:ext cx="10607040" cy="548640"/>
          </a:xfrm>
          <a:prstGeom prst="roundRect">
            <a:avLst>
              <a:gd name="adj" fmla="val 5000"/>
            </a:avLst>
          </a:prstGeom>
          <a:solidFill>
            <a:srgbClr val="F5F7F9"/>
          </a:solidFill>
          <a:ln w="12700">
            <a:solidFill>
              <a:srgbClr val="E1E6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969264" y="309067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FastAPI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468880" y="3108960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요청 접수 · SSE 스트리밍 · 2단계 보강 호출 · 인증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046720" y="310896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i="1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웹 계층 — 그래프를 호출만 한다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011680" y="3566160"/>
            <a:ext cx="0" cy="146304"/>
          </a:xfrm>
          <a:prstGeom prst="line">
            <a:avLst/>
          </a:prstGeom>
          <a:noFill/>
          <a:ln w="17780">
            <a:solidFill>
              <a:srgbClr val="8892A0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786384" y="3712464"/>
            <a:ext cx="10607040" cy="1152144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 w="12700">
            <a:solidFill>
              <a:srgbClr val="9C5A1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969264" y="37764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LangGraph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2743200" y="3803904"/>
            <a:ext cx="6035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오케스트레이션 — Agent 실행 순서 · 분기 · 정지/재개 · 상태 관리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549640" y="3840480"/>
            <a:ext cx="118872" cy="118872"/>
          </a:xfrm>
          <a:prstGeom prst="ellipse">
            <a:avLst/>
          </a:prstGeom>
          <a:solidFill>
            <a:srgbClr val="0F6E7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8732520" y="378561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탐색계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9692640" y="3840480"/>
            <a:ext cx="118872" cy="118872"/>
          </a:xfrm>
          <a:prstGeom prst="ellipse">
            <a:avLst/>
          </a:prstGeom>
          <a:solidFill>
            <a:srgbClr val="39527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9875520" y="378561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편성계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10835640" y="3840480"/>
            <a:ext cx="118872" cy="118872"/>
          </a:xfrm>
          <a:prstGeom prst="ellipse">
            <a:avLst/>
          </a:prstGeom>
          <a:solidFill>
            <a:srgbClr val="9C5A1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11018520" y="378561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검증계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969264" y="4059936"/>
            <a:ext cx="1371600" cy="530352"/>
          </a:xfrm>
          <a:prstGeom prst="roundRect">
            <a:avLst>
              <a:gd name="adj" fmla="val 5172"/>
            </a:avLst>
          </a:prstGeom>
          <a:solidFill>
            <a:srgbClr val="E4F0F2"/>
          </a:solidFill>
          <a:ln w="12700">
            <a:solidFill>
              <a:srgbClr val="0F6E7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969264" y="410565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969264" y="429768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450592" y="4059936"/>
            <a:ext cx="1371600" cy="530352"/>
          </a:xfrm>
          <a:prstGeom prst="roundRect">
            <a:avLst>
              <a:gd name="adj" fmla="val 5172"/>
            </a:avLst>
          </a:prstGeom>
          <a:solidFill>
            <a:srgbClr val="E4F0F2"/>
          </a:solidFill>
          <a:ln w="12700">
            <a:solidFill>
              <a:srgbClr val="0F6E7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2450592" y="410565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2450592" y="429768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Preference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931920" y="4059936"/>
            <a:ext cx="1371600" cy="530352"/>
          </a:xfrm>
          <a:prstGeom prst="roundRect">
            <a:avLst>
              <a:gd name="adj" fmla="val 5172"/>
            </a:avLst>
          </a:prstGeom>
          <a:solidFill>
            <a:srgbClr val="E4F0F2"/>
          </a:solidFill>
          <a:ln w="12700">
            <a:solidFill>
              <a:srgbClr val="0F6E7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/>
          <p:nvPr/>
        </p:nvSpPr>
        <p:spPr>
          <a:xfrm>
            <a:off x="3931920" y="410565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A3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931920" y="429768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Culture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413248" y="4059936"/>
            <a:ext cx="1371600" cy="530352"/>
          </a:xfrm>
          <a:prstGeom prst="roundRect">
            <a:avLst>
              <a:gd name="adj" fmla="val 5172"/>
            </a:avLst>
          </a:prstGeom>
          <a:solidFill>
            <a:srgbClr val="E8ECF4"/>
          </a:solidFill>
          <a:ln w="12700">
            <a:solidFill>
              <a:srgbClr val="39527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/>
          <p:cNvSpPr/>
          <p:nvPr/>
        </p:nvSpPr>
        <p:spPr>
          <a:xfrm>
            <a:off x="5413248" y="410565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95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A4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413248" y="429768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894576" y="4059936"/>
            <a:ext cx="1371600" cy="530352"/>
          </a:xfrm>
          <a:prstGeom prst="roundRect">
            <a:avLst>
              <a:gd name="adj" fmla="val 5172"/>
            </a:avLst>
          </a:prstGeom>
          <a:solidFill>
            <a:srgbClr val="E8ECF4"/>
          </a:solidFill>
          <a:ln w="12700">
            <a:solidFill>
              <a:srgbClr val="39527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 40"/>
          <p:cNvSpPr/>
          <p:nvPr/>
        </p:nvSpPr>
        <p:spPr>
          <a:xfrm>
            <a:off x="6894576" y="410565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95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A5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894576" y="429768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8375904" y="4059936"/>
            <a:ext cx="1371600" cy="530352"/>
          </a:xfrm>
          <a:prstGeom prst="roundRect">
            <a:avLst>
              <a:gd name="adj" fmla="val 5172"/>
            </a:avLst>
          </a:prstGeom>
          <a:solidFill>
            <a:srgbClr val="E8ECF4"/>
          </a:solidFill>
          <a:ln w="12700">
            <a:solidFill>
              <a:srgbClr val="39527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Text 43"/>
          <p:cNvSpPr/>
          <p:nvPr/>
        </p:nvSpPr>
        <p:spPr>
          <a:xfrm>
            <a:off x="8375904" y="410565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95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A6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8375904" y="429768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9857232" y="4059936"/>
            <a:ext cx="1371600" cy="530352"/>
          </a:xfrm>
          <a:prstGeom prst="roundRect">
            <a:avLst>
              <a:gd name="adj" fmla="val 5172"/>
            </a:avLst>
          </a:prstGeom>
          <a:solidFill>
            <a:srgbClr val="F9F0E3"/>
          </a:solidFill>
          <a:ln w="12700">
            <a:solidFill>
              <a:srgbClr val="9C5A1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Text 46"/>
          <p:cNvSpPr/>
          <p:nvPr/>
        </p:nvSpPr>
        <p:spPr>
          <a:xfrm>
            <a:off x="9857232" y="410565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C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A7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9857232" y="429768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Validator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969264" y="4608576"/>
            <a:ext cx="10241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공유 State — 모든 산출물이 여기 누적되고, 정지 시 통째로 저장된다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3108960" y="4956048"/>
            <a:ext cx="0" cy="219456"/>
          </a:xfrm>
          <a:prstGeom prst="line">
            <a:avLst/>
          </a:prstGeom>
          <a:noFill/>
          <a:ln w="17780">
            <a:solidFill>
              <a:srgbClr val="8892A0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Shape 50"/>
          <p:cNvSpPr/>
          <p:nvPr/>
        </p:nvSpPr>
        <p:spPr>
          <a:xfrm>
            <a:off x="548640" y="5175504"/>
            <a:ext cx="5394960" cy="914400"/>
          </a:xfrm>
          <a:prstGeom prst="roundRect">
            <a:avLst>
              <a:gd name="adj" fmla="val 3000"/>
            </a:avLst>
          </a:prstGeom>
          <a:solidFill>
            <a:srgbClr val="F5F7F9"/>
          </a:solidFill>
          <a:ln w="12700">
            <a:solidFill>
              <a:srgbClr val="E1E6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Text 51"/>
          <p:cNvSpPr/>
          <p:nvPr/>
        </p:nvSpPr>
        <p:spPr>
          <a:xfrm>
            <a:off x="786384" y="526694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PostgreSQL + pgvector</a:t>
            </a:r>
            <a:endParaRPr lang="en-US" sz="1400" dirty="0"/>
          </a:p>
        </p:txBody>
      </p:sp>
      <p:sp>
        <p:nvSpPr>
          <p:cNvPr id="54" name="Text 52"/>
          <p:cNvSpPr/>
          <p:nvPr/>
        </p:nvSpPr>
        <p:spPr>
          <a:xfrm>
            <a:off x="786384" y="5541264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475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아카이브(방문·수정행동) · 계획 · 장소 · 벡터 인덱스 · 체크포인트</a:t>
            </a:r>
            <a:endParaRPr lang="en-US" sz="10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475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같은 DB 에 두는 이유 — 개인화가 조인 한 번으로 성립한다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8595360" y="4956048"/>
            <a:ext cx="0" cy="219456"/>
          </a:xfrm>
          <a:prstGeom prst="line">
            <a:avLst/>
          </a:prstGeom>
          <a:noFill/>
          <a:ln w="17780">
            <a:solidFill>
              <a:srgbClr val="8892A0"/>
            </a:solidFill>
            <a:prstDash val="dash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Shape 54"/>
          <p:cNvSpPr/>
          <p:nvPr/>
        </p:nvSpPr>
        <p:spPr>
          <a:xfrm>
            <a:off x="6245352" y="5175504"/>
            <a:ext cx="5394960" cy="914400"/>
          </a:xfrm>
          <a:prstGeom prst="roundRect">
            <a:avLst>
              <a:gd name="adj" fmla="val 3000"/>
            </a:avLst>
          </a:prstGeom>
          <a:solidFill>
            <a:srgbClr val="F5F7F9"/>
          </a:solidFill>
          <a:ln w="12700">
            <a:solidFill>
              <a:srgbClr val="E1E6EB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Text 55"/>
          <p:cNvSpPr/>
          <p:nvPr/>
        </p:nvSpPr>
        <p:spPr>
          <a:xfrm>
            <a:off x="6483096" y="526694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외부 API</a:t>
            </a:r>
            <a:endParaRPr lang="en-US" sz="1400" dirty="0"/>
          </a:p>
        </p:txBody>
      </p:sp>
      <p:sp>
        <p:nvSpPr>
          <p:cNvPr id="58" name="Text 56"/>
          <p:cNvSpPr/>
          <p:nvPr/>
        </p:nvSpPr>
        <p:spPr>
          <a:xfrm>
            <a:off x="8138160" y="5294376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문화 콘텐츠 · 지도/경로 · 날씨 · 검색 · AI 모델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6483096" y="5541264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475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전부 “없어도 서비스가 성립”해야 한다 — 어느 하나도 필수 경로에 두지 않는다</a:t>
            </a:r>
            <a:endParaRPr lang="en-US" sz="10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475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호출은 Agent 가 직접 하지 않고 도구 계층을 거친다 (타임아웃 · 캐시 · 폴백)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6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03 · System Architecture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3749040" y="329184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60" dirty="0">
                <a:solidFill>
                  <a:srgbClr val="0F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Contracts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8640" y="585216"/>
            <a:ext cx="1109441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각 계층이 지는 책임과 넘기지 않는 것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152144"/>
            <a:ext cx="108200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475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계층을 나눈 목적은 “바꾸고 싶을 때 어디를 여는가”를 하나로 정하는 것입니다.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48640" y="182880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계층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2926080" y="182880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책임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6035040" y="182880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넘기지 않는 것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8961120" y="1828800"/>
            <a:ext cx="2679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교체 시 영향 범위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48640" y="2157984"/>
            <a:ext cx="11094415" cy="530352"/>
          </a:xfrm>
          <a:prstGeom prst="rect">
            <a:avLst/>
          </a:prstGeom>
          <a:solidFill>
            <a:srgbClr val="F5F7F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621792" y="2157984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926080" y="2157984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화면 · 지도 렌더링 · 입력 수집 · 오프라인 캐시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035040" y="2157984"/>
            <a:ext cx="2834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3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일정 계산 · 장소 선택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961120" y="2157984"/>
            <a:ext cx="26791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앱만 — 서버 계약 불변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21792" y="2724912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926080" y="2724912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요청 접수 · 스트리밍 · 세션 식별 · 인증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035040" y="2724912"/>
            <a:ext cx="2834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3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비즈니스 판단 전부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961120" y="2724912"/>
            <a:ext cx="26791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웹 계층만 — 그래프 불변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3291840"/>
            <a:ext cx="11094415" cy="530352"/>
          </a:xfrm>
          <a:prstGeom prst="rect">
            <a:avLst/>
          </a:prstGeom>
          <a:solidFill>
            <a:srgbClr val="F5F7F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621792" y="3291840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926080" y="3291840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실행 순서 · 분기 · 정지/재개 · 상태 병합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035040" y="3291840"/>
            <a:ext cx="2834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3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외부 API 직접 호출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961120" y="3291840"/>
            <a:ext cx="26791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오케스트레이션만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21792" y="3858768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도구 계층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926080" y="3858768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외부 호출 · 타임아웃 · 캐시 · 폴백 · 응답 정규화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035040" y="3858768"/>
            <a:ext cx="2834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3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일정 판단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8961120" y="3858768"/>
            <a:ext cx="26791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제공자 교체 시 이 층만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4425696"/>
            <a:ext cx="11094415" cy="530352"/>
          </a:xfrm>
          <a:prstGeom prst="rect">
            <a:avLst/>
          </a:prstGeom>
          <a:solidFill>
            <a:srgbClr val="F5F7F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621792" y="4425696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2926080" y="4425696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사실 · 계획 · 경험 · 벡터 · 체크포인트 영속화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035040" y="4425696"/>
            <a:ext cx="2834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3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비즈니스 로직(프로시저)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8961120" y="4425696"/>
            <a:ext cx="26791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스키마 변경 시 도구 계층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48640" y="5212080"/>
            <a:ext cx="5394960" cy="914400"/>
          </a:xfrm>
          <a:prstGeom prst="roundRect">
            <a:avLst>
              <a:gd name="adj" fmla="val 3000"/>
            </a:avLst>
          </a:prstGeom>
          <a:solidFill>
            <a:srgbClr val="F9F0E3"/>
          </a:solidFill>
          <a:ln w="12700">
            <a:solidFill>
              <a:srgbClr val="9C5A1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768096" y="5303520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C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도구 계층을 따로 둔 이유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68096" y="5559552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475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가 외부 API 를 직접 부르면 타임아웃·캐시·폴백 코드가 Agent 마다 복제됩니다. 그리고 편성 로직에 네트워크 지연이 섞여 재현성이 깨집니다.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245352" y="5212080"/>
            <a:ext cx="5394960" cy="914400"/>
          </a:xfrm>
          <a:prstGeom prst="roundRect">
            <a:avLst>
              <a:gd name="adj" fmla="val 3000"/>
            </a:avLst>
          </a:prstGeom>
          <a:solidFill>
            <a:srgbClr val="F5F7F9"/>
          </a:solidFill>
          <a:ln w="12700">
            <a:solidFill>
              <a:srgbClr val="E1E6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/>
          <p:nvPr/>
        </p:nvSpPr>
        <p:spPr>
          <a:xfrm>
            <a:off x="6464808" y="5303520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지도 렌더링을 클라이언트에 둔 이유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464808" y="5559552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475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서버는 좌표 배열만 내려보냅니다. 지도 공급자를 바꿔도 서버 계약이 그대로이고, 웹·네이티브가 같은 데이터로 각자 렌더링합니다.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6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03 · System Architecture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3749040" y="329184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60" dirty="0">
                <a:solidFill>
                  <a:srgbClr val="0F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Deployment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8640" y="585216"/>
            <a:ext cx="1109441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어디서 실행되는가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152144"/>
            <a:ext cx="108200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475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논리 구조와 물리 배치는 다릅니다. MVP 와 정식 운영의 배치를 함께 정해 둡니다.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48640" y="182880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배치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2194560"/>
            <a:ext cx="5394960" cy="566928"/>
          </a:xfrm>
          <a:prstGeom prst="roundRect">
            <a:avLst>
              <a:gd name="adj" fmla="val 4839"/>
            </a:avLst>
          </a:prstGeom>
          <a:solidFill>
            <a:srgbClr val="F5F7F9"/>
          </a:solidFill>
          <a:ln w="12700">
            <a:solidFill>
              <a:srgbClr val="E1E6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548640" y="2194560"/>
            <a:ext cx="5394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 기기 — React Native 앱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46120" y="2761488"/>
            <a:ext cx="0" cy="201168"/>
          </a:xfrm>
          <a:prstGeom prst="line">
            <a:avLst/>
          </a:prstGeom>
          <a:noFill/>
          <a:ln w="17780">
            <a:solidFill>
              <a:srgbClr val="8892A0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548640" y="2962656"/>
            <a:ext cx="5394960" cy="1600200"/>
          </a:xfrm>
          <a:prstGeom prst="roundRect">
            <a:avLst>
              <a:gd name="adj" fmla="val 1714"/>
            </a:avLst>
          </a:prstGeom>
          <a:solidFill>
            <a:srgbClr val="E4F0F2"/>
          </a:solidFill>
          <a:ln w="12700">
            <a:solidFill>
              <a:srgbClr val="0F6E7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768096" y="305409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컨테이너 1개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68096" y="3328416"/>
            <a:ext cx="4956048" cy="457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1E6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768096" y="3328416"/>
            <a:ext cx="4956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LangGraph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68096" y="3840480"/>
            <a:ext cx="4956048" cy="457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1E6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768096" y="3840480"/>
            <a:ext cx="4956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+ pgvector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68096" y="4334256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운영 부담 최소화 · 데모 환경 재현 용이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8640" y="4681728"/>
            <a:ext cx="5394960" cy="566928"/>
          </a:xfrm>
          <a:prstGeom prst="roundRect">
            <a:avLst>
              <a:gd name="adj" fmla="val 4839"/>
            </a:avLst>
          </a:prstGeom>
          <a:solidFill>
            <a:srgbClr val="F7EAEA"/>
          </a:solidFill>
          <a:ln w="12700">
            <a:solidFill>
              <a:srgbClr val="93292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768096" y="4681728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3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대가 — DB 장애가 곧 전체 장애. 정식 운영 전 분리 필요.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245352" y="182880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정식 운영 배치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245352" y="2194560"/>
            <a:ext cx="5394960" cy="566928"/>
          </a:xfrm>
          <a:prstGeom prst="roundRect">
            <a:avLst>
              <a:gd name="adj" fmla="val 4839"/>
            </a:avLst>
          </a:prstGeom>
          <a:solidFill>
            <a:srgbClr val="F5F7F9"/>
          </a:solidFill>
          <a:ln w="12700">
            <a:solidFill>
              <a:srgbClr val="E1E6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6245352" y="2194560"/>
            <a:ext cx="5394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 기기 — React Native 앱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942832" y="2761488"/>
            <a:ext cx="0" cy="201168"/>
          </a:xfrm>
          <a:prstGeom prst="line">
            <a:avLst/>
          </a:prstGeom>
          <a:noFill/>
          <a:ln w="17780">
            <a:solidFill>
              <a:srgbClr val="8892A0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6245352" y="2962656"/>
            <a:ext cx="5394960" cy="1600200"/>
          </a:xfrm>
          <a:prstGeom prst="roundRect">
            <a:avLst>
              <a:gd name="adj" fmla="val 1714"/>
            </a:avLst>
          </a:prstGeom>
          <a:solidFill>
            <a:srgbClr val="F5F7F9"/>
          </a:solidFill>
          <a:ln w="12700">
            <a:solidFill>
              <a:srgbClr val="E1E6EB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6464808" y="305409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컨테이너 분리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464808" y="3328416"/>
            <a:ext cx="2377440" cy="457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1E6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6464808" y="3328416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+ 그래프 ×N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9043416" y="3328416"/>
            <a:ext cx="2377440" cy="457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1E6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9043416" y="3328416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체크포인트 저장소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464808" y="3840480"/>
            <a:ext cx="4956048" cy="457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1E6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6464808" y="3840480"/>
            <a:ext cx="4956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(독립)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464808" y="4334256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수평 확장 · 장애 격리 · 무중단 배포 가능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245352" y="4681728"/>
            <a:ext cx="5394960" cy="566928"/>
          </a:xfrm>
          <a:prstGeom prst="roundRect">
            <a:avLst>
              <a:gd name="adj" fmla="val 4839"/>
            </a:avLst>
          </a:prstGeom>
          <a:solidFill>
            <a:srgbClr val="F5F7F9"/>
          </a:solidFill>
          <a:ln w="12700">
            <a:solidFill>
              <a:srgbClr val="E1E6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6464808" y="4681728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전환 조건 — 동시 사용자 증가 또는 가용성 요구가 생기는 시점.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5440680"/>
            <a:ext cx="11094415" cy="685800"/>
          </a:xfrm>
          <a:prstGeom prst="roundRect">
            <a:avLst>
              <a:gd name="adj" fmla="val 4000"/>
            </a:avLst>
          </a:prstGeom>
          <a:solidFill>
            <a:srgbClr val="F5F7F9"/>
          </a:solidFill>
          <a:ln w="12700">
            <a:solidFill>
              <a:srgbClr val="E1E6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804672" y="5440680"/>
            <a:ext cx="1058235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전환 비용을 미리 낮춰 두는 방법 — 애플리케이션이 DB 주소를 설정으로만 참조하고, 그래프가 상태를 메모리에 들고 있지 않게 합니다. 두 가지만 지키면 컨테이너 분리는 배포 설정 변경으로 끝납니다.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6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03 · System Architecture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3749040" y="329184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60" dirty="0">
                <a:solidFill>
                  <a:srgbClr val="0F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Integration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8640" y="585216"/>
            <a:ext cx="1109441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외부 API 는 도구 계층을 통해서만 닿는다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152144"/>
            <a:ext cx="108200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475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가 직접 부르지 않습니다. 타임아웃 · 캐시 · 폴백을 한 곳에 모아야 Agent 가 판단에만 집중합니다.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1810512"/>
            <a:ext cx="2743200" cy="566928"/>
          </a:xfrm>
          <a:prstGeom prst="roundRect">
            <a:avLst>
              <a:gd name="adj" fmla="val 4839"/>
            </a:avLst>
          </a:prstGeom>
          <a:solidFill>
            <a:srgbClr val="E4F0F2"/>
          </a:solidFill>
          <a:ln w="12700">
            <a:solidFill>
              <a:srgbClr val="0F6E7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548640" y="1810512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(A1~A7)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37560" y="2093976"/>
            <a:ext cx="457200" cy="0"/>
          </a:xfrm>
          <a:prstGeom prst="line">
            <a:avLst/>
          </a:prstGeom>
          <a:noFill/>
          <a:ln w="17780">
            <a:solidFill>
              <a:srgbClr val="8892A0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3840480" y="1810512"/>
            <a:ext cx="2926080" cy="566928"/>
          </a:xfrm>
          <a:prstGeom prst="roundRect">
            <a:avLst>
              <a:gd name="adj" fmla="val 4839"/>
            </a:avLst>
          </a:prstGeom>
          <a:solidFill>
            <a:srgbClr val="F9F0E3"/>
          </a:solidFill>
          <a:ln w="12700">
            <a:solidFill>
              <a:srgbClr val="9C5A1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3840480" y="1810512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C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도구 계층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812280" y="2093976"/>
            <a:ext cx="457200" cy="0"/>
          </a:xfrm>
          <a:prstGeom prst="line">
            <a:avLst/>
          </a:prstGeom>
          <a:noFill/>
          <a:ln w="17780">
            <a:solidFill>
              <a:srgbClr val="8892A0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7315200" y="1810512"/>
            <a:ext cx="4325112" cy="566928"/>
          </a:xfrm>
          <a:prstGeom prst="roundRect">
            <a:avLst>
              <a:gd name="adj" fmla="val 4839"/>
            </a:avLst>
          </a:prstGeom>
          <a:solidFill>
            <a:srgbClr val="F5F7F9"/>
          </a:solidFill>
          <a:ln w="12700">
            <a:solidFill>
              <a:srgbClr val="E1E6EB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7315200" y="1810512"/>
            <a:ext cx="4325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외부 API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840480" y="2432304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도구 계층이 담당하는 것 — 타임아웃 · TTL 캐시 · 폴백 · 응답 정규화 · 쿼터 보호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28346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용도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926080" y="283464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제공자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394960" y="283464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호출 Agent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7040880" y="283464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캐시 전략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9052560" y="2834640"/>
            <a:ext cx="2587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실패 시 동작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48640" y="3163824"/>
            <a:ext cx="11094415" cy="374904"/>
          </a:xfrm>
          <a:prstGeom prst="rect">
            <a:avLst/>
          </a:prstGeom>
          <a:solidFill>
            <a:srgbClr val="F5F7F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621792" y="3163824"/>
            <a:ext cx="22860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좌표 확정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926080" y="3163824"/>
            <a:ext cx="23774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지도 지오코딩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394960" y="3163824"/>
            <a:ext cx="15544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 · A3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040880" y="3163824"/>
            <a:ext cx="19202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장기 (24h)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9052560" y="3163824"/>
            <a:ext cx="258775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3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후보 자격 상실 — 필수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21792" y="3575304"/>
            <a:ext cx="22860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문화 행사 · 시설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926080" y="3575304"/>
            <a:ext cx="23774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공공 문화 API 2종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394960" y="3575304"/>
            <a:ext cx="15544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A3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7040880" y="3575304"/>
            <a:ext cx="19202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중기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9052560" y="3575304"/>
            <a:ext cx="258775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A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웹검색 · 내장 카탈로그로 대체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48640" y="3986784"/>
            <a:ext cx="11094415" cy="374904"/>
          </a:xfrm>
          <a:prstGeom prst="rect">
            <a:avLst/>
          </a:prstGeom>
          <a:solidFill>
            <a:srgbClr val="F5F7F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621792" y="3986784"/>
            <a:ext cx="22860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웹 검증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2926080" y="3986784"/>
            <a:ext cx="23774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검색 API 2종 순차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394960" y="3986784"/>
            <a:ext cx="15544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A3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7040880" y="3986784"/>
            <a:ext cx="19202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단기 (15m)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9052560" y="3986784"/>
            <a:ext cx="258775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C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‘확인 필요’로 표시하고 노출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621792" y="4398264"/>
            <a:ext cx="22860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경로 실측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2926080" y="4398264"/>
            <a:ext cx="23774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수단별 3종 분리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5394960" y="4398264"/>
            <a:ext cx="15544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A5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7040880" y="4398264"/>
            <a:ext cx="19202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중기 (30m~1h)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9052560" y="4398264"/>
            <a:ext cx="258775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A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직선거리 추정 + 추정 표시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548640" y="4809744"/>
            <a:ext cx="11094415" cy="374904"/>
          </a:xfrm>
          <a:prstGeom prst="rect">
            <a:avLst/>
          </a:prstGeom>
          <a:solidFill>
            <a:srgbClr val="F5F7F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" name="Text 41"/>
          <p:cNvSpPr/>
          <p:nvPr/>
        </p:nvSpPr>
        <p:spPr>
          <a:xfrm>
            <a:off x="621792" y="4809744"/>
            <a:ext cx="22860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날씨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2926080" y="4809744"/>
            <a:ext cx="23774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기상 예보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5394960" y="4809744"/>
            <a:ext cx="15544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A6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7040880" y="4809744"/>
            <a:ext cx="19202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단기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9052560" y="4809744"/>
            <a:ext cx="258775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A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악천후 보정 없이 진행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621792" y="5221224"/>
            <a:ext cx="22860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주변 장소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2926080" y="5221224"/>
            <a:ext cx="23774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지역 검색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5394960" y="5221224"/>
            <a:ext cx="15544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A4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7040880" y="5221224"/>
            <a:ext cx="19202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단기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9052560" y="5221224"/>
            <a:ext cx="258775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A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빈틈 채우기 비활성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548640" y="5632704"/>
            <a:ext cx="11094415" cy="374904"/>
          </a:xfrm>
          <a:prstGeom prst="rect">
            <a:avLst/>
          </a:prstGeom>
          <a:solidFill>
            <a:srgbClr val="F5F7F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4" name="Text 52"/>
          <p:cNvSpPr/>
          <p:nvPr/>
        </p:nvSpPr>
        <p:spPr>
          <a:xfrm>
            <a:off x="621792" y="5632704"/>
            <a:ext cx="22860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· 임베딩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2926080" y="5632704"/>
            <a:ext cx="23774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 제공자</a:t>
            </a:r>
            <a:endParaRPr lang="en-US" sz="1050" dirty="0"/>
          </a:p>
        </p:txBody>
      </p:sp>
      <p:sp>
        <p:nvSpPr>
          <p:cNvPr id="56" name="Text 54"/>
          <p:cNvSpPr/>
          <p:nvPr/>
        </p:nvSpPr>
        <p:spPr>
          <a:xfrm>
            <a:off x="5394960" y="5632704"/>
            <a:ext cx="15544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 · A2 · A3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7040880" y="5632704"/>
            <a:ext cx="19202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없음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9052560" y="5632704"/>
            <a:ext cx="258775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C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규칙 기반 폴백으로 동작</a:t>
            </a:r>
            <a:endParaRPr lang="en-US" sz="1050" dirty="0"/>
          </a:p>
        </p:txBody>
      </p:sp>
      <p:sp>
        <p:nvSpPr>
          <p:cNvPr id="59" name="Text 57"/>
          <p:cNvSpPr/>
          <p:nvPr/>
        </p:nvSpPr>
        <p:spPr>
          <a:xfrm>
            <a:off x="548640" y="6309360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적색 1건 — 좌표 확정만 대체 불가입니다. 좌표가 없으면 지도에도 못 찍고 이동시간도 못 재므로 후보 자격 자체가 없습니다.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60" dirty="0">
                <a:solidFill>
                  <a:srgbClr val="0F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48640" y="585216"/>
            <a:ext cx="1109441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이 문서가 확정한 것이 다음 설계의 입력이 된다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152144"/>
            <a:ext cx="108200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475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 축이 정해졌으므로 DB 와 API 설계를 근거 있게 시작할 수 있습니다.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2651760" cy="1143000"/>
          </a:xfrm>
          <a:prstGeom prst="roundRect">
            <a:avLst>
              <a:gd name="adj" fmla="val 2400"/>
            </a:avLst>
          </a:prstGeom>
          <a:solidFill>
            <a:srgbClr val="E4F0F2"/>
          </a:solidFill>
          <a:ln w="12700">
            <a:solidFill>
              <a:srgbClr val="0F6E7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20" dirty="0">
                <a:solidFill>
                  <a:srgbClr val="0F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확정됨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1520" y="213969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역할 · 입출력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245059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475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채널 9종이 정해졌다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18688" y="2377440"/>
            <a:ext cx="118872" cy="0"/>
          </a:xfrm>
          <a:prstGeom prst="line">
            <a:avLst/>
          </a:prstGeom>
          <a:noFill/>
          <a:ln w="17780">
            <a:solidFill>
              <a:srgbClr val="8892A0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3355848" y="1828800"/>
            <a:ext cx="2651760" cy="1143000"/>
          </a:xfrm>
          <a:prstGeom prst="roundRect">
            <a:avLst>
              <a:gd name="adj" fmla="val 2400"/>
            </a:avLst>
          </a:prstGeom>
          <a:solidFill>
            <a:srgbClr val="F5F7F9"/>
          </a:solidFill>
          <a:ln w="12700">
            <a:solidFill>
              <a:srgbClr val="E1E6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3538728" y="192024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2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538728" y="213969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DB 스키마 설계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538728" y="245059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475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채널 → 테이블 · 관계 · 인덱스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025896" y="2377440"/>
            <a:ext cx="118872" cy="0"/>
          </a:xfrm>
          <a:prstGeom prst="line">
            <a:avLst/>
          </a:prstGeom>
          <a:noFill/>
          <a:ln w="17780">
            <a:solidFill>
              <a:srgbClr val="8892A0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6163056" y="1828800"/>
            <a:ext cx="2651760" cy="1143000"/>
          </a:xfrm>
          <a:prstGeom prst="roundRect">
            <a:avLst>
              <a:gd name="adj" fmla="val 2400"/>
            </a:avLst>
          </a:prstGeom>
          <a:solidFill>
            <a:srgbClr val="F5F7F9"/>
          </a:solidFill>
          <a:ln w="12700">
            <a:solidFill>
              <a:srgbClr val="E1E6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6345936" y="192024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2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345936" y="213969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명세 설계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345936" y="245059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475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경계 → 엔드포인트 · 계약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833104" y="2377440"/>
            <a:ext cx="118872" cy="0"/>
          </a:xfrm>
          <a:prstGeom prst="line">
            <a:avLst/>
          </a:prstGeom>
          <a:noFill/>
          <a:ln w="17780">
            <a:solidFill>
              <a:srgbClr val="8892A0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8970264" y="1828800"/>
            <a:ext cx="2651760" cy="1143000"/>
          </a:xfrm>
          <a:prstGeom prst="roundRect">
            <a:avLst>
              <a:gd name="adj" fmla="val 2400"/>
            </a:avLst>
          </a:prstGeom>
          <a:solidFill>
            <a:srgbClr val="F5F7F9"/>
          </a:solidFill>
          <a:ln w="12700">
            <a:solidFill>
              <a:srgbClr val="E1E6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9153144" y="192024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2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이후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9153144" y="213969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구현 · 검증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153144" y="245059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475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테스트 전략 · 배포 파이프라인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48640" y="32004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문서에서 DB · API 설계로 넘기는 입력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548640" y="354787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문서의 산출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572000" y="354787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설계로 넘어가는 것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8229600" y="3547872"/>
            <a:ext cx="3410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설계로 넘어가는 것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48640" y="3877056"/>
            <a:ext cx="11094415" cy="420624"/>
          </a:xfrm>
          <a:prstGeom prst="rect">
            <a:avLst/>
          </a:prstGeom>
          <a:solidFill>
            <a:srgbClr val="F5F7F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621792" y="3877056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출력 채널 9종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72000" y="3877056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각 채널의 영속화 대상 · 스키마 후보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8229600" y="3877056"/>
            <a:ext cx="34107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응답 페이로드 구조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21792" y="4334256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입력 정의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572000" y="4334256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조회 패턴 · 인덱스 요구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8229600" y="4334256"/>
            <a:ext cx="34107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요청 파라미터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48640" y="4791456"/>
            <a:ext cx="11094415" cy="420624"/>
          </a:xfrm>
          <a:prstGeom prst="rect">
            <a:avLst/>
          </a:prstGeom>
          <a:solidFill>
            <a:srgbClr val="F5F7F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/>
          <p:nvPr/>
        </p:nvSpPr>
        <p:spPr>
          <a:xfrm>
            <a:off x="621792" y="4791456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공유 State · 정지/재개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572000" y="4791456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체크포인트 테이블 · 직렬화 형식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8229600" y="4791456"/>
            <a:ext cx="34107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세션 식별 · 재개 엔드포인트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621792" y="5248656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아카이브 4계층 구분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572000" y="5248656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원본/파생 분리 · 연쇄 삭제 정책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8229600" y="5248656"/>
            <a:ext cx="34107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기록 등록 · 조회 엔드포인트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548640" y="5705856"/>
            <a:ext cx="11094415" cy="420624"/>
          </a:xfrm>
          <a:prstGeom prst="rect">
            <a:avLst/>
          </a:prstGeom>
          <a:solidFill>
            <a:srgbClr val="F5F7F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" name="Text 41"/>
          <p:cNvSpPr/>
          <p:nvPr/>
        </p:nvSpPr>
        <p:spPr>
          <a:xfrm>
            <a:off x="621792" y="5705856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외부 API 인벤토리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572000" y="5705856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캐시 테이블 · TTL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8229600" y="5705856"/>
            <a:ext cx="34107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2단계 보강 엔드포인트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548640" y="6309360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를 먼저 그렸다면 Agent 가 스키마에 맞춰졌을 것입니다. 순서를 지킨 대가로 근거 있는 설계를 얻습니다.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41A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23444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60" dirty="0">
                <a:solidFill>
                  <a:srgbClr val="0F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1572768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확정한 세 가지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313432"/>
            <a:ext cx="10424160" cy="0"/>
          </a:xfrm>
          <a:prstGeom prst="line">
            <a:avLst/>
          </a:prstGeom>
          <a:noFill/>
          <a:ln w="12700">
            <a:solidFill>
              <a:srgbClr val="2B35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548640" y="24231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0F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234440" y="2395728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역할 정의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5029200" y="244144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기획안 4종 → 설계 7종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234440" y="277063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CC5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책임 · 입력 · 출력 · 하지 않는 일까지 계약으로 고정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3364992"/>
            <a:ext cx="10424160" cy="0"/>
          </a:xfrm>
          <a:prstGeom prst="line">
            <a:avLst/>
          </a:prstGeom>
          <a:noFill/>
          <a:ln w="12700">
            <a:solidFill>
              <a:srgbClr val="2B35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548640" y="34747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395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234440" y="3447288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Workflow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5029200" y="349300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95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실행 흐름 · 7개 경로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1234440" y="382219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CC5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협업은 공유 State 로만. 정지와 재개가 구조로 성립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416552"/>
            <a:ext cx="10424160" cy="0"/>
          </a:xfrm>
          <a:prstGeom prst="line">
            <a:avLst/>
          </a:prstGeom>
          <a:noFill/>
          <a:ln w="12700">
            <a:solidFill>
              <a:srgbClr val="2B35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548640" y="45262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9C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234440" y="4498848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5029200" y="454456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9C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5개 구성요소 · 계층 계약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1234440" y="487375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CC5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 · FastAPI · LangGraph · PostgreSQL · 외부 API 의 관계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59436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 — 이 문서의 Agent 출력 채널과 Workflow 경계를 입력으로 DB 설계와 API 설계를 진행합니다.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6236208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근거 문서 — Achitecture_설계.pdf (MOBIDIC 서비스 기획안 · 하남경 · 2026-08-13)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327</TotalTime>
  <Words>3362</Words>
  <Application>Microsoft Office PowerPoint</Application>
  <PresentationFormat>와이드스크린</PresentationFormat>
  <Paragraphs>672</Paragraphs>
  <Slides>19</Slides>
  <Notes>19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3" baseType="lpstr">
      <vt:lpstr>Arial</vt:lpstr>
      <vt:lpstr>Calibri</vt:lpstr>
      <vt:lpstr>Cambria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MOBIDIC Architecture 설계서</dc:title>
  <dc:subject>PptxGenJS Presentation</dc:subject>
  <dc:creator>MOBIDIC Architecture</dc:creator>
  <cp:lastModifiedBy>ChaeUng Lim</cp:lastModifiedBy>
  <cp:revision>3</cp:revision>
  <dcterms:created xsi:type="dcterms:W3CDTF">2026-08-14T05:33:47Z</dcterms:created>
  <dcterms:modified xsi:type="dcterms:W3CDTF">2026-08-14T12:35:54Z</dcterms:modified>
</cp:coreProperties>
</file>