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389888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1755648"/>
            <a:ext cx="11128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MOBIDIC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30352" y="2359152"/>
            <a:ext cx="11128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설계서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30352" y="3163824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아카이브 기반 AI 문화생활 일정 · 동선 서비스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0352" y="3950208"/>
            <a:ext cx="3255264" cy="0"/>
          </a:xfrm>
          <a:prstGeom prst="line">
            <a:avLst/>
          </a:prstGeom>
          <a:noFill/>
          <a:ln w="19050">
            <a:solidFill>
              <a:srgbClr val="0F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4041648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0352" y="4261104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Responsibility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30352" y="459028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무엇을 하는가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87952" y="3950208"/>
            <a:ext cx="3255264" cy="0"/>
          </a:xfrm>
          <a:prstGeom prst="line">
            <a:avLst/>
          </a:prstGeom>
          <a:noFill/>
          <a:ln w="19050">
            <a:solidFill>
              <a:srgbClr val="0F6E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87952" y="4041648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87952" y="4261104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Workflow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187952" y="459028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협업하는가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45552" y="3950208"/>
            <a:ext cx="3255264" cy="0"/>
          </a:xfrm>
          <a:prstGeom prst="line">
            <a:avLst/>
          </a:prstGeom>
          <a:noFill/>
          <a:ln w="19050">
            <a:solidFill>
              <a:srgbClr val="A064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45552" y="4041648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845552" y="4261104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(C4)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845552" y="459028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실행되고 연결되는가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" y="5230368"/>
            <a:ext cx="11128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문서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52" y="5449824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3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culturemate/docs — ARCHITECTURE.md · FUNCTIONAL_MAP.md · PROGRESS.md · REQUIREMENTS.md · SETUP.md · STRUCTURE.md · 소스 의존 방향 재확인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READING GUIDE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Concern Layers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문서를 읽는 축 — 관심사 4계층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도 화면도 어댑터도 이 네 칸 중 하나에 놓입니다. 이후 모든 장이 같은 색을 씁니다.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" y="1773936"/>
            <a:ext cx="1112824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773936"/>
            <a:ext cx="1828800" cy="914400"/>
          </a:xfrm>
          <a:prstGeom prst="rect">
            <a:avLst/>
          </a:prstGeom>
          <a:solidFill>
            <a:srgbClr val="F3ECF4"/>
          </a:solidFill>
          <a:ln w="6350">
            <a:solidFill>
              <a:srgbClr val="F3EC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920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4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224942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7A4E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Native (Expo) 앱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78608" y="1920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사용자에게 보이고, 입력을 받는 것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25312" y="1920240"/>
            <a:ext cx="5550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· 지도 렌더링(선 그리기) · 확인 카드 · 오프라인 캐시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0352" y="2816352"/>
            <a:ext cx="1112824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816352"/>
            <a:ext cx="1828800" cy="914400"/>
          </a:xfrm>
          <a:prstGeom prst="rect">
            <a:avLst/>
          </a:prstGeom>
          <a:solidFill>
            <a:srgbClr val="E6F2F3"/>
          </a:solidFill>
          <a:ln w="6350">
            <a:solidFill>
              <a:srgbClr val="E6F2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9626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응용 (그래프)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" y="32918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그래프 · 조율 노드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78608" y="296265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언제 실행할지 조율하는 것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25312" y="2962656"/>
            <a:ext cx="5550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실행 순서 · 조건 분기 · 병렬 · 정지와 재개 · 상태 병합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0352" y="3858768"/>
            <a:ext cx="1112824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3858768"/>
            <a:ext cx="1828800" cy="914400"/>
          </a:xfrm>
          <a:prstGeom prst="rect">
            <a:avLst/>
          </a:prstGeom>
          <a:solidFill>
            <a:srgbClr val="E8EBF5"/>
          </a:solidFill>
          <a:ln w="6350">
            <a:solidFill>
              <a:srgbClr val="E8EB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40050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3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도메인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1792" y="43342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순수 계산 (외부 호출 없음)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78608" y="40050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서비스의 규칙 자체 — 외부를 모른다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25312" y="4005072"/>
            <a:ext cx="5550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편성 규칙 · 개인화 점수 · 지역 판정 · 검증 기준 · 도메인 모델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0352" y="4901184"/>
            <a:ext cx="1112824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4901184"/>
            <a:ext cx="1828800" cy="914400"/>
          </a:xfrm>
          <a:prstGeom prst="rect">
            <a:avLst/>
          </a:prstGeom>
          <a:solidFill>
            <a:srgbClr val="FBEEE0"/>
          </a:solidFill>
          <a:ln w="6350">
            <a:solidFill>
              <a:srgbClr val="FBEE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50474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06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인프라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1792" y="537667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· 도구 계층 · PostgreSQL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78608" y="504748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 세계와 닿는 모든 것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25312" y="5047488"/>
            <a:ext cx="5550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접수 · 외부 API 어댑터 · 저장소 · 모델 호출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572768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1920240"/>
            <a:ext cx="11128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Responsibility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30352" y="2670048"/>
            <a:ext cx="11128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무엇을 하는가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30352" y="3749040"/>
            <a:ext cx="3343656" cy="0"/>
          </a:xfrm>
          <a:prstGeom prst="line">
            <a:avLst/>
          </a:prstGeom>
          <a:noFill/>
          <a:ln w="19050">
            <a:solidFill>
              <a:srgbClr val="0F6E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840480"/>
            <a:ext cx="3343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책임 · 입출력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30352" y="4151376"/>
            <a:ext cx="3343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9종의 계약을 한 표로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39768" y="3749040"/>
            <a:ext cx="3343656" cy="0"/>
          </a:xfrm>
          <a:prstGeom prst="line">
            <a:avLst/>
          </a:prstGeom>
          <a:noFill/>
          <a:ln w="19050">
            <a:solidFill>
              <a:srgbClr val="0F6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39768" y="3840480"/>
            <a:ext cx="3343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관심사 배치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239768" y="4151376"/>
            <a:ext cx="3343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계층에 속하는가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49184" y="3749040"/>
            <a:ext cx="3343656" cy="0"/>
          </a:xfrm>
          <a:prstGeom prst="line">
            <a:avLst/>
          </a:prstGeom>
          <a:noFill/>
          <a:ln w="19050">
            <a:solidFill>
              <a:srgbClr val="0F6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49184" y="3840480"/>
            <a:ext cx="3343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기능 배치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949184" y="4151376"/>
            <a:ext cx="3343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요청하신 6가지 기능이 어디에 있는가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 · Agent Responsibility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Responsibility Matrix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9종 — 책임 · 입력 · 출력 · 관심사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Agent 는 «입력을 받아 정해진 산출물을 남긴다»는 계약만 지킵니다. 서로를 직접 호출하지 않습니다.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845552" y="1261872"/>
            <a:ext cx="100584" cy="100584"/>
          </a:xfrm>
          <a:prstGeom prst="ellipse">
            <a:avLst/>
          </a:prstGeom>
          <a:solidFill>
            <a:srgbClr val="7A4E7E"/>
          </a:solidFill>
          <a:ln/>
        </p:spPr>
      </p:sp>
      <p:sp>
        <p:nvSpPr>
          <p:cNvPr id="7" name="Text 5"/>
          <p:cNvSpPr/>
          <p:nvPr/>
        </p:nvSpPr>
        <p:spPr>
          <a:xfrm>
            <a:off x="7991856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814816" y="1261872"/>
            <a:ext cx="100584" cy="100584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0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784080" y="1261872"/>
            <a:ext cx="100584" cy="100584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11" name="Text 9"/>
          <p:cNvSpPr/>
          <p:nvPr/>
        </p:nvSpPr>
        <p:spPr>
          <a:xfrm>
            <a:off x="9930384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753344" y="1261872"/>
            <a:ext cx="100584" cy="100584"/>
          </a:xfrm>
          <a:prstGeom prst="ellipse">
            <a:avLst/>
          </a:prstGeom>
          <a:solidFill>
            <a:srgbClr val="A0641E"/>
          </a:solidFill>
          <a:ln/>
        </p:spPr>
      </p:sp>
      <p:sp>
        <p:nvSpPr>
          <p:cNvPr id="13" name="Text 11"/>
          <p:cNvSpPr/>
          <p:nvPr/>
        </p:nvSpPr>
        <p:spPr>
          <a:xfrm>
            <a:off x="10899648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0352" y="1810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14016" y="1810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 — 한 문장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59552" y="1810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28432" y="1810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80192" y="1810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0352" y="2084832"/>
            <a:ext cx="11128248" cy="402336"/>
          </a:xfrm>
          <a:prstGeom prst="rect">
            <a:avLst/>
          </a:prstGeom>
          <a:solidFill>
            <a:srgbClr val="F7F9FA"/>
          </a:solidFill>
          <a:ln w="6350">
            <a:solidFill>
              <a:srgbClr val="F7F9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2112264"/>
            <a:ext cx="1773936" cy="283464"/>
          </a:xfrm>
          <a:prstGeom prst="roundRect">
            <a:avLst>
              <a:gd name="adj" fmla="val 9677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112264"/>
            <a:ext cx="1773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</a:t>
            </a:r>
            <a:pPr algn="ctr" indent="0" marL="0">
              <a:buNone/>
            </a:pPr>
            <a:r>
              <a:rPr lang="en-US" sz="85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(A1)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14016" y="2084832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발화를 실행 계획으로 바꾼다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559552" y="2084832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발화 · 화면 입력값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28432" y="2084832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유형 · 실행 계획 · 여행 조건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80192" y="2084832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Classify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0352" y="2514600"/>
            <a:ext cx="1773936" cy="283464"/>
          </a:xfrm>
          <a:prstGeom prst="roundRect">
            <a:avLst>
              <a:gd name="adj" fmla="val 9677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2514600"/>
            <a:ext cx="1773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</a:t>
            </a:r>
            <a:pPr algn="ctr" indent="0" marL="0">
              <a:buNone/>
            </a:pPr>
            <a:r>
              <a:rPr lang="en-US" sz="85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(A2)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414016" y="2487168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기록에서 취향과 불편을 뽑는다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559552" y="2487168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· 여행 조건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28432" y="2487168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취향 프로필 · 과거 경험 조각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680192" y="2487168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Archive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0352" y="2889504"/>
            <a:ext cx="11128248" cy="402336"/>
          </a:xfrm>
          <a:prstGeom prst="rect">
            <a:avLst/>
          </a:prstGeom>
          <a:solidFill>
            <a:srgbClr val="F7F9FA"/>
          </a:solidFill>
          <a:ln w="6350">
            <a:solidFill>
              <a:srgbClr val="F7F9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0352" y="2916936"/>
            <a:ext cx="1773936" cy="283464"/>
          </a:xfrm>
          <a:prstGeom prst="roundRect">
            <a:avLst>
              <a:gd name="adj" fmla="val 9677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2916936"/>
            <a:ext cx="1773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Culture</a:t>
            </a:r>
            <a:pPr algn="ctr" indent="0" marL="0">
              <a:buNone/>
            </a:pPr>
            <a:r>
              <a:rPr lang="en-US" sz="85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(A3)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414016" y="2889504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조건에 맞는 장소 후보군을 만든다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59552" y="2889504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 조건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28432" y="2889504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후보 목록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680192" y="2889504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Discovery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0352" y="3319272"/>
            <a:ext cx="1773936" cy="283464"/>
          </a:xfrm>
          <a:prstGeom prst="roundRect">
            <a:avLst>
              <a:gd name="adj" fmla="val 9677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" y="3319272"/>
            <a:ext cx="1773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Verifier</a:t>
            </a:r>
            <a:pPr algn="ctr" indent="0" marL="0">
              <a:buNone/>
            </a:pPr>
            <a:r>
              <a:rPr lang="en-US" sz="85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(A4)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414016" y="3291840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후보가 실재하는지 공식정보로 가른다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559552" y="329184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후보 목록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028432" y="329184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등급 · 확인 근거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680192" y="329184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0352" y="3694176"/>
            <a:ext cx="11128248" cy="402336"/>
          </a:xfrm>
          <a:prstGeom prst="rect">
            <a:avLst/>
          </a:prstGeom>
          <a:solidFill>
            <a:srgbClr val="F7F9FA"/>
          </a:solidFill>
          <a:ln w="6350">
            <a:solidFill>
              <a:srgbClr val="F7F9F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0352" y="3721608"/>
            <a:ext cx="1773936" cy="283464"/>
          </a:xfrm>
          <a:prstGeom prst="roundRect">
            <a:avLst>
              <a:gd name="adj" fmla="val 9677"/>
            </a:avLst>
          </a:prstGeom>
          <a:solidFill>
            <a:srgbClr val="E8EBF5"/>
          </a:solidFill>
          <a:ln w="12700">
            <a:solidFill>
              <a:srgbClr val="2E437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" y="3721608"/>
            <a:ext cx="1773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</a:t>
            </a:r>
            <a:pPr algn="ctr" indent="0" marL="0">
              <a:buNone/>
            </a:pPr>
            <a:r>
              <a:rPr lang="en-US" sz="850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(A5)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414016" y="3694176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· 시각 · 체류시간을 확정한다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559552" y="3694176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· 취향 · 이동시간 · 날씨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028432" y="3694176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일정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680192" y="3694176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Itinerary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30352" y="4123944"/>
            <a:ext cx="1773936" cy="283464"/>
          </a:xfrm>
          <a:prstGeom prst="roundRect">
            <a:avLst>
              <a:gd name="adj" fmla="val 9677"/>
            </a:avLst>
          </a:prstGeom>
          <a:solidFill>
            <a:srgbClr val="E8EBF5"/>
          </a:solidFill>
          <a:ln w="12700">
            <a:solidFill>
              <a:srgbClr val="2E437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0352" y="4123944"/>
            <a:ext cx="1773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</a:t>
            </a:r>
            <a:pPr algn="ctr" indent="0" marL="0">
              <a:buNone/>
            </a:pPr>
            <a:r>
              <a:rPr lang="en-US" sz="850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(A6)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414016" y="4096512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이동시간과 수단을 확정한다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559552" y="4096512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확정된 일정 항목 · 선호 수단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028432" y="4096512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소요시간 · 거리 · 경로 선형 · 요금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680192" y="4096512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Routing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30352" y="4498848"/>
            <a:ext cx="11128248" cy="402336"/>
          </a:xfrm>
          <a:prstGeom prst="rect">
            <a:avLst/>
          </a:prstGeom>
          <a:solidFill>
            <a:srgbClr val="F7F9FA"/>
          </a:solidFill>
          <a:ln w="6350">
            <a:solidFill>
              <a:srgbClr val="F7F9F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0352" y="4526280"/>
            <a:ext cx="1773936" cy="283464"/>
          </a:xfrm>
          <a:prstGeom prst="roundRect">
            <a:avLst>
              <a:gd name="adj" fmla="val 9677"/>
            </a:avLst>
          </a:prstGeom>
          <a:solidFill>
            <a:srgbClr val="E8EBF5"/>
          </a:solidFill>
          <a:ln w="12700">
            <a:solidFill>
              <a:srgbClr val="2E437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0352" y="4526280"/>
            <a:ext cx="1773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Gap</a:t>
            </a:r>
            <a:pPr algn="ctr" indent="0" marL="0">
              <a:buNone/>
            </a:pPr>
            <a:r>
              <a:rPr lang="en-US" sz="850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(A7)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414016" y="4498848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식사 자리를 잡고 빈 시간을 채운다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559552" y="4498848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편성 중 일정 · 빈틈 · 기준 좌표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028432" y="4498848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 후보 · 삽입된 일정 항목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680192" y="4498848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Gap fill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30352" y="4928616"/>
            <a:ext cx="1773936" cy="283464"/>
          </a:xfrm>
          <a:prstGeom prst="roundRect">
            <a:avLst>
              <a:gd name="adj" fmla="val 9677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0352" y="4928616"/>
            <a:ext cx="1773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Guardian</a:t>
            </a:r>
            <a:pPr algn="ctr" indent="0" marL="0">
              <a:buNone/>
            </a:pPr>
            <a:r>
              <a:rPr lang="en-US" sz="85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(A8)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414016" y="4901184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결함을 찾아 «물을 것»을 고른다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559552" y="4901184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일정 · 과거 경험 조각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028432" y="4901184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 · 확인 카드 · 정지 신호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0680192" y="4901184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HITL 판정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30352" y="5303520"/>
            <a:ext cx="11128248" cy="402336"/>
          </a:xfrm>
          <a:prstGeom prst="rect">
            <a:avLst/>
          </a:prstGeom>
          <a:solidFill>
            <a:srgbClr val="F7F9FA"/>
          </a:solidFill>
          <a:ln w="6350">
            <a:solidFill>
              <a:srgbClr val="F7F9F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30352" y="5330952"/>
            <a:ext cx="1773936" cy="283464"/>
          </a:xfrm>
          <a:prstGeom prst="roundRect">
            <a:avLst>
              <a:gd name="adj" fmla="val 9677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0352" y="5330952"/>
            <a:ext cx="1773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</a:t>
            </a:r>
            <a:pPr algn="ctr" indent="0" marL="0">
              <a:buNone/>
            </a:pPr>
            <a:r>
              <a:rPr lang="en-US" sz="85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(A9)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2414016" y="5303520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행동에서 배울 것을 남긴다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5559552" y="53035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선택 · 일정 변경분 · 방문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8028432" y="530352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행동 기록 · 갱신된 취향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0680192" y="530352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Learn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 · Agent Responsibility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— A1 · A2 · A3 · A4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요청을 이해하고 재료를 모은다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 · A3 는 병렬로 실행되며 서로를 기다리지 않습니다.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" y="1700784"/>
            <a:ext cx="11128248" cy="978408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700784"/>
            <a:ext cx="2194560" cy="978408"/>
          </a:xfrm>
          <a:prstGeom prst="rect">
            <a:avLst/>
          </a:prstGeom>
          <a:solidFill>
            <a:srgbClr val="E6F2F3"/>
          </a:solidFill>
          <a:ln w="6350">
            <a:solidFill>
              <a:srgbClr val="E6F2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828800"/>
            <a:ext cx="1828800" cy="274320"/>
          </a:xfrm>
          <a:prstGeom prst="roundRect">
            <a:avLst>
              <a:gd name="adj" fmla="val 10000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</a:t>
            </a:r>
            <a:pPr algn="ctr" indent="0" marL="0">
              <a:buNone/>
            </a:pPr>
            <a:r>
              <a:rPr lang="en-US" sz="85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(A1)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1579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해석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89504" y="1792224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순서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42816" y="1792224"/>
            <a:ext cx="7196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추출 → (부족할 때만) LLM 보강 → 빈칸 메우기 → 화면값 덮기 → 좌표 확정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89504" y="2057400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42816" y="2057400"/>
            <a:ext cx="7196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한 말이 화면에 남은 이전 값을 이긴다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889504" y="2322576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42816" y="2322576"/>
            <a:ext cx="7196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이 실패해도 규칙 결과로 진행한다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0352" y="2798064"/>
            <a:ext cx="11128248" cy="978408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798064"/>
            <a:ext cx="2194560" cy="978408"/>
          </a:xfrm>
          <a:prstGeom prst="rect">
            <a:avLst/>
          </a:prstGeom>
          <a:solidFill>
            <a:srgbClr val="E6F2F3"/>
          </a:solidFill>
          <a:ln w="6350">
            <a:solidFill>
              <a:srgbClr val="E6F2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2926080"/>
            <a:ext cx="1828800" cy="274320"/>
          </a:xfrm>
          <a:prstGeom prst="roundRect">
            <a:avLst>
              <a:gd name="adj" fmla="val 10000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</a:t>
            </a:r>
            <a:pPr algn="ctr" indent="0" marL="0">
              <a:buNone/>
            </a:pPr>
            <a:r>
              <a:rPr lang="en-US" sz="85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(A2)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32552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경험 조회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89504" y="2889504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순서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42816" y="2889504"/>
            <a:ext cx="7196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검색어 갈래 생성 → 갈래별 병렬 검색 → 순위 융합 → 재순위 → 조각 추출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889504" y="3154680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42816" y="3154680"/>
            <a:ext cx="7196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기록에 가중치 · 불편은 별도 신호 · 카드는 만들지 않는다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889504" y="3419856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42816" y="3419856"/>
            <a:ext cx="7196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개인화만 꺼지고 일정은 성립한다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0352" y="3895344"/>
            <a:ext cx="11128248" cy="978408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3895344"/>
            <a:ext cx="2194560" cy="978408"/>
          </a:xfrm>
          <a:prstGeom prst="rect">
            <a:avLst/>
          </a:prstGeom>
          <a:solidFill>
            <a:srgbClr val="E6F2F3"/>
          </a:solidFill>
          <a:ln w="6350">
            <a:solidFill>
              <a:srgbClr val="E6F2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" y="4023360"/>
            <a:ext cx="1828800" cy="274320"/>
          </a:xfrm>
          <a:prstGeom prst="roundRect">
            <a:avLst>
              <a:gd name="adj" fmla="val 10000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Culture</a:t>
            </a:r>
            <a:pPr algn="ctr" indent="0" marL="0">
              <a:buNone/>
            </a:pPr>
            <a:r>
              <a:rPr lang="en-US" sz="85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(A3)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" y="43525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탐색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889504" y="3986784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순서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42816" y="3986784"/>
            <a:ext cx="7196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4소스 병렬 수집 → 중복 제거 → 시·도 판정 → 거리 상한 → 점수화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889504" y="4251960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42816" y="4251960"/>
            <a:ext cx="7196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좌표가 없으면 후보가 아니다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889504" y="4517136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242816" y="4517136"/>
            <a:ext cx="7196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내장 카탈로그가 받쳐 결과가 0건이 되지 않는다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30352" y="4992624"/>
            <a:ext cx="11128248" cy="978408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4992624"/>
            <a:ext cx="2194560" cy="978408"/>
          </a:xfrm>
          <a:prstGeom prst="rect">
            <a:avLst/>
          </a:prstGeom>
          <a:solidFill>
            <a:srgbClr val="E6F2F3"/>
          </a:solidFill>
          <a:ln w="6350">
            <a:solidFill>
              <a:srgbClr val="E6F2F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3232" y="5120640"/>
            <a:ext cx="1828800" cy="274320"/>
          </a:xfrm>
          <a:prstGeom prst="roundRect">
            <a:avLst>
              <a:gd name="adj" fmla="val 10000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" y="5120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Verifier</a:t>
            </a:r>
            <a:pPr algn="ctr" indent="0" marL="0">
              <a:buNone/>
            </a:pPr>
            <a:r>
              <a:rPr lang="en-US" sz="85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(A4)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3232" y="54498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공식정보 대조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889504" y="5084064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순서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42816" y="5084064"/>
            <a:ext cx="7196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대상 선별 → 병렬 대조 → 확인 · 확인 필요 · 제외 3분류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889504" y="5349240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242816" y="5349240"/>
            <a:ext cx="7196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모르면 버리지 않고 «확인 필요»로 남긴다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889504" y="5614416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242816" y="5614416"/>
            <a:ext cx="7196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«확인 필요»로 표시되고 일정은 성립한다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 · Agent Responsibility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— A5 · A6 · A7 · A8 · A9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하루를 만들고, 검증하고, 배운다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 · A6 · A7 은 외부 호출 없이 계산만 합니다 — 그래서 도메인입니다.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" y="1700784"/>
            <a:ext cx="11128248" cy="753466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700784"/>
            <a:ext cx="2194560" cy="753466"/>
          </a:xfrm>
          <a:prstGeom prst="rect">
            <a:avLst/>
          </a:prstGeom>
          <a:solidFill>
            <a:srgbClr val="E8EBF5"/>
          </a:solidFill>
          <a:ln w="6350">
            <a:solidFill>
              <a:srgbClr val="E8EB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828800"/>
            <a:ext cx="1828800" cy="274320"/>
          </a:xfrm>
          <a:prstGeom prst="roundRect">
            <a:avLst>
              <a:gd name="adj" fmla="val 10000"/>
            </a:avLst>
          </a:prstGeom>
          <a:solidFill>
            <a:srgbClr val="E8EBF5"/>
          </a:solidFill>
          <a:ln w="12700">
            <a:solidFill>
              <a:srgbClr val="2E43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</a:t>
            </a:r>
            <a:pPr algn="ctr" indent="0" marL="0">
              <a:buNone/>
            </a:pPr>
            <a:r>
              <a:rPr lang="en-US" sz="850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(A5)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1579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시간표 계산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89504" y="1792224"/>
            <a:ext cx="132588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순서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42816" y="1792224"/>
            <a:ext cx="719632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 지정 항목 먼저 → 남는 시간 채우기 → 실측 반영해 시각 재계산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89504" y="1982419"/>
            <a:ext cx="132588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42816" y="1982419"/>
            <a:ext cx="719632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잡아 둔 약속은 옮기지 않는다 · LLM 을 쓰지 않는다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889504" y="2172614"/>
            <a:ext cx="132588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42816" y="2172614"/>
            <a:ext cx="719632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일정을 준다 — 갈 수 없는 일정을 남기지 않는다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0352" y="2573122"/>
            <a:ext cx="11128248" cy="753466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573122"/>
            <a:ext cx="2194560" cy="753466"/>
          </a:xfrm>
          <a:prstGeom prst="rect">
            <a:avLst/>
          </a:prstGeom>
          <a:solidFill>
            <a:srgbClr val="E8EBF5"/>
          </a:solidFill>
          <a:ln w="6350">
            <a:solidFill>
              <a:srgbClr val="E8EB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2701138"/>
            <a:ext cx="1828800" cy="274320"/>
          </a:xfrm>
          <a:prstGeom prst="roundRect">
            <a:avLst>
              <a:gd name="adj" fmla="val 10000"/>
            </a:avLst>
          </a:prstGeom>
          <a:solidFill>
            <a:srgbClr val="E8EBF5"/>
          </a:solidFill>
          <a:ln w="12700">
            <a:solidFill>
              <a:srgbClr val="2E43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270113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</a:t>
            </a:r>
            <a:pPr algn="ctr" indent="0" marL="0">
              <a:buNone/>
            </a:pPr>
            <a:r>
              <a:rPr lang="en-US" sz="850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(A6)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303032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계산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89504" y="2664562"/>
            <a:ext cx="132588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순서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42816" y="2664562"/>
            <a:ext cx="719632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수단별 측정 요청 → 주차 · 환승 부담 환산 → 최선 선택 → 경로 축약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889504" y="2854757"/>
            <a:ext cx="132588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42816" y="2854757"/>
            <a:ext cx="719632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수단을 명시하면 바꾸지 않는다 · 방문 순서는 건드리지 않는다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889504" y="3044952"/>
            <a:ext cx="132588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42816" y="3044952"/>
            <a:ext cx="719632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기반 추정 + «추정» 표시를 남긴다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0352" y="3445459"/>
            <a:ext cx="11128248" cy="753466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3445459"/>
            <a:ext cx="2194560" cy="753466"/>
          </a:xfrm>
          <a:prstGeom prst="rect">
            <a:avLst/>
          </a:prstGeom>
          <a:solidFill>
            <a:srgbClr val="E8EBF5"/>
          </a:solidFill>
          <a:ln w="6350">
            <a:solidFill>
              <a:srgbClr val="E8EB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" y="3573475"/>
            <a:ext cx="1828800" cy="274320"/>
          </a:xfrm>
          <a:prstGeom prst="roundRect">
            <a:avLst>
              <a:gd name="adj" fmla="val 10000"/>
            </a:avLst>
          </a:prstGeom>
          <a:solidFill>
            <a:srgbClr val="E8EBF5"/>
          </a:solidFill>
          <a:ln w="12700">
            <a:solidFill>
              <a:srgbClr val="2E437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357347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Gap</a:t>
            </a:r>
            <a:pPr algn="ctr" indent="0" marL="0">
              <a:buNone/>
            </a:pPr>
            <a:r>
              <a:rPr lang="en-US" sz="850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(A7)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" y="3902659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빈틈 채우기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889504" y="3536899"/>
            <a:ext cx="132588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순서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42816" y="3536899"/>
            <a:ext cx="719632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빈틈 판정 → 빈틈 × 종류로 팬아웃 → 재순위 → 삽입 → 시각 재계산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889504" y="3727094"/>
            <a:ext cx="132588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42816" y="3727094"/>
            <a:ext cx="719632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빈틈 = 유휴 40분↑ · 종료 후 60분↑ · 첫 일정 앞 · 반경은 남은 시간에 비례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889504" y="3917290"/>
            <a:ext cx="132588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242816" y="3917290"/>
            <a:ext cx="719632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빈틈이 빈 채로 남을 뿐 일정은 성립한다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30352" y="4317797"/>
            <a:ext cx="11128248" cy="753466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4317797"/>
            <a:ext cx="2194560" cy="753466"/>
          </a:xfrm>
          <a:prstGeom prst="rect">
            <a:avLst/>
          </a:prstGeom>
          <a:solidFill>
            <a:srgbClr val="E6F2F3"/>
          </a:solidFill>
          <a:ln w="6350">
            <a:solidFill>
              <a:srgbClr val="E6F2F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3232" y="4445813"/>
            <a:ext cx="1828800" cy="274320"/>
          </a:xfrm>
          <a:prstGeom prst="roundRect">
            <a:avLst>
              <a:gd name="adj" fmla="val 10000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" y="4445813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Guardian</a:t>
            </a:r>
            <a:pPr algn="ctr" indent="0" marL="0">
              <a:buNone/>
            </a:pPr>
            <a:r>
              <a:rPr lang="en-US" sz="85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(A8)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3232" y="4774997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확인 판정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889504" y="4409237"/>
            <a:ext cx="132588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6종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42816" y="4409237"/>
            <a:ext cx="719632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운영시간 / 이동 가능 / 시각 중복 / 악천후 야외 / 재방문 변경점 / 과거 불편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889504" y="4599432"/>
            <a:ext cx="132588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242816" y="4599432"/>
            <a:ext cx="719632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고칠 수 있으면 묻지 않는다 — 물음이 잦으면 읽지 않는다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889504" y="4789627"/>
            <a:ext cx="132588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242816" y="4789627"/>
            <a:ext cx="719632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카드 없이 확정 — «확인 필요» 표시만 남는다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30352" y="5190134"/>
            <a:ext cx="11128248" cy="753466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0352" y="5190134"/>
            <a:ext cx="2194560" cy="753466"/>
          </a:xfrm>
          <a:prstGeom prst="rect">
            <a:avLst/>
          </a:prstGeom>
          <a:solidFill>
            <a:srgbClr val="E6F2F3"/>
          </a:solidFill>
          <a:ln w="6350">
            <a:solidFill>
              <a:srgbClr val="E6F2F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3232" y="5318150"/>
            <a:ext cx="1828800" cy="274320"/>
          </a:xfrm>
          <a:prstGeom prst="roundRect">
            <a:avLst>
              <a:gd name="adj" fmla="val 10000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" y="531815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</a:t>
            </a:r>
            <a:pPr algn="ctr" indent="0" marL="0">
              <a:buNone/>
            </a:pPr>
            <a:r>
              <a:rPr lang="en-US" sz="85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(A9)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13232" y="564733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· 학습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889504" y="5281574"/>
            <a:ext cx="132588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순서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242816" y="5281574"/>
            <a:ext cx="719632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선택과 변경분을 신호로 추출 → 수정 행동 저장 → 취향 재집계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889504" y="5471770"/>
            <a:ext cx="132588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242816" y="5471770"/>
            <a:ext cx="719632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확정된 뒤에만 배운다 · «그대로 진행»은 신호로 세지 않는다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889504" y="5661965"/>
            <a:ext cx="132588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242816" y="5661965"/>
            <a:ext cx="719632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학습만 건너뛰고 응답은 정상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 · Agent Responsibility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 Placement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기능은 어디에 있는가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질문으로 주신 여섯 가지가 각각 어느 계층 · 어느 Agent 에 놓이는지 못 박습니다.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845552" y="1261872"/>
            <a:ext cx="100584" cy="100584"/>
          </a:xfrm>
          <a:prstGeom prst="ellipse">
            <a:avLst/>
          </a:prstGeom>
          <a:solidFill>
            <a:srgbClr val="7A4E7E"/>
          </a:solidFill>
          <a:ln/>
        </p:spPr>
      </p:sp>
      <p:sp>
        <p:nvSpPr>
          <p:cNvPr id="7" name="Text 5"/>
          <p:cNvSpPr/>
          <p:nvPr/>
        </p:nvSpPr>
        <p:spPr>
          <a:xfrm>
            <a:off x="7991856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814816" y="1261872"/>
            <a:ext cx="100584" cy="100584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0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784080" y="1261872"/>
            <a:ext cx="100584" cy="100584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11" name="Text 9"/>
          <p:cNvSpPr/>
          <p:nvPr/>
        </p:nvSpPr>
        <p:spPr>
          <a:xfrm>
            <a:off x="9930384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753344" y="1261872"/>
            <a:ext cx="100584" cy="100584"/>
          </a:xfrm>
          <a:prstGeom prst="ellipse">
            <a:avLst/>
          </a:prstGeom>
          <a:solidFill>
            <a:srgbClr val="A0641E"/>
          </a:solidFill>
          <a:ln/>
        </p:spPr>
      </p:sp>
      <p:sp>
        <p:nvSpPr>
          <p:cNvPr id="13" name="Text 11"/>
          <p:cNvSpPr/>
          <p:nvPr/>
        </p:nvSpPr>
        <p:spPr>
          <a:xfrm>
            <a:off x="10899648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0352" y="1773936"/>
            <a:ext cx="11128248" cy="713232"/>
          </a:xfrm>
          <a:prstGeom prst="roundRect">
            <a:avLst>
              <a:gd name="adj" fmla="val 5128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1773936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 · 요청 이해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33472" y="1993392"/>
            <a:ext cx="1133856" cy="274320"/>
          </a:xfrm>
          <a:prstGeom prst="roundRect">
            <a:avLst>
              <a:gd name="adj" fmla="val 10000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33472" y="199339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913632" y="177393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Router(A1)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91072" y="1773936"/>
            <a:ext cx="5184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발화에서 조건을 뽑고 좌표까지 확정한다. 좌표 확정을 여기서 하는 이유 — 위치 해석은 «요청 이해»지 «장소 찾기»가 아니다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0352" y="2560320"/>
            <a:ext cx="11128248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256032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경험 조회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33472" y="2779776"/>
            <a:ext cx="1133856" cy="274320"/>
          </a:xfrm>
          <a:prstGeom prst="roundRect">
            <a:avLst>
              <a:gd name="adj" fmla="val 10000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33472" y="2779776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913632" y="256032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Preference(A2)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91072" y="2560320"/>
            <a:ext cx="5184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갈래별 검색 → 순위 융합 → 재순위. 저장소 조회 자체는 인프라가 하고, A2 는 «무엇을 꺼낼지»를 정한다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30352" y="3346704"/>
            <a:ext cx="11128248" cy="713232"/>
          </a:xfrm>
          <a:prstGeom prst="roundRect">
            <a:avLst>
              <a:gd name="adj" fmla="val 5128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334670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시간표 계산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33472" y="3566160"/>
            <a:ext cx="1133856" cy="274320"/>
          </a:xfrm>
          <a:prstGeom prst="roundRect">
            <a:avLst>
              <a:gd name="adj" fmla="val 10000"/>
            </a:avLst>
          </a:prstGeom>
          <a:solidFill>
            <a:srgbClr val="E8EBF5"/>
          </a:solidFill>
          <a:ln w="12700">
            <a:solidFill>
              <a:srgbClr val="2E437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33472" y="356616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913632" y="334670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Planner(A5) · Gap(A7)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91072" y="3346704"/>
            <a:ext cx="5184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· 도착 · 출발 · 체류시간을 정한다. 외부 호출 없이 계산만 하므로 도메인이다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0352" y="4133088"/>
            <a:ext cx="11128248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413308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확인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633472" y="4352544"/>
            <a:ext cx="1133856" cy="274320"/>
          </a:xfrm>
          <a:prstGeom prst="roundRect">
            <a:avLst>
              <a:gd name="adj" fmla="val 10000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33472" y="4352544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913632" y="413308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Guardian(A8) → 조율 노드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91072" y="4133088"/>
            <a:ext cx="5184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A8 이 «물을 것»을 고르고, 그래프가 정지 · 상태 저장 · 재개를 맡는다. 판정과 정지는 다른 일이다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0352" y="4919472"/>
            <a:ext cx="11128248" cy="713232"/>
          </a:xfrm>
          <a:prstGeom prst="roundRect">
            <a:avLst>
              <a:gd name="adj" fmla="val 5128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491947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선 그리기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633472" y="5138928"/>
            <a:ext cx="1133856" cy="274320"/>
          </a:xfrm>
          <a:prstGeom prst="roundRect">
            <a:avLst>
              <a:gd name="adj" fmla="val 10000"/>
            </a:avLst>
          </a:prstGeom>
          <a:solidFill>
            <a:srgbClr val="F3ECF4"/>
          </a:solidFill>
          <a:ln w="12700">
            <a:solidFill>
              <a:srgbClr val="7A4E7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33472" y="513892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4E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913632" y="491947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4E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Native 앱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291072" y="4919472"/>
            <a:ext cx="5184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서버는 지도 공급자를 모른다 — 좌표만 내려주고 선은 앱이 그린다. 공급자를 바꿔도 서버 계약은 불변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30352" y="5705856"/>
            <a:ext cx="11128248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9808" y="5705856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NAVER · ORS 호출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633472" y="5925312"/>
            <a:ext cx="1133856" cy="274320"/>
          </a:xfrm>
          <a:prstGeom prst="roundRect">
            <a:avLst>
              <a:gd name="adj" fmla="val 10000"/>
            </a:avLst>
          </a:prstGeom>
          <a:solidFill>
            <a:srgbClr val="FBEEE0"/>
          </a:solidFill>
          <a:ln w="12700">
            <a:solidFill>
              <a:srgbClr val="A0641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33472" y="592531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913632" y="570585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계층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291072" y="5705856"/>
            <a:ext cx="5184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는 직접 부르지 않는다. 타임아웃 · 캐시 · 폴백 · 응답 정규화를 도구 계층이 흡수한다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572768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1920240"/>
            <a:ext cx="11128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Workflow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30352" y="2670048"/>
            <a:ext cx="11128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협업하는가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30352" y="3749040"/>
            <a:ext cx="3343656" cy="0"/>
          </a:xfrm>
          <a:prstGeom prst="line">
            <a:avLst/>
          </a:prstGeom>
          <a:noFill/>
          <a:ln w="19050">
            <a:solidFill>
              <a:srgbClr val="0F6E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840480"/>
            <a:ext cx="3343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실행 순서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30352" y="4151376"/>
            <a:ext cx="3343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1건이 지나가는 전체 경로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39768" y="3749040"/>
            <a:ext cx="3343656" cy="0"/>
          </a:xfrm>
          <a:prstGeom prst="line">
            <a:avLst/>
          </a:prstGeom>
          <a:noFill/>
          <a:ln w="19050">
            <a:solidFill>
              <a:srgbClr val="0F6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39768" y="3840480"/>
            <a:ext cx="3343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흐름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239768" y="4151376"/>
            <a:ext cx="3343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출력이 다음 입력이 되는가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49184" y="3749040"/>
            <a:ext cx="3343656" cy="0"/>
          </a:xfrm>
          <a:prstGeom prst="line">
            <a:avLst/>
          </a:prstGeom>
          <a:noFill/>
          <a:ln w="19050">
            <a:solidFill>
              <a:srgbClr val="0F6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49184" y="3840480"/>
            <a:ext cx="3343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분기 · 병렬 · 정지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949184" y="4151376"/>
            <a:ext cx="3343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분기와 사람 개입 지점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 · Agent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Execution Order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요청 1건이 지나가는 순서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번호가 실행 순서입니다. 같은 번호는 동시에 실행됩니다.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845552" y="1261872"/>
            <a:ext cx="100584" cy="100584"/>
          </a:xfrm>
          <a:prstGeom prst="ellipse">
            <a:avLst/>
          </a:prstGeom>
          <a:solidFill>
            <a:srgbClr val="7A4E7E"/>
          </a:solidFill>
          <a:ln/>
        </p:spPr>
      </p:sp>
      <p:sp>
        <p:nvSpPr>
          <p:cNvPr id="7" name="Text 5"/>
          <p:cNvSpPr/>
          <p:nvPr/>
        </p:nvSpPr>
        <p:spPr>
          <a:xfrm>
            <a:off x="7991856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814816" y="1261872"/>
            <a:ext cx="100584" cy="100584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0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784080" y="1261872"/>
            <a:ext cx="100584" cy="100584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11" name="Text 9"/>
          <p:cNvSpPr/>
          <p:nvPr/>
        </p:nvSpPr>
        <p:spPr>
          <a:xfrm>
            <a:off x="9930384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753344" y="1261872"/>
            <a:ext cx="100584" cy="100584"/>
          </a:xfrm>
          <a:prstGeom prst="ellipse">
            <a:avLst/>
          </a:prstGeom>
          <a:solidFill>
            <a:srgbClr val="A0641E"/>
          </a:solidFill>
          <a:ln/>
        </p:spPr>
      </p:sp>
      <p:sp>
        <p:nvSpPr>
          <p:cNvPr id="13" name="Text 11"/>
          <p:cNvSpPr/>
          <p:nvPr/>
        </p:nvSpPr>
        <p:spPr>
          <a:xfrm>
            <a:off x="10899648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13232" y="1792224"/>
            <a:ext cx="2103120" cy="566928"/>
          </a:xfrm>
          <a:prstGeom prst="roundRect">
            <a:avLst>
              <a:gd name="adj" fmla="val 6452"/>
            </a:avLst>
          </a:prstGeom>
          <a:solidFill>
            <a:srgbClr val="F3ECF4"/>
          </a:solidFill>
          <a:ln w="12700">
            <a:solidFill>
              <a:srgbClr val="7A4E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18379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4E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→ API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68096" y="207568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전송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4360" y="1673352"/>
            <a:ext cx="292608" cy="292608"/>
          </a:xfrm>
          <a:prstGeom prst="ellipse">
            <a:avLst/>
          </a:prstGeom>
          <a:solidFill>
            <a:srgbClr val="7A4E7E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1673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07792" y="2075688"/>
            <a:ext cx="292608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319272" y="1792224"/>
            <a:ext cx="2377440" cy="566928"/>
          </a:xfrm>
          <a:prstGeom prst="roundRect">
            <a:avLst>
              <a:gd name="adj" fmla="val 6452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9272" y="18379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Router(A1)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74136" y="2075688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· 실행 계획 확정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0" y="1673352"/>
            <a:ext cx="292608" cy="292608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0" y="1673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788152" y="2075688"/>
            <a:ext cx="292608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199632" y="1463040"/>
            <a:ext cx="2651760" cy="566928"/>
          </a:xfrm>
          <a:prstGeom prst="roundRect">
            <a:avLst>
              <a:gd name="adj" fmla="val 6452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1508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Preference(A2)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54496" y="174650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경험 조회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080760" y="1344168"/>
            <a:ext cx="292608" cy="292608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30" name="Text 28"/>
          <p:cNvSpPr/>
          <p:nvPr/>
        </p:nvSpPr>
        <p:spPr>
          <a:xfrm>
            <a:off x="6080760" y="1344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99632" y="2157984"/>
            <a:ext cx="2651760" cy="566928"/>
          </a:xfrm>
          <a:prstGeom prst="roundRect">
            <a:avLst>
              <a:gd name="adj" fmla="val 6452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22037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Culture(A3) → Verifier(A4)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54496" y="244144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탐색 · 공식정보 대조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80760" y="2039112"/>
            <a:ext cx="292608" cy="292608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35" name="Text 33"/>
          <p:cNvSpPr/>
          <p:nvPr/>
        </p:nvSpPr>
        <p:spPr>
          <a:xfrm>
            <a:off x="6080760" y="2039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754112" y="184708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실행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942832" y="2075688"/>
            <a:ext cx="274320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354312" y="1792224"/>
            <a:ext cx="2194560" cy="566928"/>
          </a:xfrm>
          <a:prstGeom prst="roundRect">
            <a:avLst>
              <a:gd name="adj" fmla="val 6452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54312" y="18379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 합류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409176" y="2075688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상태 통합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9235440" y="1673352"/>
            <a:ext cx="292608" cy="292608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42" name="Text 40"/>
          <p:cNvSpPr/>
          <p:nvPr/>
        </p:nvSpPr>
        <p:spPr>
          <a:xfrm>
            <a:off x="9235440" y="1673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0940796" y="2359152"/>
            <a:ext cx="0" cy="45720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353312" y="2816352"/>
            <a:ext cx="9756648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53312" y="2816352"/>
            <a:ext cx="0" cy="256032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13232" y="3072384"/>
            <a:ext cx="3108960" cy="566928"/>
          </a:xfrm>
          <a:prstGeom prst="roundRect">
            <a:avLst>
              <a:gd name="adj" fmla="val 6452"/>
            </a:avLst>
          </a:prstGeom>
          <a:solidFill>
            <a:srgbClr val="E8EBF5"/>
          </a:solidFill>
          <a:ln w="12700">
            <a:solidFill>
              <a:srgbClr val="2E437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" y="3118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Planner(A5) · Route(A6) · Gap(A7)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68096" y="3355848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· 시각 · 이동 · 빈틈 — 하루를 만든다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94360" y="2953512"/>
            <a:ext cx="292608" cy="292608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50" name="Text 48"/>
          <p:cNvSpPr/>
          <p:nvPr/>
        </p:nvSpPr>
        <p:spPr>
          <a:xfrm>
            <a:off x="594360" y="2953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913632" y="3355848"/>
            <a:ext cx="292608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4325112" y="3072384"/>
            <a:ext cx="2286000" cy="566928"/>
          </a:xfrm>
          <a:prstGeom prst="roundRect">
            <a:avLst>
              <a:gd name="adj" fmla="val 6452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25112" y="31181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Guardian(A8)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379976" y="3355848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 6종 검사 → 분류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206240" y="2953512"/>
            <a:ext cx="292608" cy="292608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56" name="Text 54"/>
          <p:cNvSpPr/>
          <p:nvPr/>
        </p:nvSpPr>
        <p:spPr>
          <a:xfrm>
            <a:off x="4206240" y="2953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702552" y="3355848"/>
            <a:ext cx="292608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7114032" y="3072384"/>
            <a:ext cx="1371600" cy="566928"/>
          </a:xfrm>
          <a:prstGeom prst="roundRect">
            <a:avLst>
              <a:gd name="adj" fmla="val 6452"/>
            </a:avLst>
          </a:prstGeom>
          <a:solidFill>
            <a:srgbClr val="F7F9FA"/>
          </a:solidFill>
          <a:ln w="12700">
            <a:solidFill>
              <a:srgbClr val="8A929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14032" y="307238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필요?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577072" y="3355848"/>
            <a:ext cx="274320" cy="0"/>
          </a:xfrm>
          <a:prstGeom prst="line">
            <a:avLst/>
          </a:prstGeom>
          <a:noFill/>
          <a:ln w="15875">
            <a:solidFill>
              <a:srgbClr val="A0641E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8942832" y="3072384"/>
            <a:ext cx="2606040" cy="566928"/>
          </a:xfrm>
          <a:prstGeom prst="roundRect">
            <a:avLst>
              <a:gd name="adj" fmla="val 6452"/>
            </a:avLst>
          </a:prstGeom>
          <a:solidFill>
            <a:srgbClr val="F3ECF4"/>
          </a:solidFill>
          <a:ln w="12700">
            <a:solidFill>
              <a:srgbClr val="7A4E7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942832" y="311810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4E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 · 사용자 확인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8997696" y="3355848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선택을 받는다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8823960" y="2953512"/>
            <a:ext cx="292608" cy="292608"/>
          </a:xfrm>
          <a:prstGeom prst="ellipse">
            <a:avLst/>
          </a:prstGeom>
          <a:solidFill>
            <a:srgbClr val="7A4E7E"/>
          </a:solidFill>
          <a:ln/>
        </p:spPr>
      </p:sp>
      <p:sp>
        <p:nvSpPr>
          <p:cNvPr id="65" name="Text 63"/>
          <p:cNvSpPr/>
          <p:nvPr/>
        </p:nvSpPr>
        <p:spPr>
          <a:xfrm>
            <a:off x="8823960" y="2953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7799832" y="3639312"/>
            <a:ext cx="0" cy="493776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856232" y="4133088"/>
            <a:ext cx="5943600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856232" y="4133088"/>
            <a:ext cx="0" cy="146304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7891272" y="41696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없음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10222992" y="3639312"/>
            <a:ext cx="0" cy="201168"/>
          </a:xfrm>
          <a:prstGeom prst="line">
            <a:avLst/>
          </a:prstGeom>
          <a:noFill/>
          <a:ln w="15875">
            <a:solidFill>
              <a:srgbClr val="A0641E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2862072" y="3840480"/>
            <a:ext cx="7360920" cy="0"/>
          </a:xfrm>
          <a:prstGeom prst="line">
            <a:avLst/>
          </a:prstGeom>
          <a:noFill/>
          <a:ln w="15875">
            <a:solidFill>
              <a:srgbClr val="A0641E"/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2862072" y="3639312"/>
            <a:ext cx="0" cy="201168"/>
          </a:xfrm>
          <a:prstGeom prst="line">
            <a:avLst/>
          </a:prstGeom>
          <a:noFill/>
          <a:ln w="15875">
            <a:solidFill>
              <a:srgbClr val="A0641E"/>
            </a:solidFill>
            <a:prstDash val="dash"/>
            <a:headEnd type="triangle"/>
          </a:ln>
        </p:spPr>
      </p:sp>
      <p:sp>
        <p:nvSpPr>
          <p:cNvPr id="73" name="Text 71"/>
          <p:cNvSpPr/>
          <p:nvPr/>
        </p:nvSpPr>
        <p:spPr>
          <a:xfrm>
            <a:off x="3044952" y="385876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변경을 골랐으면 → 5 로 되돌아가 재편성 (횟수 제한)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13232" y="4279392"/>
            <a:ext cx="3108960" cy="566928"/>
          </a:xfrm>
          <a:prstGeom prst="roundRect">
            <a:avLst>
              <a:gd name="adj" fmla="val 6452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13232" y="43251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→ Memory(A9)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768096" y="4562856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행동 기록 · 취향 재집계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594360" y="4160520"/>
            <a:ext cx="292608" cy="292608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78" name="Text 76"/>
          <p:cNvSpPr/>
          <p:nvPr/>
        </p:nvSpPr>
        <p:spPr>
          <a:xfrm>
            <a:off x="59436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913632" y="4562856"/>
            <a:ext cx="292608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4325112" y="4279392"/>
            <a:ext cx="2286000" cy="566928"/>
          </a:xfrm>
          <a:prstGeom prst="roundRect">
            <a:avLst>
              <a:gd name="adj" fmla="val 6452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25112" y="43251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구성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4379976" y="4562856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함께 담는다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4206240" y="4160520"/>
            <a:ext cx="292608" cy="292608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84" name="Text 82"/>
          <p:cNvSpPr/>
          <p:nvPr/>
        </p:nvSpPr>
        <p:spPr>
          <a:xfrm>
            <a:off x="420624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6702552" y="4562856"/>
            <a:ext cx="292608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7114032" y="4279392"/>
            <a:ext cx="2286000" cy="566928"/>
          </a:xfrm>
          <a:prstGeom prst="roundRect">
            <a:avLst>
              <a:gd name="adj" fmla="val 6452"/>
            </a:avLst>
          </a:prstGeom>
          <a:solidFill>
            <a:srgbClr val="F3ECF4"/>
          </a:solidFill>
          <a:ln w="12700">
            <a:solidFill>
              <a:srgbClr val="7A4E7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114032" y="43251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4E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표시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7168896" y="4562856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타임라인 · 지도 · 카드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6995160" y="4160520"/>
            <a:ext cx="292608" cy="292608"/>
          </a:xfrm>
          <a:prstGeom prst="ellipse">
            <a:avLst/>
          </a:prstGeom>
          <a:solidFill>
            <a:srgbClr val="7A4E7E"/>
          </a:solidFill>
          <a:ln/>
        </p:spPr>
      </p:sp>
      <p:sp>
        <p:nvSpPr>
          <p:cNvPr id="90" name="Text 88"/>
          <p:cNvSpPr/>
          <p:nvPr/>
        </p:nvSpPr>
        <p:spPr>
          <a:xfrm>
            <a:off x="699516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9582912" y="43708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보강 — 화면이 그려진 뒤 실제 경로 좌표와 공식정보 검증을 채운다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 · Agent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어떤 출력이 다음 Agent 의 입력이 되는가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는 서로를 호출하지 않습니다. 공유 상태에 남긴 산출물을 다음 Agent 가 읽어 갑니다.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1737360"/>
          <a:ext cx="11128248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651760"/>
                <a:gridCol w="1828800"/>
                <a:gridCol w="4636008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공유 상태 채널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쪽 →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← 읽는 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무엇이 담기는가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여행 조건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Router(A1)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A2 A3 A5 A7 A8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· 날짜 · 시각 · 이동수단 · 좌표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취향 프로필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Preference(A2) · Memory(A9)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A3 A5 A7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카테고리 선호 · 실내 성향 · 평균 체류 · 불편 민감도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과거 경험 조각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Preference(A2)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A5 A8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요청과 관련된 지난 방문 · 불편 기록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장소 후보 목록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Culture(A3) · Verifier(A4)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A5 A7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좌표 · 운영시간 · 주차 · 신뢰 등급을 갖춘 후보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일정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Planner(A5) · Gap(A7)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A6 A8 A9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 · 도착 · 출발 · 체류시간이 정해진 하루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구간 이동 정보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Route(A6)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A5 응답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소요시간 · 거리 · 경로 선형 · 요금 · 수단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결함 · 확인 카드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Guardian(A8)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A5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검사 결과와 사용자에게 물을 선택지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선택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(UI)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A5 A9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카드에서 고른 옵션 — 재편성과 학습의 입력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이렇게 됐는지의 조각 — 화면의 «기록 근거»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30352" y="5705856"/>
            <a:ext cx="11128248" cy="658368"/>
          </a:xfrm>
          <a:prstGeom prst="roundRect">
            <a:avLst>
              <a:gd name="adj" fmla="val 5556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705856"/>
            <a:ext cx="10543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합류 규칙 — </a:t>
            </a:r>
            <a:pPr indent="0" marL="0"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갈래가 같은 채널에 쓰므로 단순히 이어 붙이면 합류마다 목록이 불어납니다. 식별자로 묶어 덮어쓰기 때문에 몇 번을 합쳐도 결과가 같습니다.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 · Agent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Branching · Parallel · HITL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조건 분기 · 병렬 실행 · 사람 개입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가지가 이 워크플로를 «필요한 만큼만 돌고, 필요할 때 멈추는» 것으로 만듭니다.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" y="1773936"/>
            <a:ext cx="11128248" cy="1316736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773936"/>
            <a:ext cx="1920240" cy="1316736"/>
          </a:xfrm>
          <a:prstGeom prst="rect">
            <a:avLst/>
          </a:prstGeom>
          <a:solidFill>
            <a:srgbClr val="E6F2F3"/>
          </a:solidFill>
          <a:ln w="6350">
            <a:solidFill>
              <a:srgbClr val="E6F2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9202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조건 분기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0352" y="22860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70048" y="1901952"/>
            <a:ext cx="8750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유형이 실행 계획을 만들고, 계획에 켜진 Agent 만 깨운다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70048" y="2194560"/>
            <a:ext cx="8750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「작년에 갔던 곳」 한 줄이면 Preference(A2) 하나만 돌고 끝난다 — 편성 · 검증 · 학습은 아예 실행되지 않는다.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70048" y="2633472"/>
            <a:ext cx="8750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분기 지점 3곳 — 팬아웃 / 일정을 만들 것인가 / 확인이 필요한가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" y="3255264"/>
            <a:ext cx="11128248" cy="1316736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3255264"/>
            <a:ext cx="1920240" cy="1316736"/>
          </a:xfrm>
          <a:prstGeom prst="rect">
            <a:avLst/>
          </a:prstGeom>
          <a:solidFill>
            <a:srgbClr val="E6F2F3"/>
          </a:solidFill>
          <a:ln w="6350">
            <a:solidFill>
              <a:srgbClr val="E6F2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40156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병렬 실행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0352" y="37673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70048" y="3383280"/>
            <a:ext cx="8750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서로를 기다릴 이유가 없는 것은 같은 단계에 둔다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70048" y="3675888"/>
            <a:ext cx="8750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 ∥ A3 가 동시에 돌고, 검증과 주변 검색은 실행 시점에 개수가 정해지는 동적 갈래로 펼친다.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70048" y="4114800"/>
            <a:ext cx="8750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남은 시간이 모자라면 갈래 수를 줄인다 — 줄여도 결과는 나온다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0352" y="4736592"/>
            <a:ext cx="11128248" cy="1316736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4736592"/>
            <a:ext cx="1920240" cy="1316736"/>
          </a:xfrm>
          <a:prstGeom prst="rect">
            <a:avLst/>
          </a:prstGeom>
          <a:solidFill>
            <a:srgbClr val="FBEEE0"/>
          </a:solidFill>
          <a:ln w="6350">
            <a:solidFill>
              <a:srgbClr val="FBEE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488289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06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사람 개입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0352" y="524865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70048" y="4864608"/>
            <a:ext cx="8750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가 임의로 바꾸지 않는다 — 바꾸기 전에 사용자가 고른다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70048" y="5157216"/>
            <a:ext cx="8750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Guardian(A8)이 «자동으로 고칠 수 있는 것»과 «물어야 하는 것»을 가르고, 후자만 카드로 올린 뒤 그래프가 멈춘다.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70048" y="5596128"/>
            <a:ext cx="8750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멈춘 시점의 상태를 통째로 저장한다 — 앱을 껐다 켜도 카드가 살아 있다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572768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1920240"/>
            <a:ext cx="11128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· C4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30352" y="2670048"/>
            <a:ext cx="11128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실행되고 연결되는가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30352" y="3749040"/>
            <a:ext cx="3343656" cy="0"/>
          </a:xfrm>
          <a:prstGeom prst="line">
            <a:avLst/>
          </a:prstGeom>
          <a:noFill/>
          <a:ln w="19050">
            <a:solidFill>
              <a:srgbClr val="0F6E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840480"/>
            <a:ext cx="3343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Context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30352" y="4151376"/>
            <a:ext cx="3343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시스템과 바깥의 관계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39768" y="3749040"/>
            <a:ext cx="3343656" cy="0"/>
          </a:xfrm>
          <a:prstGeom prst="line">
            <a:avLst/>
          </a:prstGeom>
          <a:noFill/>
          <a:ln w="19050">
            <a:solidFill>
              <a:srgbClr val="0F6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39768" y="3840480"/>
            <a:ext cx="3343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Container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239768" y="4151376"/>
            <a:ext cx="3343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단위와 연결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49184" y="3749040"/>
            <a:ext cx="3343656" cy="0"/>
          </a:xfrm>
          <a:prstGeom prst="line">
            <a:avLst/>
          </a:prstGeom>
          <a:noFill/>
          <a:ln w="19050">
            <a:solidFill>
              <a:srgbClr val="0F6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49184" y="3840480"/>
            <a:ext cx="3343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 Component · 포트/어댑터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949184" y="4151376"/>
            <a:ext cx="3343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 내부와 외부 연결 방식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03 · 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C4 — Level 1 · Context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시스템과 바깥의 관계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MOBIDIC 을 하나의 상자로 두고, 누가 쓰고 무엇에 기대는지만 봅니다.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62272" y="1700784"/>
            <a:ext cx="4297680" cy="1225296"/>
          </a:xfrm>
          <a:prstGeom prst="roundRect">
            <a:avLst>
              <a:gd name="adj" fmla="val 2985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62272" y="17465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MOBIDIC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17136" y="1984248"/>
            <a:ext cx="4187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아카이브 기반</a:t>
            </a:r>
            <a:endParaRPr lang="en-US" sz="10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문화생활 일정 · 동선 서비스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4672" y="1920240"/>
            <a:ext cx="2651760" cy="786384"/>
          </a:xfrm>
          <a:prstGeom prst="roundRect">
            <a:avLst>
              <a:gd name="adj" fmla="val 4651"/>
            </a:avLst>
          </a:prstGeom>
          <a:solidFill>
            <a:srgbClr val="F3ECF4"/>
          </a:solidFill>
          <a:ln w="12700">
            <a:solidFill>
              <a:srgbClr val="7A4E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965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4E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문화생활 사용자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9536" y="2203704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일정을 요청하고 · 고르고 · 다녀와 기록한다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547872" y="2313432"/>
            <a:ext cx="822960" cy="0"/>
          </a:xfrm>
          <a:prstGeom prst="line">
            <a:avLst/>
          </a:prstGeom>
          <a:noFill/>
          <a:ln w="15875">
            <a:solidFill>
              <a:srgbClr val="7A4E7E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456432" y="20665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· 선택 · 기록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765792" y="1920240"/>
            <a:ext cx="1920240" cy="786384"/>
          </a:xfrm>
          <a:prstGeom prst="roundRect">
            <a:avLst>
              <a:gd name="adj" fmla="val 4651"/>
            </a:avLst>
          </a:prstGeom>
          <a:solidFill>
            <a:srgbClr val="F3ECF4"/>
          </a:solidFill>
          <a:ln w="12700">
            <a:solidFill>
              <a:srgbClr val="7A4E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65792" y="1965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4E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기기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20656" y="220370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GPS · 알림 · 지도 렌더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851392" y="2313432"/>
            <a:ext cx="822960" cy="0"/>
          </a:xfrm>
          <a:prstGeom prst="line">
            <a:avLst/>
          </a:prstGeom>
          <a:noFill/>
          <a:ln w="15875">
            <a:solidFill>
              <a:srgbClr val="7A4E7E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30352" y="3200400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기대는 외부 시스템 — 전부 «없어도 서비스가 성립»해야 한다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" y="3529584"/>
            <a:ext cx="2066544" cy="694944"/>
          </a:xfrm>
          <a:prstGeom prst="roundRect">
            <a:avLst>
              <a:gd name="adj" fmla="val 5263"/>
            </a:avLst>
          </a:prstGeom>
          <a:solidFill>
            <a:srgbClr val="FBEEE0"/>
          </a:solidFill>
          <a:ln w="12700">
            <a:solidFill>
              <a:srgbClr val="A064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57530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문화 데이터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5216" y="38130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· 문화시설 정보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563624" y="3218688"/>
            <a:ext cx="0" cy="274320"/>
          </a:xfrm>
          <a:prstGeom prst="line">
            <a:avLst/>
          </a:prstGeom>
          <a:noFill/>
          <a:ln w="15875">
            <a:solidFill>
              <a:srgbClr val="A0641E"/>
            </a:solidFill>
            <a:prstDash val="solid"/>
            <a:headEnd type="triangl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779776" y="3529584"/>
            <a:ext cx="2066544" cy="694944"/>
          </a:xfrm>
          <a:prstGeom prst="roundRect">
            <a:avLst>
              <a:gd name="adj" fmla="val 5263"/>
            </a:avLst>
          </a:prstGeom>
          <a:solidFill>
            <a:srgbClr val="FBEEE0"/>
          </a:solidFill>
          <a:ln w="12700">
            <a:solidFill>
              <a:srgbClr val="A064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79776" y="357530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· 경로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834640" y="38130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 · 자동차 · 도보 · 대중교통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813048" y="3218688"/>
            <a:ext cx="0" cy="274320"/>
          </a:xfrm>
          <a:prstGeom prst="line">
            <a:avLst/>
          </a:prstGeom>
          <a:noFill/>
          <a:ln w="15875">
            <a:solidFill>
              <a:srgbClr val="A0641E"/>
            </a:solidFill>
            <a:prstDash val="solid"/>
            <a:headEnd type="triangl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029200" y="3529584"/>
            <a:ext cx="2066544" cy="694944"/>
          </a:xfrm>
          <a:prstGeom prst="roundRect">
            <a:avLst>
              <a:gd name="adj" fmla="val 5263"/>
            </a:avLst>
          </a:prstGeom>
          <a:solidFill>
            <a:srgbClr val="FBEEE0"/>
          </a:solidFill>
          <a:ln w="12700">
            <a:solidFill>
              <a:srgbClr val="A064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57530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 예보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84064" y="38130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시간대별 예보 · 실황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62472" y="3218688"/>
            <a:ext cx="0" cy="274320"/>
          </a:xfrm>
          <a:prstGeom prst="line">
            <a:avLst/>
          </a:prstGeom>
          <a:noFill/>
          <a:ln w="15875">
            <a:solidFill>
              <a:srgbClr val="A0641E"/>
            </a:solidFill>
            <a:prstDash val="solid"/>
            <a:headEnd type="triangl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278624" y="3529584"/>
            <a:ext cx="2066544" cy="694944"/>
          </a:xfrm>
          <a:prstGeom prst="roundRect">
            <a:avLst>
              <a:gd name="adj" fmla="val 5263"/>
            </a:avLst>
          </a:prstGeom>
          <a:solidFill>
            <a:srgbClr val="FBEEE0"/>
          </a:solidFill>
          <a:ln w="12700">
            <a:solidFill>
              <a:srgbClr val="A064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78624" y="357530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검색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333488" y="38130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공식정보 대조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311896" y="3218688"/>
            <a:ext cx="0" cy="274320"/>
          </a:xfrm>
          <a:prstGeom prst="line">
            <a:avLst/>
          </a:prstGeom>
          <a:noFill/>
          <a:ln w="15875">
            <a:solidFill>
              <a:srgbClr val="A0641E"/>
            </a:solidFill>
            <a:prstDash val="solid"/>
            <a:headEnd type="triangl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528048" y="3529584"/>
            <a:ext cx="2066544" cy="694944"/>
          </a:xfrm>
          <a:prstGeom prst="roundRect">
            <a:avLst>
              <a:gd name="adj" fmla="val 5263"/>
            </a:avLst>
          </a:prstGeom>
          <a:solidFill>
            <a:srgbClr val="FBEEE0"/>
          </a:solidFill>
          <a:ln w="12700">
            <a:solidFill>
              <a:srgbClr val="A0641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28048" y="357530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582912" y="38130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발화 이해 · 임베딩 · 재순위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61320" y="3218688"/>
            <a:ext cx="0" cy="274320"/>
          </a:xfrm>
          <a:prstGeom prst="line">
            <a:avLst/>
          </a:prstGeom>
          <a:noFill/>
          <a:ln w="15875">
            <a:solidFill>
              <a:srgbClr val="A0641E"/>
            </a:solidFill>
            <a:prstDash val="solid"/>
            <a:headEnd type="triangl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611112" y="2926080"/>
            <a:ext cx="0" cy="274320"/>
          </a:xfrm>
          <a:prstGeom prst="line">
            <a:avLst/>
          </a:prstGeom>
          <a:noFill/>
          <a:ln w="15875">
            <a:solidFill>
              <a:srgbClr val="A0641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63624" y="3200400"/>
            <a:ext cx="9601200" cy="0"/>
          </a:xfrm>
          <a:prstGeom prst="line">
            <a:avLst/>
          </a:prstGeom>
          <a:noFill/>
          <a:ln w="15875">
            <a:solidFill>
              <a:srgbClr val="A0641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0352" y="4517136"/>
            <a:ext cx="11128248" cy="1005840"/>
          </a:xfrm>
          <a:prstGeom prst="roundRect">
            <a:avLst>
              <a:gd name="adj" fmla="val 3636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46085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그림이 말하는 것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22960" y="4882896"/>
            <a:ext cx="10543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하나이고, 시스템이 기대는 외부는 다섯 묶음입니다. 다섯 전부에 폴백이 있어 어느 하나가 죽어도 서비스는 축소된 형태로 답합니다 — 이 원칙이 L2 의 «도구 계층»을 만든 이유입니다.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03 · 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C4 — Level 2 · Container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실행 단위와 연결 관계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네모 하나가 «따로 실행되거나 따로 배포되는 것»입니다.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845552" y="1261872"/>
            <a:ext cx="100584" cy="100584"/>
          </a:xfrm>
          <a:prstGeom prst="ellipse">
            <a:avLst/>
          </a:prstGeom>
          <a:solidFill>
            <a:srgbClr val="7A4E7E"/>
          </a:solidFill>
          <a:ln/>
        </p:spPr>
      </p:sp>
      <p:sp>
        <p:nvSpPr>
          <p:cNvPr id="7" name="Text 5"/>
          <p:cNvSpPr/>
          <p:nvPr/>
        </p:nvSpPr>
        <p:spPr>
          <a:xfrm>
            <a:off x="7991856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814816" y="1261872"/>
            <a:ext cx="100584" cy="100584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0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784080" y="1261872"/>
            <a:ext cx="100584" cy="100584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11" name="Text 9"/>
          <p:cNvSpPr/>
          <p:nvPr/>
        </p:nvSpPr>
        <p:spPr>
          <a:xfrm>
            <a:off x="9930384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753344" y="1261872"/>
            <a:ext cx="100584" cy="100584"/>
          </a:xfrm>
          <a:prstGeom prst="ellipse">
            <a:avLst/>
          </a:prstGeom>
          <a:solidFill>
            <a:srgbClr val="A0641E"/>
          </a:solidFill>
          <a:ln/>
        </p:spPr>
      </p:sp>
      <p:sp>
        <p:nvSpPr>
          <p:cNvPr id="13" name="Text 11"/>
          <p:cNvSpPr/>
          <p:nvPr/>
        </p:nvSpPr>
        <p:spPr>
          <a:xfrm>
            <a:off x="10899648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13232" y="1719072"/>
            <a:ext cx="3108960" cy="731520"/>
          </a:xfrm>
          <a:prstGeom prst="roundRect">
            <a:avLst>
              <a:gd name="adj" fmla="val 5000"/>
            </a:avLst>
          </a:prstGeom>
          <a:solidFill>
            <a:srgbClr val="F3ECF4"/>
          </a:solidFill>
          <a:ln w="12700">
            <a:solidFill>
              <a:srgbClr val="7A4E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17647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4E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8096" y="2002536"/>
            <a:ext cx="299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Native (Expo)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· 지도 · 오프라인 캐시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913632" y="2084832"/>
            <a:ext cx="548640" cy="0"/>
          </a:xfrm>
          <a:prstGeom prst="line">
            <a:avLst/>
          </a:prstGeom>
          <a:noFill/>
          <a:ln w="15875">
            <a:solidFill>
              <a:srgbClr val="7A4E7E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3730752" y="1847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 · 스트리밍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53712" y="1572768"/>
            <a:ext cx="4937760" cy="3035808"/>
          </a:xfrm>
          <a:prstGeom prst="roundRect">
            <a:avLst>
              <a:gd name="adj" fmla="val 1506"/>
            </a:avLst>
          </a:prstGeom>
          <a:solidFill>
            <a:srgbClr val="FFFFFF"/>
          </a:solidFill>
          <a:ln w="12700">
            <a:solidFill>
              <a:srgbClr val="8A929C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700016" y="16276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컨테이너 1개 (MVP)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36592" y="1883664"/>
            <a:ext cx="4572000" cy="530352"/>
          </a:xfrm>
          <a:prstGeom prst="roundRect">
            <a:avLst>
              <a:gd name="adj" fmla="val 6897"/>
            </a:avLst>
          </a:prstGeom>
          <a:solidFill>
            <a:srgbClr val="FBEEE0"/>
          </a:solidFill>
          <a:ln w="12700">
            <a:solidFill>
              <a:srgbClr val="A064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19293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91456" y="2167128"/>
            <a:ext cx="446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접수 · 스트리밍 — 판단은 하지 않는다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022592" y="2414016"/>
            <a:ext cx="0" cy="219456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736592" y="2633472"/>
            <a:ext cx="4572000" cy="932688"/>
          </a:xfrm>
          <a:prstGeom prst="roundRect">
            <a:avLst>
              <a:gd name="adj" fmla="val 3922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26791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그래프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91456" y="2916936"/>
            <a:ext cx="4462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실행 순서 · 분기 · 병렬 · 정지/재개 · 상태 병합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28032" y="31821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 A2 A3 A4  ·  A5 A6 A7  ·  A8 A9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022592" y="3566160"/>
            <a:ext cx="0" cy="219456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736592" y="3785616"/>
            <a:ext cx="4572000" cy="530352"/>
          </a:xfrm>
          <a:prstGeom prst="roundRect">
            <a:avLst>
              <a:gd name="adj" fmla="val 6897"/>
            </a:avLst>
          </a:prstGeom>
          <a:solidFill>
            <a:srgbClr val="FBEEE0"/>
          </a:solidFill>
          <a:ln w="12700">
            <a:solidFill>
              <a:srgbClr val="A0641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38313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계층 (어댑터)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91456" y="4069080"/>
            <a:ext cx="446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타임아웃 · 캐시 · 폴백 · 응답 정규화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13232" y="3017520"/>
            <a:ext cx="3108960" cy="786384"/>
          </a:xfrm>
          <a:prstGeom prst="roundRect">
            <a:avLst>
              <a:gd name="adj" fmla="val 4651"/>
            </a:avLst>
          </a:prstGeom>
          <a:solidFill>
            <a:srgbClr val="FBEEE0"/>
          </a:solidFill>
          <a:ln w="12700">
            <a:solidFill>
              <a:srgbClr val="A0641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3063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+ pgvector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68096" y="3300984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아카이브 · 확정 일정 · 장소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인덱스 · 정지 지점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07992" y="3099816"/>
            <a:ext cx="0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840480" y="3099816"/>
            <a:ext cx="822960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headEnd type="triangl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713232" y="3858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는 같은 컨테이너 안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857232" y="2011680"/>
            <a:ext cx="1828800" cy="2194560"/>
          </a:xfrm>
          <a:prstGeom prst="roundRect">
            <a:avLst>
              <a:gd name="adj" fmla="val 2000"/>
            </a:avLst>
          </a:prstGeom>
          <a:solidFill>
            <a:srgbClr val="FBEEE0"/>
          </a:solidFill>
          <a:ln w="12700">
            <a:solidFill>
              <a:srgbClr val="A0641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57232" y="2057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10종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912096" y="2295144"/>
            <a:ext cx="1719072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 · 지도/경로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· 웹검색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326880" y="4050792"/>
            <a:ext cx="512064" cy="0"/>
          </a:xfrm>
          <a:prstGeom prst="line">
            <a:avLst/>
          </a:prstGeom>
          <a:noFill/>
          <a:ln w="15875">
            <a:solidFill>
              <a:srgbClr val="A0641E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8759952" y="42245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계층을 통해서만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30352" y="4754880"/>
            <a:ext cx="11128248" cy="786384"/>
          </a:xfrm>
          <a:prstGeom prst="roundRect">
            <a:avLst>
              <a:gd name="adj" fmla="val 4651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4754880"/>
            <a:ext cx="10543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 —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는 그래프를 부르기만 하고, 그래프는 외부를 직접 부르지 않습니다. 바깥과 닿는 지점이 «도구 계층» 하나로 모여 있어, 제공자를 바꿔도 Agent 는 그대로입니다.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03 · 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C4 — Level 3 · Component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그래프 안쪽 — Agent 흐름과 데이터 흐름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위쪽 화살표가 실행 순서, 아래쪽 회색 글씨가 그 사이를 오가는 데이터입니다.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394192" y="1261872"/>
            <a:ext cx="100584" cy="100584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7" name="Text 5"/>
          <p:cNvSpPr/>
          <p:nvPr/>
        </p:nvSpPr>
        <p:spPr>
          <a:xfrm>
            <a:off x="8540496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363456" y="1261872"/>
            <a:ext cx="100584" cy="100584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0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332720" y="1261872"/>
            <a:ext cx="100584" cy="100584"/>
          </a:xfrm>
          <a:prstGeom prst="ellipse">
            <a:avLst/>
          </a:prstGeom>
          <a:solidFill>
            <a:srgbClr val="A0641E"/>
          </a:solidFill>
          <a:ln/>
        </p:spPr>
      </p:sp>
      <p:sp>
        <p:nvSpPr>
          <p:cNvPr id="11" name="Text 9"/>
          <p:cNvSpPr/>
          <p:nvPr/>
        </p:nvSpPr>
        <p:spPr>
          <a:xfrm>
            <a:off x="10479024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7512" y="1773936"/>
            <a:ext cx="1737360" cy="548640"/>
          </a:xfrm>
          <a:prstGeom prst="roundRect">
            <a:avLst>
              <a:gd name="adj" fmla="val 6667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18196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Router(A1)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2376" y="205740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이해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468880" y="2048256"/>
            <a:ext cx="237744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770632" y="1517904"/>
            <a:ext cx="2286000" cy="548640"/>
          </a:xfrm>
          <a:prstGeom prst="roundRect">
            <a:avLst>
              <a:gd name="adj" fmla="val 6667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70632" y="15636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Preference(A2)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25496" y="1801368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경험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70632" y="2103120"/>
            <a:ext cx="2286000" cy="548640"/>
          </a:xfrm>
          <a:prstGeom prst="roundRect">
            <a:avLst>
              <a:gd name="adj" fmla="val 6667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70632" y="2148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Culture(A3)·Verifier(A4)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25496" y="2386584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· 검증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120640" y="2048256"/>
            <a:ext cx="237744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22392" y="1773936"/>
            <a:ext cx="1554480" cy="548640"/>
          </a:xfrm>
          <a:prstGeom prst="roundRect">
            <a:avLst>
              <a:gd name="adj" fmla="val 6667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22392" y="18196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합류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77256" y="205740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통합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040880" y="2048256"/>
            <a:ext cx="237744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342632" y="1773936"/>
            <a:ext cx="2377440" cy="548640"/>
          </a:xfrm>
          <a:prstGeom prst="roundRect">
            <a:avLst>
              <a:gd name="adj" fmla="val 6667"/>
            </a:avLst>
          </a:prstGeom>
          <a:solidFill>
            <a:srgbClr val="E8EBF5"/>
          </a:solidFill>
          <a:ln w="12700">
            <a:solidFill>
              <a:srgbClr val="2E437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42632" y="18196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Planner(A5)·Route(A6)·Gap(A7)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97496" y="2057400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편성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784080" y="2048256"/>
            <a:ext cx="237744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085832" y="1773936"/>
            <a:ext cx="1554480" cy="548640"/>
          </a:xfrm>
          <a:prstGeom prst="roundRect">
            <a:avLst>
              <a:gd name="adj" fmla="val 6667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85832" y="18196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Guardian(A8)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140696" y="205740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· 카드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0863072" y="2322576"/>
            <a:ext cx="0" cy="310896"/>
          </a:xfrm>
          <a:prstGeom prst="line">
            <a:avLst/>
          </a:prstGeom>
          <a:noFill/>
          <a:ln w="15875">
            <a:solidFill>
              <a:srgbClr val="A0641E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085832" y="2633472"/>
            <a:ext cx="1554480" cy="548640"/>
          </a:xfrm>
          <a:prstGeom prst="roundRect">
            <a:avLst>
              <a:gd name="adj" fmla="val 6667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85832" y="26791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Memory(A9)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140696" y="291693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· 학습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67512" y="3236976"/>
            <a:ext cx="10853928" cy="0"/>
          </a:xfrm>
          <a:prstGeom prst="line">
            <a:avLst/>
          </a:prstGeom>
          <a:noFill/>
          <a:ln w="12700">
            <a:solidFill>
              <a:srgbClr val="DFE4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29626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흐름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7512" y="331012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 조건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(지역 · 날짜 · 좌표)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182112" y="331012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취향 프로필 ·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경험 조각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650992" y="331012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후보 목록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(신뢰 등급 포함)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119872" y="331012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일정 ·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이동 정보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0222992" y="331012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 · 확인 카드 →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행동 기록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30352" y="3968496"/>
            <a:ext cx="11128248" cy="603504"/>
          </a:xfrm>
          <a:prstGeom prst="roundRect">
            <a:avLst>
              <a:gd name="adj" fmla="val 6061"/>
            </a:avLst>
          </a:prstGeom>
          <a:solidFill>
            <a:srgbClr val="FBEEE0"/>
          </a:solidFill>
          <a:ln w="12700">
            <a:solidFill>
              <a:srgbClr val="A0641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4672" y="3968496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계층 (어댑터) — 지오코딩 · 경로 · 문화 API · 날씨 · 웹검색 · 모델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903720" y="3968496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· A4 · A6 · A7 이 여기를 통해서만 바깥에 닿는다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867912" y="3703320"/>
            <a:ext cx="0" cy="256032"/>
          </a:xfrm>
          <a:prstGeom prst="line">
            <a:avLst/>
          </a:prstGeom>
          <a:noFill/>
          <a:ln w="15875">
            <a:solidFill>
              <a:srgbClr val="A0641E"/>
            </a:solidFill>
            <a:prstDash val="dash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8439912" y="3703320"/>
            <a:ext cx="0" cy="256032"/>
          </a:xfrm>
          <a:prstGeom prst="line">
            <a:avLst/>
          </a:prstGeom>
          <a:noFill/>
          <a:ln w="15875">
            <a:solidFill>
              <a:srgbClr val="A0641E"/>
            </a:solidFill>
            <a:prstDash val="dash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530352" y="4700016"/>
            <a:ext cx="11128248" cy="603504"/>
          </a:xfrm>
          <a:prstGeom prst="roundRect">
            <a:avLst>
              <a:gd name="adj" fmla="val 6061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4672" y="4700016"/>
            <a:ext cx="10579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상태 — 위 모든 산출물이 여기 누적되고, 정지 시 통째로 저장된다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03 · 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Ports &amp; Adapters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외부 시스템은 어떻게 연결되는가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육각형 아키텍처 관점 — 안쪽(도메인 · 응용)은 바깥을 모르고, 어댑터가 양쪽을 잇습니다.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" y="17190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들어오는 쪽 (Driving)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2029968"/>
            <a:ext cx="3520440" cy="676656"/>
          </a:xfrm>
          <a:prstGeom prst="roundRect">
            <a:avLst>
              <a:gd name="adj" fmla="val 5405"/>
            </a:avLst>
          </a:prstGeom>
          <a:solidFill>
            <a:srgbClr val="E6F2F3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31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어댑터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3591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— 요청을 그래프 입력으로 바꾼다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2816352"/>
            <a:ext cx="352044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0F6E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895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1455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입력을 요청으로 바꾼다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96512" y="2377440"/>
            <a:ext cx="118872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270248" y="17190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안쪽 (Core)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70248" y="2029968"/>
            <a:ext cx="3520440" cy="676656"/>
          </a:xfrm>
          <a:prstGeom prst="roundRect">
            <a:avLst>
              <a:gd name="adj" fmla="val 5405"/>
            </a:avLst>
          </a:prstGeom>
          <a:solidFill>
            <a:srgbClr val="E8EBF5"/>
          </a:solidFill>
          <a:ln w="12700">
            <a:solidFill>
              <a:srgbClr val="2E43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1416" y="21031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— 그래프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71416" y="23591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순서 · 분기 · 정지/재개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70248" y="2816352"/>
            <a:ext cx="352044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2E43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71416" y="28895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— 규칙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71416" y="31455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편성 · 개인화 점수 · 지역 판정 · 검증 기준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836408" y="2377440"/>
            <a:ext cx="118872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010144" y="17190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나가는 쪽 (Driven)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10144" y="2029968"/>
            <a:ext cx="3520440" cy="676656"/>
          </a:xfrm>
          <a:prstGeom prst="roundRect">
            <a:avLst>
              <a:gd name="adj" fmla="val 5405"/>
            </a:avLst>
          </a:prstGeom>
          <a:solidFill>
            <a:srgbClr val="FBEEE0"/>
          </a:solidFill>
          <a:ln w="12700">
            <a:solidFill>
              <a:srgbClr val="A064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11312" y="21031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어댑터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11312" y="23591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· 경로 · 문화 API · 날씨 · 웹검색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010144" y="2816352"/>
            <a:ext cx="352044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A064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11312" y="28895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· 모델 어댑터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11312" y="31455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· pgvector · AI 모델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0352" y="3675888"/>
            <a:ext cx="11128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의존 방향 — 바깥에서 안으로만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0352" y="4023360"/>
            <a:ext cx="5486400" cy="1536192"/>
          </a:xfrm>
          <a:prstGeom prst="roundRect">
            <a:avLst>
              <a:gd name="adj" fmla="val 2381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" y="4114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지켜진 것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8096" y="44074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도메인 모델이 다른 계층을 전혀 참조하지 않는다 — 순수하다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68096" y="46817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그래프 → 도구는 단방향이다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68096" y="49560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외부 호출이 전부 한 관문을 지난다 — 타임아웃 · 폴백이 한 곳에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68096" y="52303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서버는 지도 공급자를 모른다 — 좌표만 내려주고 앱이 그린다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53912" y="4023360"/>
            <a:ext cx="5486400" cy="1536192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91656" y="4114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아닌 것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91656" y="44074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포트가 인터페이스로 «선언»돼 있지 않다 — 어댑터 교체는 import 를 바꾸는 방식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91656" y="46817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도구 계층 한 곳이 응용 계층을 거꾸로 참조한다 (예산 계산)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91656" y="49560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저장소 접근이 한 곳으로 완전히 모이지 않았다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91656" y="52303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6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→ 지금은 «육각형을 지향하는 계층 분리»에 가깝다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786384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JUDGEMENT ·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1078992"/>
            <a:ext cx="11128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지금 구조는 «모듈 모놀리스»다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30352" y="1682496"/>
            <a:ext cx="11128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배포는 하나, 내부는 관심사별로 갈려 있습니다. 마이크로서비스가 아니고, 한 덩어리 모놀리스도 아닙니다.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2212848"/>
            <a:ext cx="3520440" cy="0"/>
          </a:xfrm>
          <a:prstGeom prst="line">
            <a:avLst/>
          </a:prstGeom>
          <a:noFill/>
          <a:ln w="19050">
            <a:solidFill>
              <a:srgbClr val="0F6E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23042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모놀리스인 근거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30352" y="2798064"/>
            <a:ext cx="91440" cy="91440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68833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단위가 하나다 — 컨테이너 1개에 API · 그래프 · DB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0352" y="3364992"/>
            <a:ext cx="91440" cy="91440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325526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 경계가 없다 — Agent 호출이 전부 함수 호출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" y="3931920"/>
            <a:ext cx="91440" cy="91440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82219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장애가 곧 전체 장애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70248" y="2212848"/>
            <a:ext cx="3520440" cy="0"/>
          </a:xfrm>
          <a:prstGeom prst="line">
            <a:avLst/>
          </a:prstGeom>
          <a:noFill/>
          <a:ln w="19050">
            <a:solidFill>
              <a:srgbClr val="0F6E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0248" y="23042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«모듈» 인 근거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270248" y="2798064"/>
            <a:ext cx="91440" cy="91440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16" name="Text 14"/>
          <p:cNvSpPr/>
          <p:nvPr/>
        </p:nvSpPr>
        <p:spPr>
          <a:xfrm>
            <a:off x="4489704" y="268833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관심사별 패키지 경계가 있다 — UI · 응용 · 도메인 · 인프라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70248" y="3364992"/>
            <a:ext cx="91440" cy="91440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18" name="Text 16"/>
          <p:cNvSpPr/>
          <p:nvPr/>
        </p:nvSpPr>
        <p:spPr>
          <a:xfrm>
            <a:off x="4489704" y="325526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의존이 단방향이다 (역방향 1건 제외)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70248" y="3931920"/>
            <a:ext cx="91440" cy="91440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20" name="Text 18"/>
          <p:cNvSpPr/>
          <p:nvPr/>
        </p:nvSpPr>
        <p:spPr>
          <a:xfrm>
            <a:off x="4489704" y="382219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연결이 도구 계층 한 곳으로 모여 있다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10144" y="2212848"/>
            <a:ext cx="3520440" cy="0"/>
          </a:xfrm>
          <a:prstGeom prst="line">
            <a:avLst/>
          </a:prstGeom>
          <a:noFill/>
          <a:ln w="19050">
            <a:solidFill>
              <a:srgbClr val="A064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10144" y="23042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단계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010144" y="2798064"/>
            <a:ext cx="91440" cy="91440"/>
          </a:xfrm>
          <a:prstGeom prst="ellipse">
            <a:avLst/>
          </a:prstGeom>
          <a:solidFill>
            <a:srgbClr val="A0641E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268833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컨테이너 분리 — API · 그래프 ×N / DB 독립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10144" y="3364992"/>
            <a:ext cx="91440" cy="91440"/>
          </a:xfrm>
          <a:prstGeom prst="ellipse">
            <a:avLst/>
          </a:prstGeom>
          <a:solidFill>
            <a:srgbClr val="A0641E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325526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포트를 인터페이스로 선언 — 어댑터 교체를 계약으로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10144" y="3931920"/>
            <a:ext cx="91440" cy="91440"/>
          </a:xfrm>
          <a:prstGeom prst="ellipse">
            <a:avLst/>
          </a:prstGeom>
          <a:solidFill>
            <a:srgbClr val="A0641E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382219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조건: 동시 사용자 증가 또는 DB 장애 격리 필요 시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30352" y="4590288"/>
            <a:ext cx="11128248" cy="987552"/>
          </a:xfrm>
          <a:prstGeom prst="roundRect">
            <a:avLst>
              <a:gd name="adj" fmla="val 3704"/>
            </a:avLst>
          </a:prstGeom>
          <a:solidFill>
            <a:srgbClr val="1C2632"/>
          </a:solidFill>
          <a:ln w="12700">
            <a:solidFill>
              <a:srgbClr val="2A36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4700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0F6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확정한 세 가지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1248" y="4956048"/>
            <a:ext cx="10506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Agent 9종의 책임 · 입출력 · 관심사 계층   ②  실행 순서 · 데이터 흐름 · 분기와 사람 개입 지점   ③  C4 3단계와 외부 연결 방식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30352" y="5760720"/>
            <a:ext cx="11128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문서 — culturemate/docs : ARCHITECTURE.md · FUNCTIONAL_MAP.md · PROGRESS.md · REQUIREMENTS.md · SETUP.md · STRUCTURE.md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MOBIDIC Architecture 설계서</dc:title>
  <dc:subject>PptxGenJS Presentation</dc:subject>
  <dc:creator>CulturePilot</dc:creator>
  <cp:lastModifiedBy>CulturePilot</cp:lastModifiedBy>
  <cp:revision>1</cp:revision>
  <dcterms:created xsi:type="dcterms:W3CDTF">2026-08-17T13:41:45Z</dcterms:created>
  <dcterms:modified xsi:type="dcterms:W3CDTF">2026-08-17T13:41:45Z</dcterms:modified>
</cp:coreProperties>
</file>