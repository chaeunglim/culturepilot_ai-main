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139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38988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755648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MOBIDIC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30352" y="2359152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설계서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30352" y="3163824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아카이브 기반 AI 문화생활 일정 · 동선 서비스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3950208"/>
            <a:ext cx="3255264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0352" y="404164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4261104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Responsibility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30352" y="45902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하는가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87952" y="3950208"/>
            <a:ext cx="3255264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87952" y="404164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87952" y="4261104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87952" y="45902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협업하는가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45552" y="3950208"/>
            <a:ext cx="3255264" cy="0"/>
          </a:xfrm>
          <a:prstGeom prst="line">
            <a:avLst/>
          </a:prstGeom>
          <a:noFill/>
          <a:ln w="1905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845552" y="404164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45552" y="4261104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(C4)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845552" y="45902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실행되고 연결되는가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5230368"/>
            <a:ext cx="11128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5449824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PURPOSE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선순환이 아키텍처를 결정한다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단계가 이어져야 서비스가 성립합니다. 어느 한 칸이 비면 다음 바퀴가 첫 사용자와 같아집니다.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1918411" cy="969264"/>
          </a:xfrm>
          <a:prstGeom prst="roundRect">
            <a:avLst>
              <a:gd name="adj" fmla="val 3774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0352" y="1865376"/>
            <a:ext cx="1918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탐색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2176272"/>
            <a:ext cx="1772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목록 · 3지 반응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18818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 · Verifier(A4)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03627" y="2258568"/>
            <a:ext cx="27432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832811" y="1773936"/>
            <a:ext cx="1918411" cy="969264"/>
          </a:xfrm>
          <a:prstGeom prst="roundRect">
            <a:avLst>
              <a:gd name="adj" fmla="val 3774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832811" y="1865376"/>
            <a:ext cx="1918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일정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05963" y="2176272"/>
            <a:ext cx="1772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3곳 · 시간 배분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51099" y="2798064"/>
            <a:ext cx="18818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Gap(A7)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6086" y="2258568"/>
            <a:ext cx="27432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135270" y="1773936"/>
            <a:ext cx="1918411" cy="969264"/>
          </a:xfrm>
          <a:prstGeom prst="roundRect">
            <a:avLst>
              <a:gd name="adj" fmla="val 3774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135270" y="1865376"/>
            <a:ext cx="1918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동선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8422" y="2176272"/>
            <a:ext cx="1772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체류 · 변경 이력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53558" y="2798064"/>
            <a:ext cx="18818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Route(A6)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08546" y="2258568"/>
            <a:ext cx="27432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437730" y="1773936"/>
            <a:ext cx="1918411" cy="969264"/>
          </a:xfrm>
          <a:prstGeom prst="roundRect">
            <a:avLst>
              <a:gd name="adj" fmla="val 3774"/>
            </a:avLst>
          </a:prstGeom>
          <a:solidFill>
            <a:srgbClr val="FAEAF4"/>
          </a:solidFill>
          <a:ln w="12700">
            <a:solidFill>
              <a:srgbClr val="A01A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37730" y="1865376"/>
            <a:ext cx="1918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01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기록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10882" y="2176272"/>
            <a:ext cx="1772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· 이유 · 사진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56018" y="2798064"/>
            <a:ext cx="18818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기록 화면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411005" y="2258568"/>
            <a:ext cx="27432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740189" y="1773936"/>
            <a:ext cx="1918411" cy="969264"/>
          </a:xfrm>
          <a:prstGeom prst="roundRect">
            <a:avLst>
              <a:gd name="adj" fmla="val 3774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740189" y="1865376"/>
            <a:ext cx="1918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분석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13341" y="2176272"/>
            <a:ext cx="1772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갱신된 취향 · 맞춤 제안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758477" y="2798064"/>
            <a:ext cx="18818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 · Preference(A2)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699394" y="3255264"/>
            <a:ext cx="0" cy="274320"/>
          </a:xfrm>
          <a:prstGeom prst="line">
            <a:avLst/>
          </a:prstGeom>
          <a:noFill/>
          <a:ln w="19050">
            <a:solidFill>
              <a:srgbClr val="00688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489558" y="3529584"/>
            <a:ext cx="9209837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489558" y="3255264"/>
            <a:ext cx="0" cy="274320"/>
          </a:xfrm>
          <a:prstGeom prst="line">
            <a:avLst/>
          </a:prstGeom>
          <a:noFill/>
          <a:ln w="19050">
            <a:solidFill>
              <a:srgbClr val="00688B"/>
            </a:solidFill>
            <a:prstDash val="dash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672438" y="35478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갱신된 취향이 다음 바퀴의 탐색을 바꾼다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0352" y="3950208"/>
            <a:ext cx="3520440" cy="10607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49808" y="40599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끊기면 생기는 일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" y="433425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기록이 비면 05 분석이 빈 화면이 되고, 다음 바퀴의 01 · 02 는 첫 사용자와 같아집니다.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70248" y="3950208"/>
            <a:ext cx="3520440" cy="1060704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489704" y="40599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설계에 반영한 것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489704" y="433425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기록은 일정 종료 시 자동으로 뜨고 별점 하나로도 남길 수 있어야 합니다. 캘린더가 그 진입점입니다.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10144" y="3950208"/>
            <a:ext cx="3520440" cy="10607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229600" y="40599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앱이어야 하는 이유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29600" y="433425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탐색을 SNS 에서, 일정을 메모장에서 하면 «실제로 얼마나 머물렀는지»가 어디에도 남지 않습니다.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READING GUIDE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Concern Layers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문서를 읽는 축 — 관심사 4계층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도 화면도 어댑터도 이 네 칸 중 하나에 놓입니다. 이후 모든 장이 같은 색을 씁니다.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1112824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30352" y="1773936"/>
            <a:ext cx="1828800" cy="914400"/>
          </a:xfrm>
          <a:prstGeom prst="rect">
            <a:avLst/>
          </a:prstGeom>
          <a:solidFill>
            <a:srgbClr val="FAEAF4"/>
          </a:solidFill>
          <a:ln w="6350">
            <a:solidFill>
              <a:srgbClr val="FAEA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01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2494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(Expo) 앱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78608" y="1920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보이고, 입력을 받는 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25312" y="1920240"/>
            <a:ext cx="5550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지도 렌더링(선 그리기) · 확인 카드 · 오프라인 캐시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816352"/>
            <a:ext cx="1112824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0352" y="2816352"/>
            <a:ext cx="1828800" cy="914400"/>
          </a:xfrm>
          <a:prstGeom prst="rect">
            <a:avLst/>
          </a:prstGeom>
          <a:solidFill>
            <a:srgbClr val="E2F0F6"/>
          </a:solidFill>
          <a:ln w="6350">
            <a:solidFill>
              <a:srgbClr val="E2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0352" y="2962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응용 (그래프)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" y="3291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그래프 · 조율 노드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78608" y="296265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언제 실행할지 조율하는 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25312" y="2962656"/>
            <a:ext cx="5550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실행 순서 · 조건 분기 · 병렬 · 정지와 재개 · 상태 병합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3858768"/>
            <a:ext cx="1112824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0352" y="3858768"/>
            <a:ext cx="1828800" cy="914400"/>
          </a:xfrm>
          <a:prstGeom prst="rect">
            <a:avLst/>
          </a:prstGeom>
          <a:solidFill>
            <a:srgbClr val="E8F4E9"/>
          </a:solidFill>
          <a:ln w="6350">
            <a:solidFill>
              <a:srgbClr val="E8F4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30352" y="4005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" y="43342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계산 (외부 호출 없음)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78608" y="40050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서비스의 규칙 자체 — 외부를 모른다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25312" y="4005072"/>
            <a:ext cx="5550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편성 규칙 · 개인화 점수 · 지역 판정 · 검증 기준 · 도메인 모델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" y="4901184"/>
            <a:ext cx="1112824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30352" y="4901184"/>
            <a:ext cx="1828800" cy="914400"/>
          </a:xfrm>
          <a:prstGeom prst="rect">
            <a:avLst/>
          </a:prstGeom>
          <a:solidFill>
            <a:srgbClr val="FCEDE0"/>
          </a:solidFill>
          <a:ln w="6350">
            <a:solidFill>
              <a:srgbClr val="FCE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30352" y="5047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인프라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1792" y="5376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도구 계층 · PostgreSQL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78608" y="50474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세계와 닿는 모든 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25312" y="5047488"/>
            <a:ext cx="5550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접수 · 외부 API 어댑터 · 저장소 · 모델 호출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57276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920240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Responsibility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30352" y="2670048"/>
            <a:ext cx="11128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하는가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0352" y="3749040"/>
            <a:ext cx="3343656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30352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책임 · 입출력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0352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9종의 계약을 한 표로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39768" y="3749040"/>
            <a:ext cx="3343656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39768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관심사 배치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39768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계층에 속하는가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49184" y="3749040"/>
            <a:ext cx="3343656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949184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 배치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49184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요청하신 6가지 기능이 어디에 있는가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Derivation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기획안의 </a:t>
            </a:r>
            <a:r>
              <a:rPr lang="en-US" altLang="ko-KR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4</a:t>
            </a:r>
            <a:r>
              <a:rPr lang="ko-KR" alt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종을 설계 </a:t>
            </a:r>
            <a:r>
              <a:rPr lang="en-US" altLang="ko-KR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r>
              <a:rPr lang="ko-KR" alt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종으로 나눈다</a:t>
            </a:r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3.1 은 역할 이름을 정합니다. 설계는 «한 Agent 가 두 가지 책임을 지고 있지 않은가»를 먼저 따집니다.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755648"/>
          <a:ext cx="11128248" cy="2980944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7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기획안 3.1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 (기획안 원문 요약)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나눈 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유형을 판별해 필요한 Agent 만 호출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Router(A1)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책임이 하나다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Search Agent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 문화 API 와 개인 아카이브를 «동시에» 조회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Preference(A2) · Culture(A3)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353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 ×2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«동시에» 가 곧 병렬 실행이다 — 한 덩어리로는 동시에 돌 수 없다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Validation Agent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홈페이지와 교차 확인 · «확인 실패»는 추정치를 쓰지 않는다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Verifier(A4) · Guardian(A8)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353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 ×2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«장소가 실재하는가»(탐색 단계)와 «이 일정이 성립하는가»(편성 후)는 시점이 다르다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Planning Agent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· 날씨 · 거리로 순서 계산 · 제약 위반은 사유와 함께 반려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Planner(A5) · Route(A6) · Gap(A7)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353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 ×3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 결정 · 이동 실측 · 빈틈 채우기는 실패 방식이 서로 다르다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(역할 목록에 없음)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기획안 3.1 «되돌림» · 3.2 «피드백 회귀» 로만 서술돼 있다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Memory(A9)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선순환의 «04 기록 → 05 분석»을 실제로 도는 주체가 필요하다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" y="4828032"/>
            <a:ext cx="11128248" cy="73152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2960" y="4828032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나누는 기준 — </a:t>
            </a: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«기능이 다른가»가 아니라 «따로 실패할 수 있는가»입니다. Culture(A3)가 외부 쿼터로 비어도 Preference(A2)의 기록으로 일정이 나오고, Route(A6)의 실측이 막혀도 추정으로 시각은 채워집니다.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0352" y="5687568"/>
            <a:ext cx="11128248" cy="658368"/>
          </a:xfrm>
          <a:prstGeom prst="roundRect">
            <a:avLst>
              <a:gd name="adj" fmla="val 5556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5687568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로 세지 않은 것 — </a:t>
            </a: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캘린더(저장 · 조회와 화면) · 날씨와 지도 API(도구) · 큐레이션(대화 흐름 밖 배치 작업). 결정을 하지 않으면 Agent 가 아닙니다.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Responsibility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9종 — 책임 · 입력 · 출력 · 관심사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Agent 는 «입력을 받아 정해진 산출물을 남긴다»는 계약만 지킵니다. 서로를 직접 호출하지 않습니다.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45552" y="1261872"/>
            <a:ext cx="100584" cy="100584"/>
          </a:xfrm>
          <a:prstGeom prst="ellipse">
            <a:avLst/>
          </a:prstGeom>
          <a:solidFill>
            <a:srgbClr val="A01A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991856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814816" y="1261872"/>
            <a:ext cx="100584" cy="100584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96112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784080" y="1261872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930384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753344" y="1261872"/>
            <a:ext cx="100584" cy="100584"/>
          </a:xfrm>
          <a:prstGeom prst="ellipse">
            <a:avLst/>
          </a:prstGeom>
          <a:solidFill>
            <a:srgbClr val="B3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899648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14016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— 한 문장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59552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28432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80192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" y="2084832"/>
            <a:ext cx="11128248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30352" y="2112264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30352" y="2112264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14016" y="208483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발화를 실행 계획으로 바꾼다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59552" y="208483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발화 · 화면 입력값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28432" y="208483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 · 실행 계획 · 여행 조건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80192" y="2084832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" y="2514600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30352" y="2514600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14016" y="248716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기록에서 취향과 불편을 뽑는다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59552" y="24871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여행 조건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28432" y="248716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프로필 · 과거 경험 조각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80192" y="2487168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" y="2889504"/>
            <a:ext cx="11128248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30352" y="2916936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30352" y="2916936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(A3)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14016" y="2889504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맞는 장소 후보군을 만든다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59552" y="2889504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조건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28432" y="288950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후보 목록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80192" y="2889504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0352" y="3319272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30352" y="331927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(A4)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414016" y="329184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후보가 실재하는지 공식정보로 가른다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59552" y="329184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후보 목록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28432" y="329184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등급 · 확인 근거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80192" y="329184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0352" y="3694176"/>
            <a:ext cx="11128248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530352" y="3721608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30352" y="3721608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r>
              <a:rPr lang="en-US" sz="8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(A5)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14016" y="369417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· 시각 · 체류시간을 확정한다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559552" y="3694176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· 취향 · 이동시간 · 날씨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28432" y="3694176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80192" y="3694176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Itinerary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0352" y="4123944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30352" y="4123944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r>
              <a:rPr lang="en-US" sz="8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(A6)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414016" y="409651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이동시간과 수단을 확정한다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559552" y="409651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일정 항목 · 선호 수단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28432" y="409651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소요시간 · 거리 · 경로 선형 · 요금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80192" y="4096512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0352" y="4498848"/>
            <a:ext cx="11128248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530352" y="4526280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530352" y="4526280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r>
              <a:rPr lang="en-US" sz="8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(A7)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414016" y="449884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 자리를 잡고 빈 시간을 채운다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59552" y="449884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 중 일정 · 빈틈 · 기준 좌표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028432" y="4498848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후보 · 삽입된 일정 항목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680192" y="4498848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 fill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0352" y="4928616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530352" y="4928616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(A8)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414016" y="4901184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결함을 찾아 «물을 것»을 고른다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59552" y="4901184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 · 과거 경험 조각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028432" y="490118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· 확인 카드 · 정지 신호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680192" y="4901184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판정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30352" y="5303520"/>
            <a:ext cx="11128248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F7F9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530352" y="5330952"/>
            <a:ext cx="1773936" cy="283464"/>
          </a:xfrm>
          <a:prstGeom prst="roundRect">
            <a:avLst>
              <a:gd name="adj" fmla="val 967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530352" y="533095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(A9)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414016" y="530352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행동에서 배울 것을 남긴다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559552" y="53035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선택 · 일정 변경분 · 방문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028432" y="53035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행동 기록 · 갱신된 취향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680192" y="5303520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— A1 · A2 · A3 · A4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요청을 이해하고 재료를 모은다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· A3 는 병렬로 실행되며 서로를 기다리지 않습니다.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700784"/>
            <a:ext cx="11128248" cy="97840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30352" y="1700784"/>
            <a:ext cx="2194560" cy="978408"/>
          </a:xfrm>
          <a:prstGeom prst="rect">
            <a:avLst/>
          </a:prstGeom>
          <a:solidFill>
            <a:srgbClr val="E2F0F6"/>
          </a:solidFill>
          <a:ln w="6350">
            <a:solidFill>
              <a:srgbClr val="E2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3232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57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해석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9504" y="179222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42816" y="1792224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추출 → (부족할 때만) LLM 보강 → 빈칸 메우기 → 화면값 덮기 → 좌표 확정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9504" y="205740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42816" y="2057400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한 말이 화면에 남은 이전 값을 이긴다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89504" y="232257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42816" y="2322576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이 실패해도 규칙 결과로 진행한다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2798064"/>
            <a:ext cx="11128248" cy="97840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30352" y="2798064"/>
            <a:ext cx="2194560" cy="978408"/>
          </a:xfrm>
          <a:prstGeom prst="rect">
            <a:avLst/>
          </a:prstGeom>
          <a:solidFill>
            <a:srgbClr val="E2F0F6"/>
          </a:solidFill>
          <a:ln w="6350">
            <a:solidFill>
              <a:srgbClr val="E2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13232" y="292608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13232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9504" y="288950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42816" y="2889504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 갈래 생성 → 갈래별 병렬 검색 → 순위 융합 → 재순위 → 조각 추출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89504" y="315468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42816" y="3154680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기록에 가중치 · 불편은 별도 신호 · 카드는 만들지 않는다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89504" y="341985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42816" y="3419856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개인화만 꺼지고 일정은 성립한다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3895344"/>
            <a:ext cx="11128248" cy="97840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30352" y="3895344"/>
            <a:ext cx="2194560" cy="978408"/>
          </a:xfrm>
          <a:prstGeom prst="rect">
            <a:avLst/>
          </a:prstGeom>
          <a:solidFill>
            <a:srgbClr val="E2F0F6"/>
          </a:solidFill>
          <a:ln w="6350">
            <a:solidFill>
              <a:srgbClr val="E2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13232" y="402336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13232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(A3)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" y="4352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탐색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89504" y="398678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42816" y="3986784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4소스 병렬 수집 → 중복 제거 → 시·도 판정 → 거리 상한 → 점수화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89504" y="425196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42816" y="4251960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좌표가 없으면 후보가 아니다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9504" y="451713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42816" y="4517136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카탈로그가 받쳐 결과가 0건이 되지 않는다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" y="4992624"/>
            <a:ext cx="11128248" cy="97840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30352" y="4992624"/>
            <a:ext cx="2194560" cy="978408"/>
          </a:xfrm>
          <a:prstGeom prst="rect">
            <a:avLst/>
          </a:prstGeom>
          <a:solidFill>
            <a:srgbClr val="E2F0F6"/>
          </a:solidFill>
          <a:ln w="6350">
            <a:solidFill>
              <a:srgbClr val="E2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713232" y="512064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13232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(A4)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" y="54498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공식정보 대조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89504" y="508406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42816" y="5084064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대상 선별 → 병렬 대조 → 확인 · 확인 필요 · 제외 3분류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889504" y="534924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42816" y="5349240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모르면 버리지 않고 «확인 필요»로 남긴다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89504" y="561441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42816" y="5614416"/>
            <a:ext cx="7196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«확인 필요»로 표시되고 일정은 성립한다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— A5 · A6 · A7 · A8 · A9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하루를 만들고, 검증하고, 배운다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 · A6 · A7 은 외부 호출 없이 계산만 합니다 — 그래서 도메인입니다.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700784"/>
            <a:ext cx="11128248" cy="753466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30352" y="1700784"/>
            <a:ext cx="2194560" cy="753466"/>
          </a:xfrm>
          <a:prstGeom prst="rect">
            <a:avLst/>
          </a:prstGeom>
          <a:solidFill>
            <a:srgbClr val="E8F4E9"/>
          </a:solidFill>
          <a:ln w="6350">
            <a:solidFill>
              <a:srgbClr val="E8F4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3232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r>
              <a:rPr lang="en-US" sz="8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57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 계산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9504" y="1792224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42816" y="1792224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지정 항목 먼저 → 남는 시간 채우기 → 실측 반영해 시각 재계산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9504" y="1982419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42816" y="1982419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잡아 둔 약속은 옮기지 않는다 · LLM 을 쓰지 않는다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89504" y="2172614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42816" y="2172614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일정을 준다 — 갈 수 없는 일정을 남기지 않는다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2573122"/>
            <a:ext cx="11128248" cy="753466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30352" y="2573122"/>
            <a:ext cx="2194560" cy="753466"/>
          </a:xfrm>
          <a:prstGeom prst="rect">
            <a:avLst/>
          </a:prstGeom>
          <a:solidFill>
            <a:srgbClr val="E8F4E9"/>
          </a:solidFill>
          <a:ln w="6350">
            <a:solidFill>
              <a:srgbClr val="E8F4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13232" y="2701138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13232" y="270113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r>
              <a:rPr lang="en-US" sz="8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(A6)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03032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계산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9504" y="2664562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42816" y="2664562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수단별 측정 요청 → 주차 · 환승 부담 환산 → 최선 선택 → 경로 축약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89504" y="2854757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42816" y="2854757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수단을 명시하면 바꾸지 않는다 · 방문 순서는 건드리지 않는다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89504" y="3044952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42816" y="3044952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기반 추정 + «추정» 표시를 남긴다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3445459"/>
            <a:ext cx="11128248" cy="753466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30352" y="3445459"/>
            <a:ext cx="2194560" cy="753466"/>
          </a:xfrm>
          <a:prstGeom prst="rect">
            <a:avLst/>
          </a:prstGeom>
          <a:solidFill>
            <a:srgbClr val="E8F4E9"/>
          </a:solidFill>
          <a:ln w="6350">
            <a:solidFill>
              <a:srgbClr val="E8F4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13232" y="3573475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13232" y="357347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</a:t>
            </a:r>
            <a:r>
              <a:rPr lang="en-US" sz="8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(A7)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" y="3902659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 채우기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89504" y="3536899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42816" y="3536899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 판정 → 빈틈 × 종류로 팬아웃 → 재순위 → 삽입 → 시각 재계산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89504" y="3727094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42816" y="3727094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 = 유휴 40분↑ · 종료 후 60분↑ · 첫 일정 앞 · 반경은 남은 시간에 비례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9504" y="3917290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42816" y="3917290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빈틈이 빈 채로 남을 뿐 일정은 성립한다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" y="4317797"/>
            <a:ext cx="11128248" cy="753466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30352" y="4317797"/>
            <a:ext cx="2194560" cy="753466"/>
          </a:xfrm>
          <a:prstGeom prst="rect">
            <a:avLst/>
          </a:prstGeom>
          <a:solidFill>
            <a:srgbClr val="E2F0F6"/>
          </a:solidFill>
          <a:ln w="6350">
            <a:solidFill>
              <a:srgbClr val="E2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713232" y="4445813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13232" y="444581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(A8)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" y="4774997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확인 판정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89504" y="4409237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6종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42816" y="4409237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운영시간 / 이동 가능 / 시각 중복 / 악천후 야외 / 재방문 변경점 / 과거 불편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889504" y="4599432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42816" y="4599432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고칠 수 있으면 묻지 않는다 — 물음이 잦으면 읽지 않는다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89504" y="4789627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42816" y="4789627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카드 없이 확정 — «확인 필요» 표시만 남는다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30352" y="5190134"/>
            <a:ext cx="11128248" cy="753466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30352" y="5190134"/>
            <a:ext cx="2194560" cy="753466"/>
          </a:xfrm>
          <a:prstGeom prst="rect">
            <a:avLst/>
          </a:prstGeom>
          <a:solidFill>
            <a:srgbClr val="E2F0F6"/>
          </a:solidFill>
          <a:ln w="6350">
            <a:solidFill>
              <a:srgbClr val="E2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713232" y="531815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713232" y="531815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</a:t>
            </a: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(A9)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13232" y="564733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· 학습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889504" y="5281574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42816" y="5281574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선택과 변경분을 신호로 추출 → 수정 행동 저장 → 취향 재집계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889504" y="5471770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242816" y="5471770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뒤에만 배운다 · «그대로 진행»은 신호로 세지 않는다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889504" y="5661965"/>
            <a:ext cx="132588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42816" y="5661965"/>
            <a:ext cx="719632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학습만 건너뛰고 응답은 정상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Placement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기능은 어디에 있는가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질문으로 주신 일곱 가지가 각각 어느 계층 · 어느 Agent 에 놓이는지 못 박습니다.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45552" y="1261872"/>
            <a:ext cx="100584" cy="100584"/>
          </a:xfrm>
          <a:prstGeom prst="ellipse">
            <a:avLst/>
          </a:prstGeom>
          <a:solidFill>
            <a:srgbClr val="A01A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991856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814816" y="1261872"/>
            <a:ext cx="100584" cy="100584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96112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784080" y="1261872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930384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753344" y="1261872"/>
            <a:ext cx="100584" cy="100584"/>
          </a:xfrm>
          <a:prstGeom prst="ellipse">
            <a:avLst/>
          </a:prstGeom>
          <a:solidFill>
            <a:srgbClr val="B3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899648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1755648"/>
            <a:ext cx="11128248" cy="603504"/>
          </a:xfrm>
          <a:prstGeom prst="roundRect">
            <a:avLst>
              <a:gd name="adj" fmla="val 6061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9808" y="175564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· 요청 이해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24912" y="1920240"/>
            <a:ext cx="1060704" cy="274320"/>
          </a:xfrm>
          <a:prstGeom prst="roundRect">
            <a:avLst>
              <a:gd name="adj" fmla="val 10000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24912" y="192024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31920" y="17556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1755648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발화에서 조건을 뽑고 좌표까지 확정한다. 위치 해석은 «요청 이해»지 «장소 찾기»가 아니다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2432304"/>
            <a:ext cx="11128248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243230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24912" y="2596896"/>
            <a:ext cx="1060704" cy="274320"/>
          </a:xfrm>
          <a:prstGeom prst="roundRect">
            <a:avLst>
              <a:gd name="adj" fmla="val 10000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724912" y="259689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31920" y="24323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432304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갈래별 검색 → 순위 융합 → 재순위. 저장소 조회는 인프라가 하고 A2 는 «무엇을 꺼낼지»를 정한다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0352" y="3108960"/>
            <a:ext cx="11128248" cy="603504"/>
          </a:xfrm>
          <a:prstGeom prst="roundRect">
            <a:avLst>
              <a:gd name="adj" fmla="val 6061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49808" y="31089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 계산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24912" y="3273552"/>
            <a:ext cx="1060704" cy="274320"/>
          </a:xfrm>
          <a:prstGeom prst="roundRect">
            <a:avLst>
              <a:gd name="adj" fmla="val 10000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724912" y="327355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31920" y="31089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Gap(A7)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3108960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· 도착 · 출발 · 체류시간을 정한다. 외부 호출 없이 계산만 하므로 도메인이다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0352" y="3785616"/>
            <a:ext cx="11128248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49808" y="378561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확인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24912" y="3950208"/>
            <a:ext cx="1060704" cy="274320"/>
          </a:xfrm>
          <a:prstGeom prst="roundRect">
            <a:avLst>
              <a:gd name="adj" fmla="val 10000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724912" y="395020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931920" y="378561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 → 그래프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0" y="3785616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A8 이 «물을 것»을 고르고, 그래프가 정지 · 상태 저장 · 재개를 맡는다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" y="4462272"/>
            <a:ext cx="11128248" cy="603504"/>
          </a:xfrm>
          <a:prstGeom prst="roundRect">
            <a:avLst>
              <a:gd name="adj" fmla="val 6061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49808" y="446227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선 그리기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24912" y="4626864"/>
            <a:ext cx="1060704" cy="274320"/>
          </a:xfrm>
          <a:prstGeom prst="roundRect">
            <a:avLst>
              <a:gd name="adj" fmla="val 10000"/>
            </a:avLst>
          </a:prstGeom>
          <a:solidFill>
            <a:srgbClr val="FAEAF4"/>
          </a:solidFill>
          <a:ln w="12700">
            <a:solidFill>
              <a:srgbClr val="A01A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724912" y="462686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931920" y="44622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앱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00800" y="4462272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 지도 공급자를 모른다 — 좌표만 내려주고 선은 앱이 그린다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30352" y="5138928"/>
            <a:ext cx="11128248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49808" y="513892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· ORS 호출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24912" y="5303520"/>
            <a:ext cx="1060704" cy="274320"/>
          </a:xfrm>
          <a:prstGeom prst="roundRect">
            <a:avLst>
              <a:gd name="adj" fmla="val 10000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2724912" y="530352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931920" y="51389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00800" y="5138928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는 직접 부르지 않는다. 타임아웃 · 캐시 · 폴백을 도구 계층이 흡수한다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30352" y="5815584"/>
            <a:ext cx="11128248" cy="603504"/>
          </a:xfrm>
          <a:prstGeom prst="roundRect">
            <a:avLst>
              <a:gd name="adj" fmla="val 6061"/>
            </a:avLst>
          </a:prstGeom>
          <a:solidFill>
            <a:srgbClr val="F7F9FA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749808" y="581558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· 티켓 연결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24912" y="5980176"/>
            <a:ext cx="1060704" cy="274320"/>
          </a:xfrm>
          <a:prstGeom prst="roundRect">
            <a:avLst>
              <a:gd name="adj" fmla="val 10000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2724912" y="598017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931920" y="58155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 + 도구 계층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400800" y="5815584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«예약이 필요한가»를 확인해 공식 링크로 넘긴다. 예매 실행 연동은 다음 장 참고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30352" y="6473952"/>
            <a:ext cx="9144" cy="9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· Agent Responsibility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Booking Integration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예약 · 티켓은 어디까지 되는가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«정보를 확인해 넘기는 것»과 «대신 예매하는 것»은 다른 일입니다. 지금은 앞쪽만 합니다.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7373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되는 것 — 정보 확인과 연결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2066544"/>
            <a:ext cx="594360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49808" y="2139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예약이 필요한가 · 어떻게 하는가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28032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2432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페이지에서 예약 정책을 확인해 후보에 담는다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2852928"/>
            <a:ext cx="594360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49808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· 예매처 링크 전달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28032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 → UI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3218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공식 주소를 그대로 내려보내 앱이 연결한다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3639312"/>
            <a:ext cx="594360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49808" y="37124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 시 «예약 정책이 달라졌다»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3712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Verifier(A4)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808" y="4005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방문 이후 바뀐 항목으로 예약을 함께 비교한다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" y="4425696"/>
            <a:ext cx="594360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49808" y="4498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«예약이 까다로웠» 과거 불편 경고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4498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9808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기록의 불편 태그가 이번 후보와 겹치면 확인 카드로 올린다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9399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아닌 것 — 예매 실행 (계획된 어댑터)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93992" y="2066544"/>
            <a:ext cx="4937760" cy="694944"/>
          </a:xfrm>
          <a:prstGeom prst="roundRect">
            <a:avLst>
              <a:gd name="adj" fmla="val 5263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013448" y="21396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예약 연동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13448" y="2432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· 예약 실행을 서비스 안에서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93992" y="2852928"/>
            <a:ext cx="4937760" cy="694944"/>
          </a:xfrm>
          <a:prstGeom prst="roundRect">
            <a:avLst>
              <a:gd name="adj" fmla="val 5263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013448" y="2926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 · 공연 예매처 연동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13448" y="3218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잔여석 조회 · 예매 페이지 딥링크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93992" y="3639312"/>
            <a:ext cx="4937760" cy="694944"/>
          </a:xfrm>
          <a:prstGeom prst="roundRect">
            <a:avLst>
              <a:gd name="adj" fmla="val 5263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013448" y="37124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상태 되읽기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13448" y="4005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예약함 → 일정에 확정 표시 · 취소 시 재편성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93992" y="4425696"/>
            <a:ext cx="493776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013448" y="44988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붙이는 자리는 이미 정해져 있다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13448" y="4754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계층에 어댑터 하나를 더하고 Verifier(A4)가 그것을 쓰면 됩니다 — Agent 는 바뀌지 않습니다.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0352" y="5358384"/>
            <a:ext cx="11128248" cy="73152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22960" y="5358384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지금은 링크까지만 하는가 — </a:t>
            </a: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예매는 돈이 오가는 행위라 실패했을 때의 책임이 다릅니다. 기획안도 예약·티켓을 마지막 단계(STEP 3)에 두었고, 그 전에 «개인 아카이브가 먼저 작동해야 한다»고 못 박았습니다.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57276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920240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30352" y="2670048"/>
            <a:ext cx="11128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협업하는가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0352" y="3749040"/>
            <a:ext cx="3343656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30352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순서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0352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1건이 지나가는 전체 경로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39768" y="3749040"/>
            <a:ext cx="3343656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39768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흐름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39768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출력이 다음 입력이 되는가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49184" y="3749040"/>
            <a:ext cx="3343656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949184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분기 · 병렬 · 정지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49184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분기와 사람 개입 지점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→ Archive → Itinerary → HITL → Mobile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칸이 이 서비스의 뼈대입니다. 각 칸이 어느 계층에서 돌고 무엇을 넘기는지만 보면 전체가 읽힙니다.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1976933" cy="1042416"/>
          </a:xfrm>
          <a:prstGeom prst="roundRect">
            <a:avLst>
              <a:gd name="adj" fmla="val 3509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0352" y="1865376"/>
            <a:ext cx="19769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2176272"/>
            <a:ext cx="1976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이해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" y="2432304"/>
            <a:ext cx="1867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2871216"/>
            <a:ext cx="19769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3200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3364992"/>
            <a:ext cx="1903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 · 화면 입력값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3913632"/>
            <a:ext cx="1903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조건 · 실행 계획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43861" y="2295144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818181" y="1773936"/>
            <a:ext cx="1976933" cy="1042416"/>
          </a:xfrm>
          <a:prstGeom prst="roundRect">
            <a:avLst>
              <a:gd name="adj" fmla="val 3509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818181" y="1865376"/>
            <a:ext cx="19769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18181" y="2176272"/>
            <a:ext cx="1976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73045" y="2432304"/>
            <a:ext cx="1867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18181" y="2871216"/>
            <a:ext cx="19769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54757" y="3200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854757" y="3364992"/>
            <a:ext cx="1903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여행 조건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54757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54757" y="3913632"/>
            <a:ext cx="1903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프로필 · 경험 조각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31690" y="2295144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106010" y="1773936"/>
            <a:ext cx="1976933" cy="1042416"/>
          </a:xfrm>
          <a:prstGeom prst="roundRect">
            <a:avLst>
              <a:gd name="adj" fmla="val 3509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106010" y="1865376"/>
            <a:ext cx="19769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Itinerary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06010" y="2176272"/>
            <a:ext cx="1976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 계산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60874" y="2432304"/>
            <a:ext cx="1867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Route(A6) · Gap(A7)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06010" y="2871216"/>
            <a:ext cx="19769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42586" y="3200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2586" y="3364992"/>
            <a:ext cx="1903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· 취향 · 이동 · 날씨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42586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42586" y="3913632"/>
            <a:ext cx="1903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 · 구간 정보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19518" y="2295144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7393838" y="1773936"/>
            <a:ext cx="1976933" cy="1042416"/>
          </a:xfrm>
          <a:prstGeom prst="roundRect">
            <a:avLst>
              <a:gd name="adj" fmla="val 3509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393838" y="1865376"/>
            <a:ext cx="19769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93838" y="2176272"/>
            <a:ext cx="1976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확인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48702" y="2432304"/>
            <a:ext cx="1867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 → 그래프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93838" y="2871216"/>
            <a:ext cx="19769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430414" y="3200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30414" y="3364992"/>
            <a:ext cx="1903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 · 경험 조각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430414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30414" y="3913632"/>
            <a:ext cx="1903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카드 · 사용자 선택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407347" y="2295144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681667" y="1773936"/>
            <a:ext cx="1976933" cy="1042416"/>
          </a:xfrm>
          <a:prstGeom prst="roundRect">
            <a:avLst>
              <a:gd name="adj" fmla="val 3509"/>
            </a:avLst>
          </a:prstGeom>
          <a:solidFill>
            <a:srgbClr val="FAEAF4"/>
          </a:solidFill>
          <a:ln w="12700">
            <a:solidFill>
              <a:srgbClr val="A01A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9681667" y="1865376"/>
            <a:ext cx="19769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01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681667" y="2176272"/>
            <a:ext cx="1976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지도 렌더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736531" y="2432304"/>
            <a:ext cx="1867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앱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681667" y="2871216"/>
            <a:ext cx="19769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718243" y="3200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718243" y="3364992"/>
            <a:ext cx="1903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좌표 · 근거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718243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718243" y="3913632"/>
            <a:ext cx="1903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보이는 결과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382305" y="4370832"/>
            <a:ext cx="0" cy="237744"/>
          </a:xfrm>
          <a:prstGeom prst="line">
            <a:avLst/>
          </a:prstGeom>
          <a:noFill/>
          <a:ln w="15875">
            <a:solidFill>
              <a:srgbClr val="B3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094476" y="4608576"/>
            <a:ext cx="2287829" cy="0"/>
          </a:xfrm>
          <a:prstGeom prst="line">
            <a:avLst/>
          </a:prstGeom>
          <a:noFill/>
          <a:ln w="15875">
            <a:solidFill>
              <a:srgbClr val="B3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094476" y="4370832"/>
            <a:ext cx="0" cy="237744"/>
          </a:xfrm>
          <a:prstGeom prst="line">
            <a:avLst/>
          </a:prstGeom>
          <a:noFill/>
          <a:ln w="15875">
            <a:solidFill>
              <a:srgbClr val="B35309"/>
            </a:solidFill>
            <a:prstDash val="dash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240780" y="4626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변경을 고르면 Itinerary 로 되돌아간다 (횟수 제한)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0352" y="5010912"/>
            <a:ext cx="35204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731520" y="51023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 와 Archive 사이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31520" y="5358384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이 확정한 조건을 A2 와 A3 가 «각자» 읽습니다. 둘은 서로를 기다리지 않습니다.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270248" y="5010912"/>
            <a:ext cx="3520440" cy="9144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4471416" y="51023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Itinerary 와 HITL 사이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471416" y="5358384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일정이 완성된 뒤에 검사합니다. 검사가 편성 중에 끼면 아직 없는 항목을 검사하게 됩니다.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010144" y="5010912"/>
            <a:ext cx="35204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8211312" y="51023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과 Mobile 사이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211312" y="5358384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시점의 상태가 저장돼 있어야 앱을 껐다 켜도 확인 카드가 살아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Order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 1건이 지나가는 순서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번호가 실행 순서입니다. 같은 번호는 동시에 실행됩니다.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45552" y="1261872"/>
            <a:ext cx="100584" cy="100584"/>
          </a:xfrm>
          <a:prstGeom prst="ellipse">
            <a:avLst/>
          </a:prstGeom>
          <a:solidFill>
            <a:srgbClr val="A01A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991856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814816" y="1261872"/>
            <a:ext cx="100584" cy="100584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96112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784080" y="1261872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930384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753344" y="1261872"/>
            <a:ext cx="100584" cy="100584"/>
          </a:xfrm>
          <a:prstGeom prst="ellipse">
            <a:avLst/>
          </a:prstGeom>
          <a:solidFill>
            <a:srgbClr val="B3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899648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232" y="1792224"/>
            <a:ext cx="2103120" cy="566928"/>
          </a:xfrm>
          <a:prstGeom prst="roundRect">
            <a:avLst>
              <a:gd name="adj" fmla="val 6452"/>
            </a:avLst>
          </a:prstGeom>
          <a:solidFill>
            <a:srgbClr val="FAEAF4"/>
          </a:solidFill>
          <a:ln w="12700">
            <a:solidFill>
              <a:srgbClr val="A01A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13232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→ API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8096" y="207568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전송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1673352"/>
            <a:ext cx="292608" cy="292608"/>
          </a:xfrm>
          <a:prstGeom prst="ellipse">
            <a:avLst/>
          </a:prstGeom>
          <a:solidFill>
            <a:srgbClr val="A01A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436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07792" y="2075688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319272" y="1792224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19272" y="1837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74136" y="207568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· 실행 계획 확정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0" y="1673352"/>
            <a:ext cx="292608" cy="292608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20040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88152" y="2075688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199632" y="1463040"/>
            <a:ext cx="2651760" cy="566928"/>
          </a:xfrm>
          <a:prstGeom prst="roundRect">
            <a:avLst>
              <a:gd name="adj" fmla="val 6452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199632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54496" y="174650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조회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80760" y="1344168"/>
            <a:ext cx="292608" cy="292608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08076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99632" y="2157984"/>
            <a:ext cx="2651760" cy="566928"/>
          </a:xfrm>
          <a:prstGeom prst="roundRect">
            <a:avLst>
              <a:gd name="adj" fmla="val 6452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199632" y="2203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 → Verifier(A4)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54496" y="244144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탐색 · 공식정보 대조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80760" y="2039112"/>
            <a:ext cx="292608" cy="292608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080760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54112" y="18470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실행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942832" y="2075688"/>
            <a:ext cx="27432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354312" y="1792224"/>
            <a:ext cx="2194560" cy="566928"/>
          </a:xfrm>
          <a:prstGeom prst="roundRect">
            <a:avLst>
              <a:gd name="adj" fmla="val 6452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354312" y="18379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합류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409176" y="207568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상태 통합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235440" y="1673352"/>
            <a:ext cx="292608" cy="292608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923544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940796" y="2359152"/>
            <a:ext cx="0" cy="45720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353312" y="2816352"/>
            <a:ext cx="975664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353312" y="2816352"/>
            <a:ext cx="0" cy="256032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713232" y="3072384"/>
            <a:ext cx="3108960" cy="566928"/>
          </a:xfrm>
          <a:prstGeom prst="roundRect">
            <a:avLst>
              <a:gd name="adj" fmla="val 6452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713232" y="3118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 · Route(A6) · Gap(A7)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68096" y="33558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· 시각 · 이동 · 빈틈 — 하루를 만든다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4360" y="2953512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9436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913632" y="3355848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4325112" y="3072384"/>
            <a:ext cx="2286000" cy="566928"/>
          </a:xfrm>
          <a:prstGeom prst="roundRect">
            <a:avLst>
              <a:gd name="adj" fmla="val 6452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325112" y="3118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379976" y="335584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6종 검사 → 분류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206240" y="2953512"/>
            <a:ext cx="292608" cy="292608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420624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702552" y="3355848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7114032" y="3072384"/>
            <a:ext cx="1371600" cy="566928"/>
          </a:xfrm>
          <a:prstGeom prst="roundRect">
            <a:avLst>
              <a:gd name="adj" fmla="val 6452"/>
            </a:avLst>
          </a:prstGeom>
          <a:solidFill>
            <a:srgbClr val="F7F9FA"/>
          </a:solidFill>
          <a:ln w="12700">
            <a:solidFill>
              <a:srgbClr val="8A92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114032" y="30723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필요?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577072" y="3355848"/>
            <a:ext cx="274320" cy="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8942832" y="3072384"/>
            <a:ext cx="2606040" cy="566928"/>
          </a:xfrm>
          <a:prstGeom prst="roundRect">
            <a:avLst>
              <a:gd name="adj" fmla="val 6452"/>
            </a:avLst>
          </a:prstGeom>
          <a:solidFill>
            <a:srgbClr val="FAEAF4"/>
          </a:solidFill>
          <a:ln w="12700">
            <a:solidFill>
              <a:srgbClr val="A01A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8942832" y="31181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· 사용자 확인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997696" y="335584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선택을 받는다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823960" y="2953512"/>
            <a:ext cx="292608" cy="292608"/>
          </a:xfrm>
          <a:prstGeom prst="ellipse">
            <a:avLst/>
          </a:prstGeom>
          <a:solidFill>
            <a:srgbClr val="A01A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882396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799832" y="3639312"/>
            <a:ext cx="0" cy="493776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1856232" y="4133088"/>
            <a:ext cx="594360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1856232" y="4133088"/>
            <a:ext cx="0" cy="146304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7891272" y="4169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없음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0222992" y="3639312"/>
            <a:ext cx="0" cy="201168"/>
          </a:xfrm>
          <a:prstGeom prst="line">
            <a:avLst/>
          </a:prstGeom>
          <a:noFill/>
          <a:ln w="15875">
            <a:solidFill>
              <a:srgbClr val="B3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2862072" y="3840480"/>
            <a:ext cx="7360920" cy="0"/>
          </a:xfrm>
          <a:prstGeom prst="line">
            <a:avLst/>
          </a:prstGeom>
          <a:noFill/>
          <a:ln w="15875">
            <a:solidFill>
              <a:srgbClr val="B3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2862072" y="3639312"/>
            <a:ext cx="0" cy="201168"/>
          </a:xfrm>
          <a:prstGeom prst="line">
            <a:avLst/>
          </a:prstGeom>
          <a:noFill/>
          <a:ln w="15875">
            <a:solidFill>
              <a:srgbClr val="B35309"/>
            </a:solidFill>
            <a:prstDash val="dash"/>
            <a:head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3044952" y="38587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변경을 골랐으면 → 5 로 되돌아가 재편성 (횟수 제한)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13232" y="4279392"/>
            <a:ext cx="3108960" cy="566928"/>
          </a:xfrm>
          <a:prstGeom prst="roundRect">
            <a:avLst>
              <a:gd name="adj" fmla="val 6452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713232" y="43251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→ Memory(A9)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768096" y="456285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행동 기록 · 취향 재집계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94360" y="4160520"/>
            <a:ext cx="292608" cy="292608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5943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913632" y="4562856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4325112" y="4279392"/>
            <a:ext cx="2286000" cy="566928"/>
          </a:xfrm>
          <a:prstGeom prst="roundRect">
            <a:avLst>
              <a:gd name="adj" fmla="val 6452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4325112" y="4325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구성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4379976" y="45628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함께 담는다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206240" y="4160520"/>
            <a:ext cx="292608" cy="292608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420624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702552" y="4562856"/>
            <a:ext cx="292608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7114032" y="4279392"/>
            <a:ext cx="2286000" cy="566928"/>
          </a:xfrm>
          <a:prstGeom prst="roundRect">
            <a:avLst>
              <a:gd name="adj" fmla="val 6452"/>
            </a:avLst>
          </a:prstGeom>
          <a:solidFill>
            <a:srgbClr val="FAEAF4"/>
          </a:solidFill>
          <a:ln w="12700">
            <a:solidFill>
              <a:srgbClr val="A01A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7114032" y="4325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표시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7168896" y="45628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· 지도 · 카드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995160" y="4160520"/>
            <a:ext cx="292608" cy="292608"/>
          </a:xfrm>
          <a:prstGeom prst="ellipse">
            <a:avLst/>
          </a:prstGeom>
          <a:solidFill>
            <a:srgbClr val="A01A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69951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9582912" y="43708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보강 — 화면이 그려진 뒤 실제 경로 좌표와 공식정보 검증을 채운다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«수정»이라도 거치는 Agent 가 다르다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기획안이 정의한 네 가지 상황입니다. 무엇을 건너뛰는지가 응답 시간을 가릅니다.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755648"/>
          <a:ext cx="11128248" cy="23774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발화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A2·A3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A5·A6·A7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신규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«오늘 오후에 성수에서 놀고 싶어요»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전체 생성 · 근거 4건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· 기존 장소 조정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«전시를 30분 더 보고 싶어요»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BD2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시간만 조정 · 여유 부족 알림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· 장소 교체 · 추가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«마지막 카페를 다른 곳으로»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353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353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구간만 교체 · 전/후 비교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· 현장 이벤트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전시가 1시간 일찍 끝남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공백 추천 2곳 · 거절도 동등 선택지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" y="4059936"/>
            <a:ext cx="3520440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49808" y="4169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 가 가장 빠른 이유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9808" y="44439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후보가 필요 없어 탐색을 건너뛰고, 확인 시각을 재사용해 검증도 건너뜁니다. 편성만 다시 돌면 됩니다.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70248" y="4059936"/>
            <a:ext cx="3520440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489704" y="4169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3 의 ◐ 는 «부분»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89704" y="44439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구간만 다시 탐색하고, 새 후보만 검증합니다. 기존 장소 2곳은 건드리지 않습니다.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10144" y="4059936"/>
            <a:ext cx="3520440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229600" y="4169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4 는 캐시를 무시한다</a:t>
            </a:r>
            <a:endParaRPr lang="en-US" sz="1050" dirty="0"/>
          </a:p>
        </p:txBody>
      </p:sp>
      <p:sp>
        <p:nvSpPr>
          <p:cNvPr id="6" name="Text 12"/>
          <p:cNvSpPr/>
          <p:nvPr/>
        </p:nvSpPr>
        <p:spPr>
          <a:xfrm>
            <a:off x="8229600" y="44439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«지금 영업 중인가»는 캐시된 값으로 답할 수 없습니다. 현장에서는 실시간으로 다시 확인합니다.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30352" y="5248656"/>
            <a:ext cx="11128248" cy="658368"/>
          </a:xfrm>
          <a:prstGeom prst="roundRect">
            <a:avLst>
              <a:gd name="adj" fmla="val 5556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22960" y="5248656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경우 모두 공통 — </a:t>
            </a: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전에 사유를 먼저 보여주고 사용자가 고릅니다. CASE 2~4 는 «변경 전 / 변경 후»를 나란히 제시하며, 반영하지 않으면 일정은 그대로입니다.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어떤 출력이 다음 Agent 의 입력이 되는가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는 서로를 호출하지 않습니다. 공유 상태에 남긴 산출물을 다음 Agent 가 읽어 갑니다.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737360"/>
          <a:ext cx="11128248" cy="4023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36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 상태 채널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쪽 →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← 읽는 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담기는가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여행 조건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Router(A1)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 A3 A5 A7 A8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· 날짜 · 시각 · 이동수단 · 좌표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취향 프로필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Preference(A2) · Memory(A9)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A3 A5 A7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 선호 · 실내 성향 · 평균 체류 · 불편 민감도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경험 조각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Preference(A2)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A8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요청과 관련된 지난 방문 · 불편 기록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 후보 목록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Culture(A3) · Verifier(A4)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A7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 · 운영시간 · 주차 · 신뢰 등급을 갖춘 후보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일정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Planner(A5) · Gap(A7)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A6 A8 A9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 · 도착 · 출발 · 체류시간이 정해진 하루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 이동 정보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Route(A6)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응답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소요시간 · 거리 · 경로 선형 · 요금 · 수단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결함 · 확인 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Guardian(A8)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A5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 결과와 사용자에게 물을 선택지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(UI)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A9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카드에서 고른 옵션 — 재편성과 학습의 입력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8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이렇게 됐는지의 조각 — 화면의 «기록 근거»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" y="5705856"/>
            <a:ext cx="11128248" cy="658368"/>
          </a:xfrm>
          <a:prstGeom prst="roundRect">
            <a:avLst>
              <a:gd name="adj" fmla="val 5556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2960" y="5705856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 규칙 — </a:t>
            </a: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갈래가 같은 채널에 쓰므로 단순히 이어 붙이면 합류마다 목록이 불어납니다. 식별자로 묶어 덮어쓰기 때문에 몇 번을 합쳐도 결과가 같습니다.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· Agent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Branching · Parallel · HITL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조건 분기 · 병렬 실행 · 사람 개입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이 워크플로를 «필요한 만큼만 돌고, 필요할 때 멈추는» 것으로 만듭니다.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773936"/>
            <a:ext cx="11128248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30352" y="1773936"/>
            <a:ext cx="1920240" cy="1316736"/>
          </a:xfrm>
          <a:prstGeom prst="rect">
            <a:avLst/>
          </a:prstGeom>
          <a:solidFill>
            <a:srgbClr val="E2F0F6"/>
          </a:solidFill>
          <a:ln w="6350">
            <a:solidFill>
              <a:srgbClr val="E2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조건 분기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22860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70048" y="1901952"/>
            <a:ext cx="8750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유형이 실행 계획을 만들고, 계획에 켜진 Agent 만 깨운다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70048" y="2194560"/>
            <a:ext cx="8750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「작년에 갔던 곳」 한 줄이면 Preference(A2) 하나만 돌고 끝난다 — 편성 · 검증 · 학습은 아예 실행되지 않는다.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70048" y="2633472"/>
            <a:ext cx="8750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분기 지점 3곳 — 팬아웃 / 일정을 만들 것인가 / 확인이 필요한가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3255264"/>
            <a:ext cx="11128248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30352" y="3255264"/>
            <a:ext cx="1920240" cy="1316736"/>
          </a:xfrm>
          <a:prstGeom prst="rect">
            <a:avLst/>
          </a:prstGeom>
          <a:solidFill>
            <a:srgbClr val="E2F0F6"/>
          </a:solidFill>
          <a:ln w="6350">
            <a:solidFill>
              <a:srgbClr val="E2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0352" y="3401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병렬 실행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352" y="37673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70048" y="3383280"/>
            <a:ext cx="8750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서로를 기다릴 이유가 없는 것은 같은 단계에 둔다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0048" y="3675888"/>
            <a:ext cx="8750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∥ A3 가 동시에 돌고, 검증과 주변 검색은 실행 시점에 개수가 정해지는 동적 갈래로 펼친다.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0048" y="4114800"/>
            <a:ext cx="8750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남은 시간이 모자라면 갈래 수를 줄인다 — 줄여도 결과는 나온다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4736592"/>
            <a:ext cx="11128248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30352" y="4736592"/>
            <a:ext cx="1920240" cy="1316736"/>
          </a:xfrm>
          <a:prstGeom prst="rect">
            <a:avLst/>
          </a:prstGeom>
          <a:solidFill>
            <a:srgbClr val="FCEDE0"/>
          </a:solidFill>
          <a:ln w="6350">
            <a:solidFill>
              <a:srgbClr val="FCE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30352" y="4882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 개입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" y="524865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70048" y="4864608"/>
            <a:ext cx="8750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 임의로 바꾸지 않는다 — 바꾸기 전에 사용자가 고른다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70048" y="5157216"/>
            <a:ext cx="8750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Guardian(A8)이 «자동으로 고칠 수 있는 것»과 «물어야 하는 것»을 가르고, 후자만 카드로 올린 뒤 그래프가 멈춘다.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70048" y="5596128"/>
            <a:ext cx="8750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멈춘 시점의 상태를 통째로 저장한다 — 앱을 껐다 켜도 카드가 살아 있다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572768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920240"/>
            <a:ext cx="11128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· C4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30352" y="2670048"/>
            <a:ext cx="11128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실행되고 연결되는가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0352" y="3749040"/>
            <a:ext cx="3343656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30352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Context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0352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시스템과 바깥의 관계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39768" y="3749040"/>
            <a:ext cx="3343656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39768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Container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39768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단위와 연결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49184" y="3749040"/>
            <a:ext cx="3343656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949184" y="3840480"/>
            <a:ext cx="3343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Component · 포트/어댑터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49184" y="4151376"/>
            <a:ext cx="334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내부와 외부 연결 방식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C4 — Level 1 ·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시스템과 바깥의 관계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MOBIDIC 을 하나의 상자로 두고, 누가 쓰고 무엇에 기대는지만 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62272" y="1700784"/>
            <a:ext cx="4297680" cy="1225296"/>
          </a:xfrm>
          <a:prstGeom prst="roundRect">
            <a:avLst>
              <a:gd name="adj" fmla="val 2985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462272" y="17465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MOBIDIC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17136" y="1984248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아카이브 기반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문화생활 일정 · 동선 서비스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1920240"/>
            <a:ext cx="2651760" cy="786384"/>
          </a:xfrm>
          <a:prstGeom prst="roundRect">
            <a:avLst>
              <a:gd name="adj" fmla="val 4651"/>
            </a:avLst>
          </a:prstGeom>
          <a:solidFill>
            <a:srgbClr val="FAEAF4"/>
          </a:solidFill>
          <a:ln w="12700">
            <a:solidFill>
              <a:srgbClr val="A01A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4672" y="1965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문화생활 사용자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220370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일정을 요청하고 · 고르고 · 다녀와 기록한다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47872" y="2313432"/>
            <a:ext cx="822960" cy="0"/>
          </a:xfrm>
          <a:prstGeom prst="line">
            <a:avLst/>
          </a:prstGeom>
          <a:noFill/>
          <a:ln w="15875">
            <a:solidFill>
              <a:srgbClr val="A01A7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456432" y="20665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선택 · 기록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765792" y="1920240"/>
            <a:ext cx="1920240" cy="786384"/>
          </a:xfrm>
          <a:prstGeom prst="roundRect">
            <a:avLst>
              <a:gd name="adj" fmla="val 4651"/>
            </a:avLst>
          </a:prstGeom>
          <a:solidFill>
            <a:srgbClr val="FAEAF4"/>
          </a:solidFill>
          <a:ln w="12700">
            <a:solidFill>
              <a:srgbClr val="A01A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765792" y="1965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기기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20656" y="22037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· 알림 · 지도 렌더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851392" y="2313432"/>
            <a:ext cx="822960" cy="0"/>
          </a:xfrm>
          <a:prstGeom prst="line">
            <a:avLst/>
          </a:prstGeom>
          <a:noFill/>
          <a:ln w="15875">
            <a:solidFill>
              <a:srgbClr val="A01A7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0352" y="3200400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기대는 외부 시스템 — 전부 «없어도 서비스가 성립»해야 한다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3529584"/>
            <a:ext cx="2066544" cy="694944"/>
          </a:xfrm>
          <a:prstGeom prst="roundRect">
            <a:avLst>
              <a:gd name="adj" fmla="val 5263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30352" y="3575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문화 데이터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5216" y="38130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· 문화시설 정보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63624" y="3218688"/>
            <a:ext cx="0" cy="27432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779776" y="3529584"/>
            <a:ext cx="2066544" cy="694944"/>
          </a:xfrm>
          <a:prstGeom prst="roundRect">
            <a:avLst>
              <a:gd name="adj" fmla="val 5263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779776" y="3575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경로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34640" y="38130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· 자동차 · 도보 · 대중교통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13048" y="3218688"/>
            <a:ext cx="0" cy="27432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029200" y="3529584"/>
            <a:ext cx="2066544" cy="694944"/>
          </a:xfrm>
          <a:prstGeom prst="roundRect">
            <a:avLst>
              <a:gd name="adj" fmla="val 5263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29200" y="3575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예보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84064" y="38130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예보 · 실황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62472" y="3218688"/>
            <a:ext cx="0" cy="27432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278624" y="3529584"/>
            <a:ext cx="2066544" cy="694944"/>
          </a:xfrm>
          <a:prstGeom prst="roundRect">
            <a:avLst>
              <a:gd name="adj" fmla="val 5263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278624" y="3575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검색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33488" y="38130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공식정보 대조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311896" y="3218688"/>
            <a:ext cx="0" cy="27432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528048" y="3529584"/>
            <a:ext cx="2066544" cy="694944"/>
          </a:xfrm>
          <a:prstGeom prst="roundRect">
            <a:avLst>
              <a:gd name="adj" fmla="val 5263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9528048" y="35753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82912" y="38130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 이해 · 임베딩 · 재순위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61320" y="3218688"/>
            <a:ext cx="0" cy="27432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611112" y="2926080"/>
            <a:ext cx="0" cy="27432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563624" y="3200400"/>
            <a:ext cx="9601200" cy="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30352" y="4517136"/>
            <a:ext cx="11128248" cy="100584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22960" y="46085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그림이 말하는 것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4882896"/>
            <a:ext cx="10543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하나이고, 시스템이 기대는 외부는 다섯 묶음입니다. 다섯 전부에 폴백이 있어 어느 하나가 죽어도 서비스는 축소된 형태로 답합니다 — 이 원칙이 L2 의 «도구 계층»을 만든 이유입니다.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C4 — Level 2 · Container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단위와 연결 관계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네모 하나가 «따로 실행되거나 따로 배포되는 것»입니다.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45552" y="1261872"/>
            <a:ext cx="100584" cy="100584"/>
          </a:xfrm>
          <a:prstGeom prst="ellipse">
            <a:avLst/>
          </a:prstGeom>
          <a:solidFill>
            <a:srgbClr val="A01A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991856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814816" y="1261872"/>
            <a:ext cx="100584" cy="100584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96112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784080" y="1261872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930384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753344" y="1261872"/>
            <a:ext cx="100584" cy="100584"/>
          </a:xfrm>
          <a:prstGeom prst="ellipse">
            <a:avLst/>
          </a:prstGeom>
          <a:solidFill>
            <a:srgbClr val="B3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899648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232" y="1719072"/>
            <a:ext cx="3108960" cy="731520"/>
          </a:xfrm>
          <a:prstGeom prst="roundRect">
            <a:avLst>
              <a:gd name="adj" fmla="val 5000"/>
            </a:avLst>
          </a:prstGeom>
          <a:solidFill>
            <a:srgbClr val="FAEAF4"/>
          </a:solidFill>
          <a:ln w="12700">
            <a:solidFill>
              <a:srgbClr val="A01A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13232" y="1764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" y="2002536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(Expo)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지도 · 오프라인 캐시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13632" y="2084832"/>
            <a:ext cx="548640" cy="0"/>
          </a:xfrm>
          <a:prstGeom prst="line">
            <a:avLst/>
          </a:prstGeom>
          <a:noFill/>
          <a:ln w="15875">
            <a:solidFill>
              <a:srgbClr val="A01A7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730752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· 스트리밍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53712" y="1572768"/>
            <a:ext cx="4937760" cy="3035808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2700">
            <a:solidFill>
              <a:srgbClr val="8A929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00016" y="16276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컨테이너 1개 (MVP)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36592" y="1883664"/>
            <a:ext cx="4572000" cy="530352"/>
          </a:xfrm>
          <a:prstGeom prst="roundRect">
            <a:avLst>
              <a:gd name="adj" fmla="val 6897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36592" y="1929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91456" y="2167128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접수 · 스트리밍 — 판단은 하지 않는다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22592" y="2414016"/>
            <a:ext cx="0" cy="219456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736592" y="2633472"/>
            <a:ext cx="4572000" cy="932688"/>
          </a:xfrm>
          <a:prstGeom prst="roundRect">
            <a:avLst>
              <a:gd name="adj" fmla="val 3922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36592" y="2679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그래프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91456" y="2916936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실행 순서 · 분기 · 병렬 · 정지/재개 · 상태 병합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28032" y="31821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A2 A3 A4  ·  A5 A6 A7  ·  A8 A9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22592" y="3566160"/>
            <a:ext cx="0" cy="219456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736592" y="3785616"/>
            <a:ext cx="4572000" cy="530352"/>
          </a:xfrm>
          <a:prstGeom prst="roundRect">
            <a:avLst>
              <a:gd name="adj" fmla="val 6897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36592" y="38313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 (어댑터)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91456" y="4069080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· 캐시 · 폴백 · 응답 정규화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3232" y="3017520"/>
            <a:ext cx="3108960" cy="786384"/>
          </a:xfrm>
          <a:prstGeom prst="roundRect">
            <a:avLst>
              <a:gd name="adj" fmla="val 4651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13232" y="3063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+ pgvector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8096" y="3300984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 · 확정 일정 · 장소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인덱스 · 정지 지점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07992" y="3099816"/>
            <a:ext cx="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840480" y="3099816"/>
            <a:ext cx="822960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13232" y="3858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는 같은 컨테이너 안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857232" y="2011680"/>
            <a:ext cx="1828800" cy="2194560"/>
          </a:xfrm>
          <a:prstGeom prst="roundRect">
            <a:avLst>
              <a:gd name="adj" fmla="val 2000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9857232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10종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912096" y="2295144"/>
            <a:ext cx="171907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· 지도/경로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· 웹검색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326880" y="4050792"/>
            <a:ext cx="512064" cy="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759952" y="4224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계층을 통해서만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0352" y="4754880"/>
            <a:ext cx="11128248" cy="786384"/>
          </a:xfrm>
          <a:prstGeom prst="roundRect">
            <a:avLst>
              <a:gd name="adj" fmla="val 4651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22960" y="4754880"/>
            <a:ext cx="10543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 — </a:t>
            </a:r>
            <a:r>
              <a:rPr lang="en-US" sz="10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는 그래프를 부르기만 하고, 그래프는 외부를 직접 부르지 않습니다. 바깥과 닿는 지점이 «도구 계층» 하나로 모여 있어, 제공자를 바꿔도 Agent 는 그대로입니다.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C4 — Level 3 · Component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그래프 안쪽 — Agent 흐름과 데이터 흐름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가 실행 순서와 상태를, LangChain 이 모델 · 임베딩 호출을 맡습니다. 위 화살표가 실행 순서, 아래 회색 글씨가 오가는 데이터입니다.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394192" y="1261872"/>
            <a:ext cx="100584" cy="100584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540496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363456" y="1261872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50976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332720" y="1261872"/>
            <a:ext cx="100584" cy="100584"/>
          </a:xfrm>
          <a:prstGeom prst="ellipse">
            <a:avLst/>
          </a:prstGeom>
          <a:solidFill>
            <a:srgbClr val="B3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479024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" y="1773936"/>
            <a:ext cx="1737360" cy="548640"/>
          </a:xfrm>
          <a:prstGeom prst="roundRect">
            <a:avLst>
              <a:gd name="adj" fmla="val 666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7512" y="1819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Router(A1)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" y="20574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이해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68880" y="2048256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770632" y="1517904"/>
            <a:ext cx="2286000" cy="548640"/>
          </a:xfrm>
          <a:prstGeom prst="roundRect">
            <a:avLst>
              <a:gd name="adj" fmla="val 666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70632" y="1563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Preference(A2)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25496" y="180136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70632" y="2103120"/>
            <a:ext cx="2286000" cy="548640"/>
          </a:xfrm>
          <a:prstGeom prst="roundRect">
            <a:avLst>
              <a:gd name="adj" fmla="val 666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770632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Culture(A3)·Verifier(A4)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25496" y="238658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· 검증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20640" y="2048256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22392" y="1773936"/>
            <a:ext cx="1554480" cy="548640"/>
          </a:xfrm>
          <a:prstGeom prst="roundRect">
            <a:avLst>
              <a:gd name="adj" fmla="val 666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22392" y="1819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77256" y="20574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통합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40880" y="2048256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342632" y="1773936"/>
            <a:ext cx="2377440" cy="548640"/>
          </a:xfrm>
          <a:prstGeom prst="roundRect">
            <a:avLst>
              <a:gd name="adj" fmla="val 6667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342632" y="1819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Planner(A5)·Route(A6)·Gap(A7)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97496" y="205740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편성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784080" y="2048256"/>
            <a:ext cx="237744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085832" y="1773936"/>
            <a:ext cx="1554480" cy="548640"/>
          </a:xfrm>
          <a:prstGeom prst="roundRect">
            <a:avLst>
              <a:gd name="adj" fmla="val 666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0085832" y="1819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Guardian(A8)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140696" y="20574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· 카드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863072" y="2322576"/>
            <a:ext cx="0" cy="310896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085832" y="2633472"/>
            <a:ext cx="1554480" cy="548640"/>
          </a:xfrm>
          <a:prstGeom prst="roundRect">
            <a:avLst>
              <a:gd name="adj" fmla="val 666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085832" y="2679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Memory(A9)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140696" y="2916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· 학습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67512" y="3236976"/>
            <a:ext cx="10853928" cy="0"/>
          </a:xfrm>
          <a:prstGeom prst="line">
            <a:avLst/>
          </a:prstGeom>
          <a:noFill/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30352" y="29626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조건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(지역 · 날짜 · 좌표)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182112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 프로필 ·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경험 조각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50992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후보 목록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(신뢰 등급 포함)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119872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 ·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이동 정보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222992" y="331012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· 확인 카드 →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행동 기록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0352" y="3968496"/>
            <a:ext cx="11128248" cy="603504"/>
          </a:xfrm>
          <a:prstGeom prst="roundRect">
            <a:avLst>
              <a:gd name="adj" fmla="val 6061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804672" y="3968496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계층 (어댑터) — 지오코딩 · 경로 · 문화 API · 날씨 · 웹검색 · 모델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903720" y="396849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· A4 · A6 · A7 이 여기를 통해서만 바깥에 닿는다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67912" y="3703320"/>
            <a:ext cx="0" cy="256032"/>
          </a:xfrm>
          <a:prstGeom prst="line">
            <a:avLst/>
          </a:prstGeom>
          <a:noFill/>
          <a:ln w="15875">
            <a:solidFill>
              <a:srgbClr val="B35309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8439912" y="3703320"/>
            <a:ext cx="0" cy="256032"/>
          </a:xfrm>
          <a:prstGeom prst="line">
            <a:avLst/>
          </a:prstGeom>
          <a:noFill/>
          <a:ln w="15875">
            <a:solidFill>
              <a:srgbClr val="B35309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30352" y="4700016"/>
            <a:ext cx="11128248" cy="603504"/>
          </a:xfrm>
          <a:prstGeom prst="roundRect">
            <a:avLst>
              <a:gd name="adj" fmla="val 6061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04672" y="4700016"/>
            <a:ext cx="10579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상태 — 위 모든 산출물이 여기 누적되고, 정지 시 통째로 저장된다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Ports &amp; Adapters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외부 API 가 어떻게 연결되는가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안쪽(도메인 · 응용)은 바깥을 모릅니다. 어댑터가 양쪽을 잇고, 의존은 바깥에서 안으로만 흐릅니다.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25112" y="1755648"/>
            <a:ext cx="448056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07992" y="1810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— 바깥을 모른다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53712" y="2084832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53712" y="2130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— LangGraph 그래프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08576" y="236829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 · 분기 · 병렬 · 정지/재개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53712" y="2761488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E8F4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53712" y="2807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— 서비스 규칙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08576" y="304495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편성 · 개인화 점수 · 지역 판정 · 검증 기준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53712" y="3438144"/>
            <a:ext cx="4023360" cy="512064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53712" y="343814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상태 — 산출물이 여기 누적된다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1755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들어오는 어댑터 (Driving)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2084832"/>
            <a:ext cx="3566160" cy="603504"/>
          </a:xfrm>
          <a:prstGeom prst="roundRect">
            <a:avLst>
              <a:gd name="adj" fmla="val 6061"/>
            </a:avLst>
          </a:prstGeom>
          <a:solidFill>
            <a:srgbClr val="FAEAF4"/>
          </a:solidFill>
          <a:ln w="12700">
            <a:solidFill>
              <a:srgbClr val="A01A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0352" y="2130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1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" y="23682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입력 → 요청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33088" y="2386584"/>
            <a:ext cx="164592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30352" y="2798064"/>
            <a:ext cx="3566160" cy="603504"/>
          </a:xfrm>
          <a:prstGeom prst="roundRect">
            <a:avLst>
              <a:gd name="adj" fmla="val 6061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30352" y="2843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" y="30815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요청 → 그래프 입력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33088" y="3099816"/>
            <a:ext cx="164592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30352" y="3511296"/>
            <a:ext cx="3566160" cy="73152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13232" y="351129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= «요청 1건»이라는 계약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어댑터가 바뀌어도 Core 는 그대로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034272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나가는 어댑터 (Driven) — 도구 계층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34272" y="2084832"/>
            <a:ext cx="2697480" cy="493776"/>
          </a:xfrm>
          <a:prstGeom prst="roundRect">
            <a:avLst>
              <a:gd name="adj" fmla="val 7407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144000" y="21214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경로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0" y="2340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· ODsay · ORS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833104" y="2331720"/>
            <a:ext cx="164592" cy="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9034272" y="2651760"/>
            <a:ext cx="2697480" cy="493776"/>
          </a:xfrm>
          <a:prstGeom prst="roundRect">
            <a:avLst>
              <a:gd name="adj" fmla="val 7407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9144000" y="26883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· 날씨 · 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0" y="29077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API · 기상 · 검색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833104" y="2898648"/>
            <a:ext cx="164592" cy="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034272" y="3218688"/>
            <a:ext cx="2697480" cy="493776"/>
          </a:xfrm>
          <a:prstGeom prst="roundRect">
            <a:avLst>
              <a:gd name="adj" fmla="val 7407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144000" y="32552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· 모델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0" y="3474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임베딩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833104" y="3465576"/>
            <a:ext cx="164592" cy="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034272" y="3785616"/>
            <a:ext cx="2697480" cy="493776"/>
          </a:xfrm>
          <a:prstGeom prst="roundRect">
            <a:avLst>
              <a:gd name="adj" fmla="val 7407"/>
            </a:avLst>
          </a:prstGeom>
          <a:solidFill>
            <a:srgbClr val="FCEDE0"/>
          </a:solidFill>
          <a:ln w="12700">
            <a:solidFill>
              <a:srgbClr val="B3530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144000" y="3822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· 티켓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44000" y="4041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계획된 어댑터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833104" y="4032504"/>
            <a:ext cx="164592" cy="0"/>
          </a:xfrm>
          <a:prstGeom prst="line">
            <a:avLst/>
          </a:prstGeom>
          <a:noFill/>
          <a:ln w="15875">
            <a:solidFill>
              <a:srgbClr val="B3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9034272" y="4407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는 이 상자들을 직접 부르지 않는다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0352" y="4663440"/>
            <a:ext cx="5486400" cy="1005840"/>
          </a:xfrm>
          <a:prstGeom prst="roundRect">
            <a:avLst>
              <a:gd name="adj" fmla="val 3636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49808" y="47548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지켜진 것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49808" y="5010912"/>
            <a:ext cx="5047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모델이 다른 계층을 전혀 참조하지 않는다 · 그래프 → 도구는 단방향 · 외부 호출이 한 관문을 지난다 · 서버는 지도 공급자를 모른다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53912" y="4663440"/>
            <a:ext cx="54864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373368" y="47548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아닌 것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73368" y="5010912"/>
            <a:ext cx="5047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포트가 인터페이스로 «선언»돼 있지 않다(교체는 import 를 바꾸는 방식) · 도구 계층 한 곳이 응용을 거꾸로 참조한다 · 저장소 접근이 완전히 모이지 않았다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30352" y="5779008"/>
            <a:ext cx="11128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지금은 «육각형을 지향하는 계층 분리»에 가깝습니다.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·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Composition Direction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지금은 «모듈 모놀리스» — 다음은 어디로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배포는 하나, 내부는 관심사별로 갈려 있습니다. 셋 중 어디에 서 있고 어디로 갈지를 그림으로 둡니다.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810512"/>
            <a:ext cx="340461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8A92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0352" y="1938528"/>
            <a:ext cx="3404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A92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모놀리스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546860" y="2304288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546860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덩어리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2651760"/>
            <a:ext cx="3404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1개 · 내부 경계 없음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8096" y="3035808"/>
            <a:ext cx="73152" cy="73152"/>
          </a:xfrm>
          <a:prstGeom prst="ellipse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32688" y="2944368"/>
            <a:ext cx="2801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관심사가 섞여 어디를 고칠지 모름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" y="3364992"/>
            <a:ext cx="73152" cy="73152"/>
          </a:xfrm>
          <a:prstGeom prst="ellipse">
            <a:avLst/>
          </a:prstGeom>
          <a:solidFill>
            <a:srgbClr val="8A92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32688" y="3273552"/>
            <a:ext cx="2801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곳을 고치면 전체를 다시 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08120" y="2953512"/>
            <a:ext cx="310896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392168" y="1810512"/>
            <a:ext cx="3404616" cy="2286000"/>
          </a:xfrm>
          <a:prstGeom prst="roundRect">
            <a:avLst>
              <a:gd name="adj" fmla="val 2000"/>
            </a:avLst>
          </a:prstGeom>
          <a:solidFill>
            <a:srgbClr val="E2F0F6"/>
          </a:solidFill>
          <a:ln w="254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92168" y="1938528"/>
            <a:ext cx="3404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68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모듈 모놀리스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08676" y="2304288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00688B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08676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여기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92168" y="2651760"/>
            <a:ext cx="3404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1개 · 내부 경계 있음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9912" y="3035808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94504" y="2944368"/>
            <a:ext cx="2801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· 응용 · 도메인 · 인프라 분리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9912" y="3364992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94504" y="3273552"/>
            <a:ext cx="2801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 단방향 · 외부 연결은 도구 계층 한 곳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29912" y="3694176"/>
            <a:ext cx="73152" cy="73152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94504" y="3602736"/>
            <a:ext cx="2801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가 같은 컨테이너 — 장애가 전체로 번짐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69936" y="2953512"/>
            <a:ext cx="310896" cy="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253984" y="1810512"/>
            <a:ext cx="340461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253984" y="1938528"/>
            <a:ext cx="3404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마이크로서비스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270492" y="2304288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270492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과하다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53984" y="2651760"/>
            <a:ext cx="3404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N개 · 프로세스 경계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491728" y="3035808"/>
            <a:ext cx="73152" cy="73152"/>
          </a:xfrm>
          <a:prstGeom prst="ellipse">
            <a:avLst/>
          </a:prstGeom>
          <a:solidFill>
            <a:srgbClr val="B3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656320" y="2944368"/>
            <a:ext cx="2801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관측 · 배포 비용이 먼저 든다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491728" y="3364992"/>
            <a:ext cx="73152" cy="73152"/>
          </a:xfrm>
          <a:prstGeom prst="ellipse">
            <a:avLst/>
          </a:prstGeom>
          <a:solidFill>
            <a:srgbClr val="B3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656320" y="3273552"/>
            <a:ext cx="2801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규모에서는 얻는 것보다 잃는 것이 크다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92168" y="4151376"/>
            <a:ext cx="3404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지금 여기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" y="4553712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조건 — 아래가 참이 될 때 컨테이너를 나눈다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4882896"/>
            <a:ext cx="5486400" cy="530352"/>
          </a:xfrm>
          <a:prstGeom prst="roundRect">
            <a:avLst>
              <a:gd name="adj" fmla="val 6897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31520" y="48828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사용자 증가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42032" y="488289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프로세스로 감당이 안 될 때 API · 그래프를 ×N 으로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53912" y="4882896"/>
            <a:ext cx="5486400" cy="530352"/>
          </a:xfrm>
          <a:prstGeom prst="roundRect">
            <a:avLst>
              <a:gd name="adj" fmla="val 6897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355080" y="48828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격리 필요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65592" y="488289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가 죽으면 전체가 죽는 지금 구조를 더는 감당할 수 없을 때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0352" y="5486400"/>
            <a:ext cx="5486400" cy="530352"/>
          </a:xfrm>
          <a:prstGeom prst="roundRect">
            <a:avLst>
              <a:gd name="adj" fmla="val 6897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31520" y="5486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주기 분리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542032" y="54864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앱과 그래프를 따로 배포해야 할 때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53912" y="5486400"/>
            <a:ext cx="5486400" cy="530352"/>
          </a:xfrm>
          <a:prstGeom prst="roundRect">
            <a:avLst>
              <a:gd name="adj" fmla="val 6897"/>
            </a:avLst>
          </a:prstGeom>
          <a:solidFill>
            <a:srgbClr val="E2F0F6"/>
          </a:solidFill>
          <a:ln w="1270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355080" y="5486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할 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65592" y="54864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포트를 인터페이스로 선언 — 나누기 전에 경계를 계약으로 만든다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87952" y="365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↔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11128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기획안이 약속한 것과 지금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207008"/>
            <a:ext cx="7836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상태는 소스를 읽고 판정한 것입니다. 문서가 코드보다 앞서 나가면 이 표가 근거를 잃습니다.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755648"/>
          <a:ext cx="11128248" cy="425196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9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기획안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— 어느 Agent · 계층이 맡는가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1.3-② 통합 탐색 (기간형 + 상시)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 4소스 병렬 — Culture(A3)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1.3-③ 상황 반영 동선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3종 + 날씨 반영 — Route(A6) · Planner(A5)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2.1-② 선제적 알림과 대안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불편이 이번 일정과 겹치면 경고로 승격 — Guardian(A8)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2.1-③ 재방문 변경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지난 방문 이후 달라진 점 비교 — Verifier(A4)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2.2-② 일정 공백 채우기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빈틈 탐지 → 주변 추천 → 삽입 — Gap(A7)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2.2-③ 사용자 개입 (이유 먼저 · 전/후)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정지 → 선택 → 재편성 — Guardian(A8) + 그래프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2.3-① 수정 행동 학습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카드 선택과 일정 diff 를 남기고 되읽는다 — Memory(A9)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 캘린더로 일정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단위 조회 + 다시 열기 — UI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2.4-③ 3지 반응 · 취향 카드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콜드 스타트 개인화 — Preference(A2)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 개인화 RAG 4단계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검색 → 개인 대조 → 근거 문장 → 경고 판정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 파생 제약 자동 산출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353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체류시간만 개인화 · 도보 · 환승 상한은 아직 공통 상수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2.4-② 저장 목록에서 일정 만들기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저장은 되나 «담은 것 → 일정» 경로가 없다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2.5-① 하루 이동 요약 · 편의시설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92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 데이터는 있으므로 집계만 하면 된다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 기록 자동 유도 (일정 종료 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353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화면은 있으나 자동으로 뜨지 않는다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" y="5504688"/>
            <a:ext cx="352044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55778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닫힌 것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5797296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기획안이 핵심이라 한 기능은 전부 동작합니다 — 선제 경고 · 수정 행동 학습 · 캘린더 · 취향 카드.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70248" y="5504688"/>
            <a:ext cx="352044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471416" y="55778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71416" y="5797296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제약 자동 산출(도보 · 환승 상한) · 저장 목록에서 일정 만들기 · 기록 자동 유도.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010144" y="5504688"/>
            <a:ext cx="3520440" cy="841248"/>
          </a:xfrm>
          <a:prstGeom prst="roundRect">
            <a:avLst>
              <a:gd name="adj" fmla="val 4348"/>
            </a:avLst>
          </a:prstGeom>
          <a:solidFill>
            <a:srgbClr val="F7F9FA"/>
          </a:solidFill>
          <a:ln w="12700">
            <a:solidFill>
              <a:srgbClr val="DFE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211312" y="55778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92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표를 고칠 때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11312" y="5797296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바뀌면 상태 칸을 다시 판정합니다. 근거 없이 ✅ 를 적으면 문서 전체가 신뢰를 잃습니다.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86384"/>
            <a:ext cx="1112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JUDGEMENT ·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078992"/>
            <a:ext cx="11128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구조는 «모듈 모놀리스»다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30352" y="1682496"/>
            <a:ext cx="11128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배포는 하나, 내부는 관심사별로 갈려 있습니다. 마이크로서비스가 아니고, 한 덩어리 모놀리스도 아닙니다.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212848"/>
            <a:ext cx="3520440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30352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모놀리스인 근거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" y="2798064"/>
            <a:ext cx="91440" cy="91440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49808" y="268833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단위가 하나다 — 컨테이너 1개에 API · 그래프 · DB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" y="3364992"/>
            <a:ext cx="91440" cy="91440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49808" y="32552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경계가 없다 — Agent 호출이 전부 함수 호출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3931920"/>
            <a:ext cx="91440" cy="91440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49808" y="38221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장애가 곧 전체 장애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2212848"/>
            <a:ext cx="3520440" cy="0"/>
          </a:xfrm>
          <a:prstGeom prst="line">
            <a:avLst/>
          </a:prstGeom>
          <a:noFill/>
          <a:ln w="19050">
            <a:solidFill>
              <a:srgbClr val="0068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270248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«모듈» 인 근거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70248" y="2798064"/>
            <a:ext cx="91440" cy="91440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489704" y="268833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관심사별 패키지 경계가 있다 — UI · 응용 · 도메인 · 인프라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70248" y="3364992"/>
            <a:ext cx="91440" cy="91440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489704" y="32552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의존이 단방향이다 (역방향 1건 제외)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70248" y="3931920"/>
            <a:ext cx="91440" cy="91440"/>
          </a:xfrm>
          <a:prstGeom prst="ellipse">
            <a:avLst/>
          </a:prstGeom>
          <a:solidFill>
            <a:srgbClr val="0068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489704" y="38221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연결이 도구 계층 한 곳으로 모여 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10144" y="2212848"/>
            <a:ext cx="3520440" cy="0"/>
          </a:xfrm>
          <a:prstGeom prst="line">
            <a:avLst/>
          </a:prstGeom>
          <a:noFill/>
          <a:ln w="19050">
            <a:solidFill>
              <a:srgbClr val="B3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010144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10144" y="2798064"/>
            <a:ext cx="91440" cy="91440"/>
          </a:xfrm>
          <a:prstGeom prst="ellipse">
            <a:avLst/>
          </a:prstGeom>
          <a:solidFill>
            <a:srgbClr val="B3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229600" y="268833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분리 — API · 그래프 ×N / DB 독립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10144" y="3364992"/>
            <a:ext cx="91440" cy="91440"/>
          </a:xfrm>
          <a:prstGeom prst="ellipse">
            <a:avLst/>
          </a:prstGeom>
          <a:solidFill>
            <a:srgbClr val="B3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229600" y="32552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포트를 인터페이스로 선언 — 어댑터 교체를 계약으로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10144" y="3931920"/>
            <a:ext cx="91440" cy="91440"/>
          </a:xfrm>
          <a:prstGeom prst="ellipse">
            <a:avLst/>
          </a:prstGeom>
          <a:solidFill>
            <a:srgbClr val="B3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229600" y="38221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조건: 동시 사용자 증가 또는 DB 장애 격리 필요 시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0352" y="4590288"/>
            <a:ext cx="11128248" cy="987552"/>
          </a:xfrm>
          <a:prstGeom prst="roundRect">
            <a:avLst>
              <a:gd name="adj" fmla="val 3704"/>
            </a:avLst>
          </a:prstGeom>
          <a:solidFill>
            <a:srgbClr val="1C2632"/>
          </a:solidFill>
          <a:ln w="12700">
            <a:solidFill>
              <a:srgbClr val="2A36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41248" y="4700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068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확정한 세 가지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" y="4956048"/>
            <a:ext cx="10506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Agent 9종의 책임 · 입출력 · 관심사 계층   ②  실행 순서 · 데이터 흐름 · 분기와 사람 개입 지점   ③  C4 3단계와 외부 연결 방식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4320</Words>
  <Application>Microsoft Office PowerPoint</Application>
  <PresentationFormat>와이드스크린</PresentationFormat>
  <Paragraphs>777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Malgun Gothic</vt:lpstr>
      <vt:lpstr>Arial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MOBIDIC Architecture 설계서</dc:title>
  <dc:subject>PptxGenJS Presentation</dc:subject>
  <dc:creator>CulturePilot</dc:creator>
  <cp:lastModifiedBy>ChaeUng Lim</cp:lastModifiedBy>
  <cp:revision>4</cp:revision>
  <dcterms:created xsi:type="dcterms:W3CDTF">2026-08-17T14:39:10Z</dcterms:created>
  <dcterms:modified xsi:type="dcterms:W3CDTF">2026-08-18T02:14:16Z</dcterms:modified>
</cp:coreProperties>
</file>